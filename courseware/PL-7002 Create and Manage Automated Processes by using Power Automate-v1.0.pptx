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PL-7002 Create and Manage Automated Processes by using Power Automate</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C903</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FOR C903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Assigned Tertiary Infotech Academy Trainer</a:t>
            </a:r>
          </a:p>
          <a:p>
            <a:pPr algn="l">
              <a:spcAft>
                <a:spcPts val="300"/>
              </a:spcAft>
            </a:pPr>
            <a:r>
              <a:rPr sz="1300" b="0">
                <a:solidFill>
                  <a:srgbClr val="5B6372"/>
                </a:solidFill>
                <a:latin typeface="Arial"/>
              </a:rPr>
              <a:t>Power Platform practitioner experienced in cloud-flow design, business-process automation, data integration, monitoring, and operational handover.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name, organisation, and role.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repeated task you would like to automate.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event that should start the automation.</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The evidence that would prove the automation worked.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Open the C903 course page or the trainer-supplied Drive folder</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Open the courseware links for this course</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Download the Slides, Learner Guide and Lesson Plan</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Open the Activities folder for all 8 labs</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Keep the files together as you work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5" name="TextBox 34"/>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https://www.tertiarycourses.com.sg/pl-7002-create-and-manage-automated-processes-by-using-power-automate.html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Build, govern, integrate, and operate one connected Northwind service-request automation</a:t>
            </a:r>
          </a:p>
          <a:p>
            <a:pPr>
              <a:spcAft>
                <a:spcPts val="1000"/>
              </a:spcAft>
            </a:pPr>
            <a:r>
              <a:rPr sz="1400" b="0">
                <a:solidFill>
                  <a:srgbClr val="5B6372"/>
                </a:solidFill>
                <a:latin typeface="Arial"/>
              </a:rPr>
              <a:t>–  Topic 1: Get Started with Power Automate (Labs 1–2)</a:t>
            </a:r>
          </a:p>
          <a:p>
            <a:pPr>
              <a:spcAft>
                <a:spcPts val="1000"/>
              </a:spcAft>
            </a:pPr>
            <a:r>
              <a:rPr sz="1400" b="0">
                <a:solidFill>
                  <a:srgbClr val="5B6372"/>
                </a:solidFill>
                <a:latin typeface="Arial"/>
              </a:rPr>
              <a:t>–  Topic 2: Build Approval Flows with Power Automate (Labs 3–4)</a:t>
            </a:r>
          </a:p>
          <a:p>
            <a:pPr>
              <a:spcAft>
                <a:spcPts val="1000"/>
              </a:spcAft>
            </a:pPr>
            <a:r>
              <a:rPr sz="1400" b="0">
                <a:solidFill>
                  <a:srgbClr val="5B6372"/>
                </a:solidFill>
                <a:latin typeface="Arial"/>
              </a:rPr>
              <a:t>–  Topic 3: Build Flows to Manage User Information (Labs 5–6)</a:t>
            </a:r>
          </a:p>
          <a:p>
            <a:pPr>
              <a:spcAft>
                <a:spcPts val="1000"/>
              </a:spcAft>
            </a:pPr>
            <a:r>
              <a:rPr sz="1400" b="0">
                <a:solidFill>
                  <a:srgbClr val="5B6372"/>
                </a:solidFill>
                <a:latin typeface="Arial"/>
              </a:rPr>
              <a:t>–  Topic 4: Power Automate's Deep Integration Across Multiple Data Sources (Labs 7–8)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a:p>
            <a:pPr>
              <a:spcAft>
                <a:spcPts val="1000"/>
              </a:spcAft>
            </a:pPr>
            <a:r>
              <a:rPr sz="1600" b="0">
                <a:solidFill>
                  <a:srgbClr val="161B26"/>
                </a:solidFill>
                <a:latin typeface="Arial"/>
              </a:rPr>
              <a:t>•  Instructional time</a:t>
            </a:r>
          </a:p>
          <a:p>
            <a:pPr>
              <a:spcAft>
                <a:spcPts val="1000"/>
              </a:spcAft>
            </a:pPr>
            <a:r>
              <a:rPr sz="1400" b="0">
                <a:solidFill>
                  <a:srgbClr val="5B6372"/>
                </a:solidFill>
                <a:latin typeface="Arial"/>
              </a:rPr>
              <a:t>–  7.5 hours · 8 connected labs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demonstrate → build → verify → discuss → recap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Build &amp; Diagnose</a:t>
            </a:r>
          </a:p>
          <a:p>
            <a:pPr algn="l">
              <a:spcAft>
                <a:spcPts val="300"/>
              </a:spcAft>
            </a:pPr>
            <a:r>
              <a:rPr sz="1300" b="0">
                <a:solidFill>
                  <a:srgbClr val="5B6372"/>
                </a:solidFill>
                <a:latin typeface="Arial"/>
              </a:rPr>
              <a:t>Design, build, test, share, and troubleshoot cloud flows by selecting appropriate triggers, actions, recurrence settings, dynamic content, and run-history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Approve &amp; Branch</a:t>
            </a:r>
          </a:p>
          <a:p>
            <a:pPr algn="l">
              <a:spcAft>
                <a:spcPts val="300"/>
              </a:spcAft>
            </a:pPr>
            <a:r>
              <a:rPr sz="1300" b="0">
                <a:solidFill>
                  <a:srgbClr val="5B6372"/>
                </a:solidFill>
                <a:latin typeface="Arial"/>
              </a:rPr>
              <a:t>Implement conditional logic, approval patterns, run-after behaviour, and a conditional business process flow for a governed request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Personalise &amp; Schedule</a:t>
            </a:r>
          </a:p>
          <a:p>
            <a:pPr algn="l">
              <a:spcAft>
                <a:spcPts val="300"/>
              </a:spcAft>
            </a:pPr>
            <a:r>
              <a:rPr sz="1300" b="0">
                <a:solidFill>
                  <a:srgbClr val="5B6372"/>
                </a:solidFill>
                <a:latin typeface="Arial"/>
              </a:rPr>
              <a:t>Create user-driven flows that use explicit inputs, Microsoft 365 user information, date and time logic, and calendar actions while controlling duplicates and data exposure.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Integrate &amp; Operate</a:t>
            </a:r>
          </a:p>
          <a:p>
            <a:pPr algn="l">
              <a:spcAft>
                <a:spcPts val="300"/>
              </a:spcAft>
            </a:pPr>
            <a:r>
              <a:rPr sz="1300" b="0">
                <a:solidFill>
                  <a:srgbClr val="5B6372"/>
                </a:solidFill>
                <a:latin typeface="Arial"/>
              </a:rPr>
              <a:t>Integrate SharePoint, Power Apps, Dataverse, Dynamics 365 patterns, and SQL; then monitor, share, own, and document a reliable automated process.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Trainer demonstrates the concept</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You build it yourself in the hands-on lab</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Verify with the lab's 'Test it' step</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Discuss and troubleshoot together</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Recap against the learning outcomes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Observable Automation Loop</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Six Design Questions Visible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Event</a:t>
            </a:r>
          </a:p>
          <a:p>
            <a:pPr algn="l">
              <a:spcAft>
                <a:spcPts val="300"/>
              </a:spcAft>
            </a:pPr>
            <a:r>
              <a:rPr sz="1300" b="0">
                <a:solidFill>
                  <a:srgbClr val="5B6372"/>
                </a:solidFill>
                <a:latin typeface="Arial"/>
              </a:rPr>
              <a:t>What exact event or user decision creates one run?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Data</a:t>
            </a:r>
          </a:p>
          <a:p>
            <a:pPr algn="l">
              <a:spcAft>
                <a:spcPts val="300"/>
              </a:spcAft>
            </a:pPr>
            <a:r>
              <a:rPr sz="1300" b="0">
                <a:solidFill>
                  <a:srgbClr val="5B6372"/>
                </a:solidFill>
                <a:latin typeface="Arial"/>
              </a:rPr>
              <a:t>Which system owns each field, type, and record identifier?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Decision</a:t>
            </a:r>
          </a:p>
          <a:p>
            <a:pPr algn="l">
              <a:spcAft>
                <a:spcPts val="300"/>
              </a:spcAft>
            </a:pPr>
            <a:r>
              <a:rPr sz="1300" b="0">
                <a:solidFill>
                  <a:srgbClr val="5B6372"/>
                </a:solidFill>
                <a:latin typeface="Arial"/>
              </a:rPr>
              <a:t>Which rules are deterministic and which require a person?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Action</a:t>
            </a:r>
          </a:p>
          <a:p>
            <a:pPr algn="l">
              <a:spcAft>
                <a:spcPts val="300"/>
              </a:spcAft>
            </a:pPr>
            <a:r>
              <a:rPr sz="1300" b="0">
                <a:solidFill>
                  <a:srgbClr val="5B6372"/>
                </a:solidFill>
                <a:latin typeface="Arial"/>
              </a:rPr>
              <a:t>What will be created, updated, sent, or returned?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Evidence</a:t>
            </a:r>
          </a:p>
          <a:p>
            <a:pPr algn="l">
              <a:spcAft>
                <a:spcPts val="300"/>
              </a:spcAft>
            </a:pPr>
            <a:r>
              <a:rPr sz="1300" b="0">
                <a:solidFill>
                  <a:srgbClr val="5B6372"/>
                </a:solidFill>
                <a:latin typeface="Arial"/>
              </a:rPr>
              <a:t>Which run output and target record prove the outcome?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Owner</a:t>
            </a:r>
          </a:p>
          <a:p>
            <a:pPr algn="l">
              <a:spcAft>
                <a:spcPts val="300"/>
              </a:spcAft>
            </a:pPr>
            <a:r>
              <a:rPr sz="1300" b="0">
                <a:solidFill>
                  <a:srgbClr val="5B6372"/>
                </a:solidFill>
                <a:latin typeface="Arial"/>
              </a:rPr>
              <a:t>Who monitors, recovers, changes, and reconnects the automation?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E-D-D-A-E-O Design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Event</a:t>
            </a:r>
          </a:p>
          <a:p>
            <a:pPr algn="l">
              <a:spcAft>
                <a:spcPts val="300"/>
              </a:spcAft>
            </a:pPr>
            <a:r>
              <a:rPr sz="1200" b="0">
                <a:solidFill>
                  <a:srgbClr val="5B6372"/>
                </a:solidFill>
                <a:latin typeface="Arial"/>
              </a:rPr>
              <a:t>Trigger type, source, timing, volume, and qualifying rule.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Source schema, types, required values, nulls, and correlation key.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Conditions, approval outcomes, branch rules, and timeouts.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Connector operation, identity, target, and side effect.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Run history, target-system record, test case, and expected result.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a:t>
            </a:r>
          </a:p>
          <a:p>
            <a:pPr algn="l">
              <a:spcAft>
                <a:spcPts val="300"/>
              </a:spcAft>
            </a:pPr>
            <a:r>
              <a:rPr sz="1200" b="0">
                <a:solidFill>
                  <a:srgbClr val="5B6372"/>
                </a:solidFill>
                <a:latin typeface="Arial"/>
              </a:rPr>
              <a:t>Primary and backup owner, connection, monitor, and recovery path.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C903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flow is complete only when its trigger, result, and recovery path are observable.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Build the normal path, prove the boundary paths, and hand over the identities, evidence, and recovery actions that keep the automation operating.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Request layer</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SharePoint intake</a:t>
            </a:r>
          </a:p>
          <a:p>
            <a:pPr>
              <a:spcAft>
                <a:spcPts val="900"/>
              </a:spcAft>
            </a:pPr>
            <a:r>
              <a:rPr sz="1400" b="0">
                <a:solidFill>
                  <a:srgbClr val="161B26"/>
                </a:solidFill>
                <a:latin typeface="Arial"/>
              </a:rPr>
              <a:t>•  Dataverse lifecycle record</a:t>
            </a:r>
          </a:p>
          <a:p>
            <a:pPr>
              <a:spcAft>
                <a:spcPts val="900"/>
              </a:spcAft>
            </a:pPr>
            <a:r>
              <a:rPr sz="1400" b="0">
                <a:solidFill>
                  <a:srgbClr val="161B26"/>
                </a:solidFill>
                <a:latin typeface="Arial"/>
              </a:rPr>
              <a:t>•  Power Apps input contract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Automation layer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acknowledgement</a:t>
            </a:r>
          </a:p>
          <a:p>
            <a:pPr>
              <a:spcAft>
                <a:spcPts val="900"/>
              </a:spcAft>
            </a:pPr>
            <a:r>
              <a:rPr sz="1400" b="0">
                <a:solidFill>
                  <a:srgbClr val="161B26"/>
                </a:solidFill>
                <a:latin typeface="Arial"/>
              </a:rPr>
              <a:t>•  reminder</a:t>
            </a:r>
          </a:p>
          <a:p>
            <a:pPr>
              <a:spcAft>
                <a:spcPts val="900"/>
              </a:spcAft>
            </a:pPr>
            <a:r>
              <a:rPr sz="1400" b="0">
                <a:solidFill>
                  <a:srgbClr val="161B26"/>
                </a:solidFill>
                <a:latin typeface="Arial"/>
              </a:rPr>
              <a:t>•  approval</a:t>
            </a:r>
          </a:p>
          <a:p>
            <a:pPr>
              <a:spcAft>
                <a:spcPts val="900"/>
              </a:spcAft>
            </a:pPr>
            <a:r>
              <a:rPr sz="1400" b="0">
                <a:solidFill>
                  <a:srgbClr val="161B26"/>
                </a:solidFill>
                <a:latin typeface="Arial"/>
              </a:rPr>
              <a:t>•  calendar and integration flows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Operations layer</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evidence</a:t>
            </a:r>
          </a:p>
          <a:p>
            <a:pPr>
              <a:spcAft>
                <a:spcPts val="900"/>
              </a:spcAft>
            </a:pPr>
            <a:r>
              <a:rPr sz="1400" b="0">
                <a:solidFill>
                  <a:srgbClr val="161B26"/>
                </a:solidFill>
                <a:latin typeface="Arial"/>
              </a:rPr>
              <a:t>•  SQL audit row</a:t>
            </a:r>
          </a:p>
          <a:p>
            <a:pPr>
              <a:spcAft>
                <a:spcPts val="900"/>
              </a:spcAft>
            </a:pPr>
            <a:r>
              <a:rPr sz="1400" b="0">
                <a:solidFill>
                  <a:srgbClr val="161B26"/>
                </a:solidFill>
                <a:latin typeface="Arial"/>
              </a:rPr>
              <a:t>•  error record</a:t>
            </a:r>
          </a:p>
          <a:p>
            <a:pPr>
              <a:spcAft>
                <a:spcPts val="900"/>
              </a:spcAft>
            </a:pPr>
            <a:r>
              <a:rPr sz="1400" b="0">
                <a:solidFill>
                  <a:srgbClr val="161B26"/>
                </a:solidFill>
                <a:latin typeface="Arial"/>
              </a:rPr>
              <a:t>•  handover runbook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Learning Arc in Every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previous checkpoint and state the expected outcome.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Build the bounded trigger, actions, data map, and branch.</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Test with the supplied synthetic Request ID and inspect run evidence.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Save the checkpoint and record what the next lab is allowed to 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BEFORE A FLOW IS HANDED OVER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C903 Flow Release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Trigger</a:t>
            </a:r>
          </a:p>
          <a:p>
            <a:pPr algn="l">
              <a:spcAft>
                <a:spcPts val="300"/>
              </a:spcAft>
            </a:pPr>
            <a:r>
              <a:rPr sz="1200" b="0">
                <a:solidFill>
                  <a:srgbClr val="5B6372"/>
                </a:solidFill>
                <a:latin typeface="Arial"/>
              </a:rPr>
              <a:t>Does one qualifying event create one intended run?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Are types, nulls, identities, time zones, and correlation keys explicit?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t>
            </a:r>
          </a:p>
          <a:p>
            <a:pPr algn="l">
              <a:spcAft>
                <a:spcPts val="300"/>
              </a:spcAft>
            </a:pPr>
            <a:r>
              <a:rPr sz="1200" b="0">
                <a:solidFill>
                  <a:srgbClr val="5B6372"/>
                </a:solidFill>
                <a:latin typeface="Arial"/>
              </a:rPr>
              <a:t>Have normal, false, empty, failure, timeout, and duplicate paths been exercised?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Security</a:t>
            </a:r>
          </a:p>
          <a:p>
            <a:pPr algn="l">
              <a:spcAft>
                <a:spcPts val="300"/>
              </a:spcAft>
            </a:pPr>
            <a:r>
              <a:rPr sz="1200" b="0">
                <a:solidFill>
                  <a:srgbClr val="5B6372"/>
                </a:solidFill>
                <a:latin typeface="Arial"/>
              </a:rPr>
              <a:t>Are connections, permissions, data policies, and recipients appropriate?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Can a reviewer trace the test record through run history to every target outcome?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Ownership</a:t>
            </a:r>
          </a:p>
          <a:p>
            <a:pPr algn="l">
              <a:spcAft>
                <a:spcPts val="300"/>
              </a:spcAft>
            </a:pPr>
            <a:r>
              <a:rPr sz="1200" b="0">
                <a:solidFill>
                  <a:srgbClr val="5B6372"/>
                </a:solidFill>
                <a:latin typeface="Arial"/>
              </a:rPr>
              <a:t>Are primary and backup owners, monitoring, reconnection, and recovery documented?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Cloud-flow anatomy · automated, instant, and scheduled triggers · dynamic content · testing · sharing · run history ·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Morning foundation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 Started with Power Automate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Trigger</a:t>
            </a:r>
          </a:p>
          <a:p>
            <a:pPr algn="l">
              <a:spcAft>
                <a:spcPts val="300"/>
              </a:spcAft>
            </a:pPr>
            <a:r>
              <a:rPr sz="1200" b="0">
                <a:solidFill>
                  <a:srgbClr val="5B6372"/>
                </a:solidFill>
                <a:latin typeface="Arial"/>
              </a:rPr>
              <a:t>The event or schedule that creates one flow run and supplies the initial data payload.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a:t>
            </a:r>
          </a:p>
          <a:p>
            <a:pPr algn="l">
              <a:spcAft>
                <a:spcPts val="300"/>
              </a:spcAft>
            </a:pPr>
            <a:r>
              <a:rPr sz="1200" b="0">
                <a:solidFill>
                  <a:srgbClr val="5B6372"/>
                </a:solidFill>
                <a:latin typeface="Arial"/>
              </a:rPr>
              <a:t>A configured operation that reads, transforms, sends, creates, or updates data after the trigger.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Connection</a:t>
            </a:r>
          </a:p>
          <a:p>
            <a:pPr algn="l">
              <a:spcAft>
                <a:spcPts val="300"/>
              </a:spcAft>
            </a:pPr>
            <a:r>
              <a:rPr sz="1200" b="0">
                <a:solidFill>
                  <a:srgbClr val="5B6372"/>
                </a:solidFill>
                <a:latin typeface="Arial"/>
              </a:rPr>
              <a:t>The authenticated relationship a connector uses to act against a service under an identity.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Dynamic content</a:t>
            </a:r>
          </a:p>
          <a:p>
            <a:pPr algn="l">
              <a:spcAft>
                <a:spcPts val="300"/>
              </a:spcAft>
            </a:pPr>
            <a:r>
              <a:rPr sz="1200" b="0">
                <a:solidFill>
                  <a:srgbClr val="5B6372"/>
                </a:solidFill>
                <a:latin typeface="Arial"/>
              </a:rPr>
              <a:t>A token that carries a value from a trigger or earlier action into a later field.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 history</a:t>
            </a:r>
          </a:p>
          <a:p>
            <a:pPr algn="l">
              <a:spcAft>
                <a:spcPts val="300"/>
              </a:spcAft>
            </a:pPr>
            <a:r>
              <a:rPr sz="1200" b="0">
                <a:solidFill>
                  <a:srgbClr val="5B6372"/>
                </a:solidFill>
                <a:latin typeface="Arial"/>
              </a:rPr>
              <a:t>The evidence trail for trigger input, action input and output, duration, status, and error details.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Ownership</a:t>
            </a:r>
          </a:p>
          <a:p>
            <a:pPr algn="l">
              <a:spcAft>
                <a:spcPts val="300"/>
              </a:spcAft>
            </a:pPr>
            <a:r>
              <a:rPr sz="1200" b="0">
                <a:solidFill>
                  <a:srgbClr val="5B6372"/>
                </a:solidFill>
                <a:latin typeface="Arial"/>
              </a:rPr>
              <a:t>The people or service identity responsible for editing, licensing, connections, monitoring, and recovery.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Cloud-Flow Anatomy and Trigger Selection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cloud flow is an event-driven sequence made of one trigger followed by actions, control steps, and data transformations. Automated flows react to a service event, scheduled flows start from a recurrence, and instant flows start when a person or app invokes them. The trigger creates the run and provides the first payload; every later action consumes values from that payload or from earlier outputs.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Trigger choice determines when work starts, which identity and data are available, how often the service is queried, and whether duplicate events are possible. Starting from the business event instead of from a favourite connector keeps the automation aligned with the process. A good design states the event, system of record, expected volume, latency, and evidence of success.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Cloud-Flow Anatomy and Trigger Selection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Write the business event as: When &lt;event&gt; occurs in &lt;system&gt;, automate &lt;outcome&gt; for &lt;recipient&gt;.</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Choose automated, scheduled, or instant based on who or what controls the start.</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Inspect the trigger schema and identify the stable record ID, timestamps, owner, and business fields.</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Add only the actions needed to reach an observable result, then rename every card by intent.</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Test with a known record and compare trigger input, action output, and target-system evidence.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Cloud-Flow Anatomy and Trigger Selection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new item in the Northwind Process Requests SharePoint list starts an automated flow.</a:t>
            </a:r>
          </a:p>
          <a:p>
            <a:pPr>
              <a:spcAft>
                <a:spcPts val="1000"/>
              </a:spcAft>
            </a:pPr>
            <a:r>
              <a:rPr sz="1600" b="0">
                <a:solidFill>
                  <a:srgbClr val="161B26"/>
                </a:solidFill>
                <a:latin typeface="Arial"/>
              </a:rPr>
              <a:t>•  The flow captures Request ID, title, requester, priority, and due date, then sends an acknowledgement.</a:t>
            </a:r>
          </a:p>
          <a:p>
            <a:pPr>
              <a:spcAft>
                <a:spcPts val="1000"/>
              </a:spcAft>
            </a:pPr>
            <a:r>
              <a:rPr sz="1600" b="0">
                <a:solidFill>
                  <a:srgbClr val="161B26"/>
                </a:solidFill>
                <a:latin typeface="Arial"/>
              </a:rPr>
              <a:t>•  The run is successful only when run history is green and the acknowledgement contains the same Request ID.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repeatable event has a clear owner, stable data source, and observable downstream outcome.</a:t>
            </a:r>
          </a:p>
          <a:p>
            <a:pPr>
              <a:spcAft>
                <a:spcPts val="1000"/>
              </a:spcAft>
            </a:pPr>
            <a:r>
              <a:rPr sz="1400" b="0">
                <a:solidFill>
                  <a:srgbClr val="5B6372"/>
                </a:solidFill>
                <a:latin typeface="Arial"/>
              </a:rPr>
              <a:t>–  The service connector exposes the required trigger and the running identity is permitted to use it.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event is ambiguous, the process changes on every occurrence, or a person must first judge whether work should start.</a:t>
            </a:r>
          </a:p>
          <a:p>
            <a:pPr>
              <a:spcAft>
                <a:spcPts val="1000"/>
              </a:spcAft>
            </a:pPr>
            <a:r>
              <a:rPr sz="1400" b="0">
                <a:solidFill>
                  <a:srgbClr val="5B6372"/>
                </a:solidFill>
                <a:latin typeface="Arial"/>
              </a:rPr>
              <a:t>–  The design cannot identify a stable record key or would repeatedly process the same event without a duplicate guard.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Cloud-Flow Anatomy and Trigger Selection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Event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exact event and the system that owns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Payload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Identify required fields, types, null cases, and one stable correlation key.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the target record, message, or run output that proves success.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Recurrence, Event Triggers, and Data Mapping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recurrence trigger creates runs at a configured interval, start time, and time zone. An event trigger reacts when a connected service reports that a record was created or changed. Dynamic content maps fields from the trigger or an earlier action into later actions; expressions transform those values when simple token mapping is not enough.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Scheduled and event-driven patterns solve different timing problems. A recurrence is appropriate for periodic sweeps such as overdue-request reminders, while an event trigger is appropriate for a new request acknowledgement. Explicit data mapping prevents a common defect: a flow that runs successfully but sends the wrong field, formats a date incorrectly, or processes records outside scope.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Recurrence, Event Triggers, and Data Mapping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For recurrence, set frequency, interval, start time, and the Singapore time zone explicitly.</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For an event trigger, create a fresh test event and allow for the connector's polling behaviour.</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Filter Query or trigger conditions to reduce unnecessary runs when the connector supports them.</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Map dynamic content by business meaning, not by a similar-looking display name.</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Compose for intermediate values so the run history exposes the value used by later steps.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Recurrence, Event Triggers, and Data Mapping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At 4:00 pm every day, a scheduled flow queries Open requests whose ReminderSent flag is No, then checks whether each Due Date is today in Singapore.</a:t>
            </a:r>
          </a:p>
          <a:p>
            <a:pPr>
              <a:spcAft>
                <a:spcPts val="1000"/>
              </a:spcAft>
            </a:pPr>
            <a:r>
              <a:rPr sz="1600" b="0">
                <a:solidFill>
                  <a:srgbClr val="161B26"/>
                </a:solidFill>
                <a:latin typeface="Arial"/>
              </a:rPr>
              <a:t>•  A Runtime diagnostic Compose reads the supplied Diagnostic Divisor before Outlook sends the Request ID and Title reminder and SharePoint marks ReminderSent Yes.</a:t>
            </a:r>
          </a:p>
          <a:p>
            <a:pPr>
              <a:spcAft>
                <a:spcPts val="1000"/>
              </a:spcAft>
            </a:pPr>
            <a:r>
              <a:rPr sz="1600" b="0">
                <a:solidFill>
                  <a:srgbClr val="161B26"/>
                </a:solidFill>
                <a:latin typeface="Arial"/>
              </a:rPr>
              <a:t>•  The designer proves one due item sends once, a repeated run sends nothing, a tomorrow item takes the false path, and a supplied zero creates a controlled runtime failure.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periodic business rule can query a bounded set and tolerate the chosen interval.</a:t>
            </a:r>
          </a:p>
          <a:p>
            <a:pPr>
              <a:spcAft>
                <a:spcPts val="1000"/>
              </a:spcAft>
            </a:pPr>
            <a:r>
              <a:rPr sz="1400" b="0">
                <a:solidFill>
                  <a:srgbClr val="5B6372"/>
                </a:solidFill>
                <a:latin typeface="Arial"/>
              </a:rPr>
              <a:t>–  An expression or Compose step makes a derived value easier to inspect and reuse.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process requires immediate response but the selected connector uses a long polling interval.</a:t>
            </a:r>
          </a:p>
          <a:p>
            <a:pPr>
              <a:spcAft>
                <a:spcPts val="1000"/>
              </a:spcAft>
            </a:pPr>
            <a:r>
              <a:rPr sz="1400" b="0">
                <a:solidFill>
                  <a:srgbClr val="5B6372"/>
                </a:solidFill>
                <a:latin typeface="Arial"/>
              </a:rPr>
              <a:t>–  A broad scheduled query would retrieve an unbounded dataset or resend the same item without a sent flag.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Recurrence, Event Triggers, and Data Mapping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Clock</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time zone, start time, interval, and daylight-saving implications.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Scope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Filter at the source and define what happens when zero, one, or many rows return.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Mapping</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Trace each dynamic token to its producing trigger or action.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Testing, Run History, Sharing, and Troubleshooting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Testing executes a flow with controlled input and records the resulting run. Run history exposes the status, duration, inputs, outputs, retries, and error message for each step. Sharing can make another person a co-owner who can edit and maintain the flow, or a run-only user who can invoke an instant flow without redesigning 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green designer is not proof of a reliable process. The flow must be exercised with representative data, branch boundaries, empty values, and expected failures. Troubleshooting begins with the symptom: no run indicates a trigger problem; a red step indicates an action or connection problem; an all-green run with a wrong outcome indicates data mapping or logic. Ownership and connection planning prevent a useful flow from stopping when its maker changes role.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Testing, Run History, Sharing, and Troubleshooting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Save, run a manual test, and capture the run URL or timestamp with the test record ID.</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If no run exists, inspect trigger event, conditions, status, schedule, and connector polling.</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If an action fails, open the first red action and read its inputs, outputs, status code, and connection.</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If the run is green but wrong, compare dynamic content and expressions with the source record.</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Share with the least privilege needed, confirm connections, and record primary and backup owners.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Testing, Run History, Sharing, and Troubleshooting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reminder flow saves but no run appears because the recurrence start time is tomorrow.</a:t>
            </a:r>
          </a:p>
          <a:p>
            <a:pPr>
              <a:spcAft>
                <a:spcPts val="1000"/>
              </a:spcAft>
            </a:pPr>
            <a:r>
              <a:rPr sz="1600" b="0">
                <a:solidFill>
                  <a:srgbClr val="161B26"/>
                </a:solidFill>
                <a:latin typeface="Arial"/>
              </a:rPr>
              <a:t>•  After correcting the start time, the Outlook action fails with 401 because its connection expired.</a:t>
            </a:r>
          </a:p>
          <a:p>
            <a:pPr>
              <a:spcAft>
                <a:spcPts val="1000"/>
              </a:spcAft>
            </a:pPr>
            <a:r>
              <a:rPr sz="1600" b="0">
                <a:solidFill>
                  <a:srgbClr val="161B26"/>
                </a:solidFill>
                <a:latin typeface="Arial"/>
              </a:rPr>
              <a:t>•  The maker fixes the connection, retests one known item, and records the successful run before handover.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controlled test record can be traced from trigger to target without exposing production-sensitive data.</a:t>
            </a:r>
          </a:p>
          <a:p>
            <a:pPr>
              <a:spcAft>
                <a:spcPts val="1000"/>
              </a:spcAft>
            </a:pPr>
            <a:r>
              <a:rPr sz="1400" b="0">
                <a:solidFill>
                  <a:srgbClr val="5B6372"/>
                </a:solidFill>
                <a:latin typeface="Arial"/>
              </a:rPr>
              <a:t>–  A team-owned business process needs documented co-owners, connection responsibilities, and monitoring.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Testing would send real external messages or modify live records without a safe test boundary.</a:t>
            </a:r>
          </a:p>
          <a:p>
            <a:pPr>
              <a:spcAft>
                <a:spcPts val="1000"/>
              </a:spcAft>
            </a:pPr>
            <a:r>
              <a:rPr sz="1400" b="0">
                <a:solidFill>
                  <a:srgbClr val="5B6372"/>
                </a:solidFill>
                <a:latin typeface="Arial"/>
              </a:rPr>
              <a:t>–  A flow is shared without checking whether recipients can access the underlying connections and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Testing, Run History, Sharing, and Troubleshooting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Coverage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Test normal, boundary, empty, and deliberately failing cases.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Diagnosis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Locate the first divergence between expected and actual inputs or outputs.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Continuity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owners, connection identity, monitoring cadence, and recovery action.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Get Started with Power Automate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Validate the Northwind Request Intake and Create an Automated Acknowledgement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Scheduled Reminder and Diagnose a Controlled Failure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Validate the Northwind Request Intake and Create an Automated Acknowledgement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inspect the pre-provisioned SharePoint list used throughout the course, verify five synthetic Northwind requests, and build an automated cloud flow that acknowledges every new request. You will rename the trigger and actions, map values deliberately, create a test request, and trace it from the SharePoint item through run history to the delivered message.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validated per-learner SharePoint list named C903 Process Requests, an automated cloud flow named C903-01-Acknowledge-New-Request, and a saved evidence record for RequestID NW-1006</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Create list</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Load baseline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Build flow</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Trigger test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SharePoint Online · Power Automate cloud flows · Office 365 Outlook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Validate the Northwind Request Intake and Create an Automated Acknowledgement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800" b="0">
                <a:solidFill>
                  <a:srgbClr val="161B26"/>
                </a:solidFill>
                <a:latin typeface="Arial"/>
              </a:rPr>
              <a:t>The isolated SharePoint list must contain NW-1001 through NW-1006 with the exact schema. A single new NW-1006 item must create one successful run. The trigger input, Correlation_key output, email subject, email body, and T01 evidence row must all contain NW-1006. The email must show the mapped title, priority, and due date and must not contain any unrelated list field.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 Scheduled Reminder and Diagnose a Controlled Failure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build a scheduled flow that finds open requests due today, sends one reminder, and marks each item so the next run does not resend it. You will insert a temporary divide-by-zero expression, use run history to find the first red action, restore the supplied divisor, retest the same expression, and share the flow with a trainer-designated co-owner for continuity.</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scheduled cloud flow named C903-02-Remind-Due-Requests, evidence rows for normal, empty, duplicate, and controlled-failure cases, and a recorded primary and backup owner</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Schedule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Filter</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Remind</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Break safely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 Automate scheduled flows · SharePoint Online · Office 365 Outlook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 Scheduled Reminder and Diagnose a Controlled Failure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600" b="0">
                <a:solidFill>
                  <a:srgbClr val="161B26"/>
                </a:solidFill>
                <a:latin typeface="Arial"/>
              </a:rPr>
              <a:t>T02 must show one reminder and ReminderSent set to Yes for NW-1002. T03 must prove repeat-run duplicate prevention, and T04 must prove the false-date branch. T05 must identify Runtime_diagnostic_check as the first red action with DiagnosticDivisor 0; T06 must resubmit successfully after the divisor is restored to 1 and set ReminderSent to Yes. The final flow must be on and list the approved primary and backup owners.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Recap - Get Started with Power Automate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LO1 - Build and Diagnose: Choose a trigger that matches the business event, configure actions with explicit data, test both expected and exceptional paths, and use run history to locate the first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 Approval Flows with Power Automate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Approval patterns · conditional logic · custom responses · trigger conditions · run-after paths · business process flows · conditional stages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Midday decisions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Build Approval Flows with Power Automate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A human decision step that records an outcome, responder, comments, and completion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Condition</a:t>
            </a:r>
          </a:p>
          <a:p>
            <a:pPr algn="l">
              <a:spcAft>
                <a:spcPts val="300"/>
              </a:spcAft>
            </a:pPr>
            <a:r>
              <a:rPr sz="1200" b="0">
                <a:solidFill>
                  <a:srgbClr val="5B6372"/>
                </a:solidFill>
                <a:latin typeface="Arial"/>
              </a:rPr>
              <a:t>A two-branch control that evaluates a Boolean comparison after a run has started.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Trigger condition</a:t>
            </a:r>
          </a:p>
          <a:p>
            <a:pPr algn="l">
              <a:spcAft>
                <a:spcPts val="300"/>
              </a:spcAft>
            </a:pPr>
            <a:r>
              <a:rPr sz="1200" b="0">
                <a:solidFill>
                  <a:srgbClr val="5B6372"/>
                </a:solidFill>
                <a:latin typeface="Arial"/>
              </a:rPr>
              <a:t>An expression evaluated before the run is created, reducing unnecessary executions.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Run after</a:t>
            </a:r>
          </a:p>
          <a:p>
            <a:pPr algn="l">
              <a:spcAft>
                <a:spcPts val="300"/>
              </a:spcAft>
            </a:pPr>
            <a:r>
              <a:rPr sz="1200" b="0">
                <a:solidFill>
                  <a:srgbClr val="5B6372"/>
                </a:solidFill>
                <a:latin typeface="Arial"/>
              </a:rPr>
              <a:t>A dependency setting that selects which next action runs after success, failure, skip, or timeout.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Business process flow</a:t>
            </a:r>
          </a:p>
          <a:p>
            <a:pPr algn="l">
              <a:spcAft>
                <a:spcPts val="300"/>
              </a:spcAft>
            </a:pPr>
            <a:r>
              <a:rPr sz="1200" b="0">
                <a:solidFill>
                  <a:srgbClr val="5B6372"/>
                </a:solidFill>
                <a:latin typeface="Arial"/>
              </a:rPr>
              <a:t>A Dataverse-backed stage and step experience that guides a person through a consistent record lifecycle.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Branching</a:t>
            </a:r>
          </a:p>
          <a:p>
            <a:pPr algn="l">
              <a:spcAft>
                <a:spcPts val="300"/>
              </a:spcAft>
            </a:pPr>
            <a:r>
              <a:rPr sz="1200" b="0">
                <a:solidFill>
                  <a:srgbClr val="5B6372"/>
                </a:solidFill>
                <a:latin typeface="Arial"/>
              </a:rPr>
              <a:t>A rule that changes the next path when data or a human decision meets defined criteria.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Approval Patterns and Human Decision Points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Power Automate approvals combine an automated flow with a recorded human response. Start and wait for an approval pauses the run until the configured response condition is met. The approval type controls whether the first response, every response, a sequence, or custom response options complete the step. The returned outcome and comments become data for later branches.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approval is useful where policy requires a named person to accept, reject, or request clarification. It should not be added merely to make a flow look governed. The design must state who decides, what evidence they receive, how long they have, what each outcome means, and what happens if no one responds.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Approval Patterns and Human Decision Points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Define the decision, approver role, evidence, response options, timeout expectation, and audit record.</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Choose first response, all responses, sequential, or custom responses based on the actual rule.</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Build the approval title from a stable Request ID and keep the details concise and traceable.</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Branch on the exact returned Outcome value and persist outcome, responder, comments, and completion time.</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Notify the requester and update the system of record on every designed outcome.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Approval Patterns and Human Decision Points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high-priority Northwind request creates an approval for the operations manager.</a:t>
            </a:r>
          </a:p>
          <a:p>
            <a:pPr>
              <a:spcAft>
                <a:spcPts val="1000"/>
              </a:spcAft>
            </a:pPr>
            <a:r>
              <a:rPr sz="1600" b="0">
                <a:solidFill>
                  <a:srgbClr val="161B26"/>
                </a:solidFill>
                <a:latin typeface="Arial"/>
              </a:rPr>
              <a:t>•  The approver chooses Approve, Need more information, or Reject and adds a comment.</a:t>
            </a:r>
          </a:p>
          <a:p>
            <a:pPr>
              <a:spcAft>
                <a:spcPts val="1000"/>
              </a:spcAft>
            </a:pPr>
            <a:r>
              <a:rPr sz="1600" b="0">
                <a:solidFill>
                  <a:srgbClr val="161B26"/>
                </a:solidFill>
                <a:latin typeface="Arial"/>
              </a:rPr>
              <a:t>•  The flow updates SharePoint with the exact outcome and sends the requester a matching message.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policy or risk decision needs a named responder and durable decision evidence.</a:t>
            </a:r>
          </a:p>
          <a:p>
            <a:pPr>
              <a:spcAft>
                <a:spcPts val="1000"/>
              </a:spcAft>
            </a:pPr>
            <a:r>
              <a:rPr sz="1400" b="0">
                <a:solidFill>
                  <a:srgbClr val="5B6372"/>
                </a:solidFill>
                <a:latin typeface="Arial"/>
              </a:rPr>
              <a:t>–  The approver receives enough context and has access to any linked supporting record.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decision can be expressed safely as a deterministic rule with no human judgment.</a:t>
            </a:r>
          </a:p>
          <a:p>
            <a:pPr>
              <a:spcAft>
                <a:spcPts val="1000"/>
              </a:spcAft>
            </a:pPr>
            <a:r>
              <a:rPr sz="1400" b="0">
                <a:solidFill>
                  <a:srgbClr val="5B6372"/>
                </a:solidFill>
                <a:latin typeface="Arial"/>
              </a:rPr>
              <a:t>–  The flow has no designed timeout, escalation, cancellation, or ownership path for unanswered requests.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Approval Patterns and Human Decision Points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Decision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one question and define every allowed response.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Evidence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Include only the facts and secure links the approver needs.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Closure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Persist outcome and notify the correct people on every path.</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Conditional Logic, Trigger Conditions, and Run-After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Condition action branches after a run begins. A trigger condition is evaluated at the trigger and can prevent an unwanted run from being created. Configure run after changes dependency behaviour so an action can execute after success, failure, skip, or timeout. Together these controls separate business rules from technical recovery behaviour.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Conditions decide what the process should do with valid data; run-after settings decide what the flow should do when a step does not complete normally. Mixing them produces brittle designs. Trigger conditions can reduce noise and request consumption, but an incorrect expression can silently suppress all runs, so the expression and a known qualifying record must be tested together.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Conditional Logic, Trigger Conditions, and Run-After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Write each business rule in plain language with field, operator, value, and null behaviour.</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a Condition after the trigger when both qualifying and non-qualifying runs need recorded outcomes.</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a trigger condition when non-qualifying events should create no run and that absence is acceptable.</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Group critical actions in a Try Scope and configure Catch to run after failure, timeout, or skip.</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Record the error, Request ID, failed step, and recovery owner before sending a controlled alert.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Conditional Logic, Trigger Conditions, and Run-After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Only High-priority requests need human approval; other priorities continue automatically.</a:t>
            </a:r>
          </a:p>
          <a:p>
            <a:pPr>
              <a:spcAft>
                <a:spcPts val="1000"/>
              </a:spcAft>
            </a:pPr>
            <a:r>
              <a:rPr sz="1600" b="0">
                <a:solidFill>
                  <a:srgbClr val="161B26"/>
                </a:solidFill>
                <a:latin typeface="Arial"/>
              </a:rPr>
              <a:t>•  A Try Scope creates the approval and updates SharePoint. Catch runs only if Try fails or times out.</a:t>
            </a:r>
          </a:p>
          <a:p>
            <a:pPr>
              <a:spcAft>
                <a:spcPts val="1000"/>
              </a:spcAft>
            </a:pPr>
            <a:r>
              <a:rPr sz="1600" b="0">
                <a:solidFill>
                  <a:srgbClr val="161B26"/>
                </a:solidFill>
                <a:latin typeface="Arial"/>
              </a:rPr>
              <a:t>•  The Catch path writes an Automation Error status and sends one internal notification with the Request ID.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Branch rules are explicit and test data can exercise both true and false paths.</a:t>
            </a:r>
          </a:p>
          <a:p>
            <a:pPr>
              <a:spcAft>
                <a:spcPts val="1000"/>
              </a:spcAft>
            </a:pPr>
            <a:r>
              <a:rPr sz="1400" b="0">
                <a:solidFill>
                  <a:srgbClr val="5B6372"/>
                </a:solidFill>
                <a:latin typeface="Arial"/>
              </a:rPr>
              <a:t>–  A technical failure must create a controlled record and alert instead of silently stopping the process.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trigger condition would hide events that operations still needs to count or explain.</a:t>
            </a:r>
          </a:p>
          <a:p>
            <a:pPr>
              <a:spcAft>
                <a:spcPts val="1000"/>
              </a:spcAft>
            </a:pPr>
            <a:r>
              <a:rPr sz="1400" b="0">
                <a:solidFill>
                  <a:srgbClr val="5B6372"/>
                </a:solidFill>
                <a:latin typeface="Arial"/>
              </a:rPr>
              <a:t>–  Configure run after is used to ignore failure without recording what failed and who will recover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Conditional Logic, Trigger Conditions, and Run-After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Rule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field type, operator, comparison value, and null case.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Path</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branches by business meaning instead of Yes and No.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Recovery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Capture error context once and route it to a named owner.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Business Process Flows and Conditional Stages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business process flow is a Dataverse-backed, stage-based user experience attached to one or more tables. It guides users through defined stages and data steps while the underlying model-driven app stores the record. Conditional branching can direct a record to different stages based on field values. A business process flow guides interactive work; a cloud flow automates operations around records.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Some processes require people to see the current stage, complete required data, and move the record forward consistently. A cloud flow alone is not a user guidance surface. Combining the two patterns lets the business process flow govern stage progression while cloud flows notify, approve, integrate, and monitor around the record.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Business Process Flows and Conditional Stages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Model the lifecycle as a small number of named stages with an owner and exit evidence for each stage.</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Create the Dataverse table and required columns before designing the stage path.</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Add data steps to stages and mark only genuinely required information as required.</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Add a branch rule on a stable field such as Priority or Approval Required, then validate and activate.</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Test one record through each branch and confirm both the active stage and the stored field values.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Business Process Flows and Conditional Stages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Northwind uses Intake, Review, Approval, Fulfilment, and Closure stages for automation requests.</a:t>
            </a:r>
          </a:p>
          <a:p>
            <a:pPr>
              <a:spcAft>
                <a:spcPts val="1000"/>
              </a:spcAft>
            </a:pPr>
            <a:r>
              <a:rPr sz="1600" b="0">
                <a:solidFill>
                  <a:srgbClr val="161B26"/>
                </a:solidFill>
                <a:latin typeface="Arial"/>
              </a:rPr>
              <a:t>•  A high-priority record enters Approval after Review; a standard request moves directly to Fulfilment.</a:t>
            </a:r>
          </a:p>
          <a:p>
            <a:pPr>
              <a:spcAft>
                <a:spcPts val="1000"/>
              </a:spcAft>
            </a:pPr>
            <a:r>
              <a:rPr sz="1600" b="0">
                <a:solidFill>
                  <a:srgbClr val="161B26"/>
                </a:solidFill>
                <a:latin typeface="Arial"/>
              </a:rPr>
              <a:t>•  The record ID remains constant while cloud flows update status and notify the request owner.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People need a visible stage path and consistent data capture on a Dataverse record.</a:t>
            </a:r>
          </a:p>
          <a:p>
            <a:pPr>
              <a:spcAft>
                <a:spcPts val="1000"/>
              </a:spcAft>
            </a:pPr>
            <a:r>
              <a:rPr sz="1400" b="0">
                <a:solidFill>
                  <a:srgbClr val="5B6372"/>
                </a:solidFill>
                <a:latin typeface="Arial"/>
              </a:rPr>
              <a:t>–  The organisation has an environment, table, app, roles, and licensing suitable for the process.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process is entirely system-to-system with no need for an interactive stage experience.</a:t>
            </a:r>
          </a:p>
          <a:p>
            <a:pPr>
              <a:spcAft>
                <a:spcPts val="1000"/>
              </a:spcAft>
            </a:pPr>
            <a:r>
              <a:rPr sz="1400" b="0">
                <a:solidFill>
                  <a:srgbClr val="5B6372"/>
                </a:solidFill>
                <a:latin typeface="Arial"/>
              </a:rPr>
              <a:t>–  A complex diagram is being reproduced without simplifying stages, ownership, and exit criteria first.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Business Process Flows and Conditional Stages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Stage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stage has a clear purpose, owner, required data, and exit condition.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Branch</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Branch rules use stable values and every path reaches a defined end.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Integration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Cloud flows reference the same Dataverse record ID and do not duplicate process state.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Build Approval Flows with Power Automate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Priority Approval with Complete Outcome and Recovery Paths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and Traverse a Conditional Dataverse Business Process Flow</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 Priority Approval with Complete Outcome and Recovery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build an automated flow for new SharePoint requests. High priority creates an approval with Approve, Need more information, and Reject responses; other priorities continue without an approval. The flow stores outcome, comments, and status on the same request. A one-minute training timeout exercises Catch, which filters the scope result down to action name, status, error code, and message.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automated cloud flow named C903-03-Approve-High-Priority-Request with explicit non-High actions, three approval cases, a default case, serial Try/Catch/Finally scopes, and five path tests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Qualify</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Request decision</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Route every outcome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Filter errors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SharePoint Online · Power Automate Approvals · Office 365 Outlook · conditions and control scopes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 Priority Approval with Complete Outcome and Recovery Paths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600" b="0">
                <a:solidFill>
                  <a:srgbClr val="161B26"/>
                </a:solidFill>
                <a:latin typeface="Arial"/>
              </a:rPr>
              <a:t>T07-T09 must each create one approval, store the exact outcome and supplied comment, update the expected status, and send one matching decision message. T10 must create no approval and must take the explicit non-High update and message path. T11 must time out, run Catch, store Automation Error, and send only the filtered action name, status, code, and message. Finally must run after both successful and skipped Catch outcomes. Error_code and Error_message must both be nonblank in T11 evidence; use the documented fallback text only when the connector supplies no structured code or message.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and Traverse a Conditional Dataverse Business Process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The trainer has pre-provisioned the solution, table, alternate key, main form, active view, and app shell so the timed lab focuses on process design. You will verify the model, create a five-stage business process flow, add a High-priority branch, activate it, and advance NW-1007 and NW-1008 through every expected stage.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active C903 Request Lifecycle business process flow in the C903 Northwind Automation solution, published in C903 Request Manager, with complete High and Normal path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Verify model</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Design stages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Branch priority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Publish process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 Apps maker portal · Microsoft Dataverse · business process flows · model-driven apps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and Traverse a Conditional Dataverse Business Process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600" b="0">
                <a:solidFill>
                  <a:srgbClr val="161B26"/>
                </a:solidFill>
                <a:latin typeface="Arial"/>
              </a:rPr>
              <a:t>The solution must contain the active five-stage C903 Request Lifecycle with one High-priority branch and an active Request ID alternate key. T12 must show all five stages for NW-1007 and T13 must show the four-stage default path for NW-1008. Both records must reach Closure and end Closed. The correlation register must use the supplied header and store the SharePoint and Dataverse IDs for both RequestIDs.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Build Approval Flows with Power Automate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LO2 - Approve and Branch: Use an approval only where a person must decide, branch on the returned outcome, configure failure paths deliberately, and distinguish a cloud flow from a stage-based business process flow.</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 Flows to Manage User Information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Instant flow inputs · Office 365 Users · location and date values · time-zone conversion · calendar events · privacy · duplicate prevention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Afternoon personal productivity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Build Flows to Manage User Information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Instant input</a:t>
            </a:r>
          </a:p>
          <a:p>
            <a:pPr algn="l">
              <a:spcAft>
                <a:spcPts val="300"/>
              </a:spcAft>
            </a:pPr>
            <a:r>
              <a:rPr sz="1200" b="0">
                <a:solidFill>
                  <a:srgbClr val="5B6372"/>
                </a:solidFill>
                <a:latin typeface="Arial"/>
              </a:rPr>
              <a:t>A typed value supplied by the person or app that invokes an instant cloud flow.</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User profile</a:t>
            </a:r>
          </a:p>
          <a:p>
            <a:pPr algn="l">
              <a:spcAft>
                <a:spcPts val="300"/>
              </a:spcAft>
            </a:pPr>
            <a:r>
              <a:rPr sz="1200" b="0">
                <a:solidFill>
                  <a:srgbClr val="5B6372"/>
                </a:solidFill>
                <a:latin typeface="Arial"/>
              </a:rPr>
              <a:t>Directory information returned by the Microsoft 365 Users connection for an authorised identity.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Expression</a:t>
            </a:r>
          </a:p>
          <a:p>
            <a:pPr algn="l">
              <a:spcAft>
                <a:spcPts val="300"/>
              </a:spcAft>
            </a:pPr>
            <a:r>
              <a:rPr sz="1200" b="0">
                <a:solidFill>
                  <a:srgbClr val="5B6372"/>
                </a:solidFill>
                <a:latin typeface="Arial"/>
              </a:rPr>
              <a:t>A formula that transforms, validates, combines, or defaults values during a run.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zone</a:t>
            </a:r>
          </a:p>
          <a:p>
            <a:pPr algn="l">
              <a:spcAft>
                <a:spcPts val="300"/>
              </a:spcAft>
            </a:pPr>
            <a:r>
              <a:rPr sz="1200" b="0">
                <a:solidFill>
                  <a:srgbClr val="5B6372"/>
                </a:solidFill>
                <a:latin typeface="Arial"/>
              </a:rPr>
              <a:t>The regional offset and daylight rule needed to interpret a local date and time correctly.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Idempotency</a:t>
            </a:r>
          </a:p>
          <a:p>
            <a:pPr algn="l">
              <a:spcAft>
                <a:spcPts val="300"/>
              </a:spcAft>
            </a:pPr>
            <a:r>
              <a:rPr sz="1200" b="0">
                <a:solidFill>
                  <a:srgbClr val="5B6372"/>
                </a:solidFill>
                <a:latin typeface="Arial"/>
              </a:rPr>
              <a:t>The property that repeating the same request does not create an unintended duplicate outcome.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Minimum data</a:t>
            </a:r>
          </a:p>
          <a:p>
            <a:pPr algn="l">
              <a:spcAft>
                <a:spcPts val="300"/>
              </a:spcAft>
            </a:pPr>
            <a:r>
              <a:rPr sz="1200" b="0">
                <a:solidFill>
                  <a:srgbClr val="5B6372"/>
                </a:solidFill>
                <a:latin typeface="Arial"/>
              </a:rPr>
              <a:t>The smallest set of user information needed to achieve the declared automation purpose.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Instant Flows and User-Input Contracts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instant cloud flow starts when a person selects a button or when Power Apps invokes the flow. The trigger can define typed inputs such as text, number, Boolean, email, date, or file. Those inputs form a contract between the user interface and the automation: names, required values, allowed values, defaults, and validation must be explicit.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User-driven automation is appropriate when a person decides when work should begin and supplies context that no system event contains. Poor input design moves ambiguity into later actions. A short, typed input contract reduces errors, makes test cases repeatable, and avoids collecting unnecessary personal data.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Instant Flows and User-Input Contracts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Define the user decision and the minimum fields the flow needs to act.</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Name inputs with business terms and include format guidance in the prompt or app.</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Validate required values and allowed options before calling downstream connectors.</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Create a correlation key from the request ID and invocation time or another stable input.</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Return a concise confirmation containing the correlation key and next action.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Instant Flows and User-Input Contracts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coordinator runs an instant flow for Request NW-1007 and enters a follow-up date and work mode.</a:t>
            </a:r>
          </a:p>
          <a:p>
            <a:pPr>
              <a:spcAft>
                <a:spcPts val="1000"/>
              </a:spcAft>
            </a:pPr>
            <a:r>
              <a:rPr sz="1600" b="0">
                <a:solidFill>
                  <a:srgbClr val="161B26"/>
                </a:solidFill>
                <a:latin typeface="Arial"/>
              </a:rPr>
              <a:t>•  The flow retrieves the coordinator's profile and selects an office or remote message branch.</a:t>
            </a:r>
          </a:p>
          <a:p>
            <a:pPr>
              <a:spcAft>
                <a:spcPts val="1000"/>
              </a:spcAft>
            </a:pPr>
            <a:r>
              <a:rPr sz="1600" b="0">
                <a:solidFill>
                  <a:srgbClr val="161B26"/>
                </a:solidFill>
                <a:latin typeface="Arial"/>
              </a:rPr>
              <a:t>•  The confirmation contains the Request ID, selected date, and resolved location without exposing extra profile fields or promising a request link.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person must choose the start moment or provide a small amount of current context.</a:t>
            </a:r>
          </a:p>
          <a:p>
            <a:pPr>
              <a:spcAft>
                <a:spcPts val="1000"/>
              </a:spcAft>
            </a:pPr>
            <a:r>
              <a:rPr sz="1400" b="0">
                <a:solidFill>
                  <a:srgbClr val="5B6372"/>
                </a:solidFill>
                <a:latin typeface="Arial"/>
              </a:rPr>
              <a:t>–  The flow can validate input before creating messages, calendar events, or records.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process should start automatically from a reliable source-system event.</a:t>
            </a:r>
          </a:p>
          <a:p>
            <a:pPr>
              <a:spcAft>
                <a:spcPts val="1000"/>
              </a:spcAft>
            </a:pPr>
            <a:r>
              <a:rPr sz="1400" b="0">
                <a:solidFill>
                  <a:srgbClr val="5B6372"/>
                </a:solidFill>
                <a:latin typeface="Arial"/>
              </a:rPr>
              <a:t>–  The trigger asks for sensitive or irrelevant personal information that the process does not need.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Instant Flows and User-Input Contracts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Contract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every input, type, required state, allowed value, and default.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Validation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Stop early with a useful message when data is missing or malformed.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Confirmation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Return the correlation key and the exact outcome created.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Profile, Location, Date, and Time Logic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Office 365 Users connector can retrieve profile properties for the signed-in or named organisational user. Date and time values arrive in specific formats and time zones; expressions such as formatDateTime, addDays, coalesce, and convertTimeZone transform them. Location may come from an explicit input or an authorised directory property and should be used only for the declared purpose.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Personalised flows fail when a display name is used where an email is required, an optional profile field is null, or an unlabelled timestamp is interpreted in the wrong time zone. Explicit types, null handling, and time-zone conversion make the result predictable. Minimum-data design reduces privacy and maintenance risk by retrieving only what later actions use.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Profile, Location, Date, and Time Logic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the signed-in user's email or object identity as the profile lookup key.</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Inspect which profile fields can be empty and apply coalesce only with a truthful default.</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Keep UTC for system comparison and convert to Singapore Standard Time for local communication.</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Format dates only at the presentation boundary; preserve the original machine-readable value.</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Do not infer sensitive characteristics from office, department, manager, or other profile fields.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Profile, Location, Date, and Time Logic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flow reads only Mail, Display Name, and Office Location for the invoking user.</a:t>
            </a:r>
          </a:p>
          <a:p>
            <a:pPr>
              <a:spcAft>
                <a:spcPts val="1000"/>
              </a:spcAft>
            </a:pPr>
            <a:r>
              <a:rPr sz="1600" b="0">
                <a:solidFill>
                  <a:srgbClr val="161B26"/>
                </a:solidFill>
                <a:latin typeface="Arial"/>
              </a:rPr>
              <a:t>•  If Office Location is empty, it uses the explicit Work Mode input instead of inventing a location.</a:t>
            </a:r>
          </a:p>
          <a:p>
            <a:pPr>
              <a:spcAft>
                <a:spcPts val="1000"/>
              </a:spcAft>
            </a:pPr>
            <a:r>
              <a:rPr sz="1600" b="0">
                <a:solidFill>
                  <a:srgbClr val="161B26"/>
                </a:solidFill>
                <a:latin typeface="Arial"/>
              </a:rPr>
              <a:t>•  The date-only Follow-up Date input is formatted as dd MMM yyyy at the confirmation boundary.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directory property is necessary for routing or communication and the user is authorised to retrieve it.</a:t>
            </a:r>
          </a:p>
          <a:p>
            <a:pPr>
              <a:spcAft>
                <a:spcPts val="1000"/>
              </a:spcAft>
            </a:pPr>
            <a:r>
              <a:rPr sz="1400" b="0">
                <a:solidFill>
                  <a:srgbClr val="5B6372"/>
                </a:solidFill>
                <a:latin typeface="Arial"/>
              </a:rPr>
              <a:t>–  The design records which time zone each timestamp uses and tests a known date.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profile field is being collected for convenience but has no action tied to it.</a:t>
            </a:r>
          </a:p>
          <a:p>
            <a:pPr>
              <a:spcAft>
                <a:spcPts val="1000"/>
              </a:spcAft>
            </a:pPr>
            <a:r>
              <a:rPr sz="1400" b="0">
                <a:solidFill>
                  <a:srgbClr val="5B6372"/>
                </a:solidFill>
                <a:latin typeface="Arial"/>
              </a:rPr>
              <a:t>–  A missing value would be silently replaced with a misleading default.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Profile, Location, Date, and Time Logic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Identity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stable email or object ID instead of a display name.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Time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Label UTC and local values and convert with an explicit source and destination zone.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Privacy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Retrieve, expose, and retain only the properties required by the flow.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Calendar Actions and Duplicate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Calendar connector actions create, update, or retrieve events under an authenticated mailbox identity. A reliable calendar flow defines subject, start, end, time zone, attendees, body, and availability. Idempotency prevents the same business request from creating multiple events when a user retries or a connector repeats an operation.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Calendar automation has visible consequences for the user and invited attendees. An incorrect time zone, duration, recipient, or retry can block the wrong time or send duplicate invitations. A deterministic category or correlation key lets the flow search for an existing event before creating a new one and supports later update or cancellation.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Calendar Actions and Duplicate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Derive a stable event key such as C903-NW-1007-FOLLOWUP from the request ID and event purpose.</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Calculate end time from the validated start and bounded duration.</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Search the target time window or maintain the created Event ID on the request record.</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If an event already exists, update it or return an Already exists result instead of creating another.</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Confirm subject, time zone, start, end, attendees, and saved Event ID in the run evidence.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Calendar Actions and Duplicate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coordinator requests a 45-minute follow-up block for NW-1007 at 3:00 pm Singapore time.</a:t>
            </a:r>
          </a:p>
          <a:p>
            <a:pPr>
              <a:spcAft>
                <a:spcPts val="1000"/>
              </a:spcAft>
            </a:pPr>
            <a:r>
              <a:rPr sz="1600" b="0">
                <a:solidFill>
                  <a:srgbClr val="161B26"/>
                </a:solidFill>
                <a:latin typeface="Arial"/>
              </a:rPr>
              <a:t>•  The flow checks the stored CalendarEventID before Create event, persists the returned ID, then uses a bounded category search for C903-NW-1007-FOLLOWUP as count evidence.</a:t>
            </a:r>
          </a:p>
          <a:p>
            <a:pPr>
              <a:spcAft>
                <a:spcPts val="1000"/>
              </a:spcAft>
            </a:pPr>
            <a:r>
              <a:rPr sz="1600" b="0">
                <a:solidFill>
                  <a:srgbClr val="161B26"/>
                </a:solidFill>
                <a:latin typeface="Arial"/>
              </a:rPr>
              <a:t>•  A second invocation detects the stored ID, returns it in the confirmation, and creates no duplicate.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requester has authority to create the event and the subject and attendees are appropriate.</a:t>
            </a:r>
          </a:p>
          <a:p>
            <a:pPr>
              <a:spcAft>
                <a:spcPts val="1000"/>
              </a:spcAft>
            </a:pPr>
            <a:r>
              <a:rPr sz="1400" b="0">
                <a:solidFill>
                  <a:srgbClr val="5B6372"/>
                </a:solidFill>
                <a:latin typeface="Arial"/>
              </a:rPr>
              <a:t>–  The process can persist or search a stable key and has a clear update or cancellation rule.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automation would invite external attendees or expose request details without an explicit release decision.</a:t>
            </a:r>
          </a:p>
          <a:p>
            <a:pPr>
              <a:spcAft>
                <a:spcPts val="1000"/>
              </a:spcAft>
            </a:pPr>
            <a:r>
              <a:rPr sz="1400" b="0">
                <a:solidFill>
                  <a:srgbClr val="5B6372"/>
                </a:solidFill>
                <a:latin typeface="Arial"/>
              </a:rPr>
              <a:t>–  The design relies only on event subject text and cannot distinguish retries from genuinely new events.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Calendar Actions and Duplicate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Time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Validate start, duration, time zone, and working-hours boundary.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Key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Persist a stable Request ID to Event ID relationship.</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Impact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attendees, sensitivity, availability, and notification behaviour.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Build Flows to Manage User Information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 Validated User-Driven Follow-Up 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Block Calendar Time with Validation and Duplicate Prevention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Validated User-Driven Follow-Up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create an instant flow with RequestID, Follow-up Date, Work Mode, and Use Directory Location inputs. The flow normalises and validates Work Mode before reading profile data, requires exactly one SharePoint request, retrieves only Display Name, Mail, and Office Location, and sets one ResolvedLocation variable in both location branches.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An instant cloud flow named C903-05-Create-User-Follow-Up with a four-field input contract, invalid-input termination, exactly-one lookup, minimum profile retrieval, and one branch-safe variable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Define inputs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Validate early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Read minimum profile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Set one location</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 Automate instant flows · SharePoint Online · Office 365 Users · Office 365 Outlook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Validated User-Driven Follow-Up 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600" b="0">
                <a:solidFill>
                  <a:srgbClr val="161B26"/>
                </a:solidFill>
                <a:latin typeface="Arial"/>
              </a:rPr>
              <a:t>The trigger must have four required inputs. T14 and T15 must find exactly one request and consume the same ResolvedLocation variable after the location Condition. T16 must terminate before profile retrieval and send no email. The two valid messages may expose only Display Name, Mail, resolved location, synthetic request fields, and the formatted date. No flow logic is edited between tests.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Block Calendar Time with Validation and Duplicate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configure an instant calendar flow with a Try_parse_time scope and a separate Schedule_calendar scope. The flow requires exactly one SharePoint request, parses an ISO local start at runtime, enforces a 15-to-120-minute future window, and creates an Outlook event only when CalendarEventID is empty. Catch reports an invalid date format, while explicit Terminate actions close invalid count, range, and past-time cases.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instant cloud flow named C903-06-Block-Follow-Up-Time, one calendar event for NW-1007, a persisted Event ID, and evidence for six validation and duplicate cases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Validate request</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Parse safely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Check range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Create or reuse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 Automate instant flows · SharePoint Online · Office 365 Outlook Calendar · control scopes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Block Calendar Time with Validation and Duplicate Prevention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500" b="0">
                <a:solidFill>
                  <a:srgbClr val="161B26"/>
                </a:solidFill>
                <a:latin typeface="Arial"/>
              </a:rPr>
              <a:t>T17 must create one 45-minute Busy event and persist its Event ID. T18 must reuse the same ID and the bounded Get calendar view plus category Filter array must return exactly one event. The existing NW-1007 correlation-register row must remain unique, preserve all ten columns, and carry the same CalendarEventID shown by T17/T18, SharePoint, and Outlook. T19-T22 must terminate on the stated validation path and create no event. Create event (V4) must receive date-time strings without Z and a separate UTC Time zone value. No attendees or non-synthetic request details are added. Before class, the trainer performs the bounded connector-failure acceptance check in the provisioning checklist; it must identify the leaf action and produce nonblank Error_code and Error_message (documented fallback text is acceptable only when the connector returns no structured detail). Learners do not induce this failure.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Build Flows to Manage User Information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LO3 - Personalise and Schedule: Collect the minimum user input, resolve profile and date values predictably, convert time zones, and use a stable identifier to avoid creating duplicate calendar events.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Power Automate's Deep Integration Across Multiple Data Sources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Connections and connectors · SharePoint · Power Apps · Dataverse and Dynamics 365 patterns · SQL · gateways · monitoring · ownership · operational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Afternoon integration and operations · 2 connected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Power Automate's Deep Integration Across Multiple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Connector</a:t>
            </a:r>
          </a:p>
          <a:p>
            <a:pPr algn="l">
              <a:spcAft>
                <a:spcPts val="300"/>
              </a:spcAft>
            </a:pPr>
            <a:r>
              <a:rPr sz="1200" b="0">
                <a:solidFill>
                  <a:srgbClr val="5B6372"/>
                </a:solidFill>
                <a:latin typeface="Arial"/>
              </a:rPr>
              <a:t>A packaged interface exposing triggers and actions for a service or data source.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System of record</a:t>
            </a:r>
          </a:p>
          <a:p>
            <a:pPr algn="l">
              <a:spcAft>
                <a:spcPts val="300"/>
              </a:spcAft>
            </a:pPr>
            <a:r>
              <a:rPr sz="1200" b="0">
                <a:solidFill>
                  <a:srgbClr val="5B6372"/>
                </a:solidFill>
                <a:latin typeface="Arial"/>
              </a:rPr>
              <a:t>The authoritative platform that owns a business entity and governs its current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Dataverse</a:t>
            </a:r>
          </a:p>
          <a:p>
            <a:pPr algn="l">
              <a:spcAft>
                <a:spcPts val="300"/>
              </a:spcAft>
            </a:pPr>
            <a:r>
              <a:rPr sz="1200" b="0">
                <a:solidFill>
                  <a:srgbClr val="5B6372"/>
                </a:solidFill>
                <a:latin typeface="Arial"/>
              </a:rPr>
              <a:t>The Power Platform data service for tables, relationships, security roles, and solution-aware components.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Gateway</a:t>
            </a:r>
          </a:p>
          <a:p>
            <a:pPr algn="l">
              <a:spcAft>
                <a:spcPts val="300"/>
              </a:spcAft>
            </a:pPr>
            <a:r>
              <a:rPr sz="1200" b="0">
                <a:solidFill>
                  <a:srgbClr val="5B6372"/>
                </a:solidFill>
                <a:latin typeface="Arial"/>
              </a:rPr>
              <a:t>A managed bridge that lets cloud services reach supported on-premises data sources.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Correlation ID</a:t>
            </a:r>
          </a:p>
          <a:p>
            <a:pPr algn="l">
              <a:spcAft>
                <a:spcPts val="300"/>
              </a:spcAft>
            </a:pPr>
            <a:r>
              <a:rPr sz="1200" b="0">
                <a:solidFill>
                  <a:srgbClr val="5B6372"/>
                </a:solidFill>
                <a:latin typeface="Arial"/>
              </a:rPr>
              <a:t>One identifier carried across systems so records and run evidence can be reconciled.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Operations runbook</a:t>
            </a:r>
          </a:p>
          <a:p>
            <a:pPr algn="l">
              <a:spcAft>
                <a:spcPts val="300"/>
              </a:spcAft>
            </a:pPr>
            <a:r>
              <a:rPr sz="1200" b="0">
                <a:solidFill>
                  <a:srgbClr val="5B6372"/>
                </a:solidFill>
                <a:latin typeface="Arial"/>
              </a:rPr>
              <a:t>A maintained guide for ownership, dependencies, monitoring, common failures, and recovery actions.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Connectors, Connections, Identity, and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connector defines available operations for a service; a connection authenticates those operations under a user or service identity. Standard and premium classifications affect licensing. Data policies can restrict which connectors may be used together, and an on-premises data gateway can provide a managed route to supported internal sources such as SQL Server.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multi-source flow is only as reliable as its identities, permissions, policies, and connection lifecycle. A maker may be allowed to read SharePoint but not write SQL, or a connector combination may be blocked. Design therefore begins with a connection inventory that records system, operation, identity, owner, licence, policy group, environment, and renewal responsibility.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Connectors, Connections, Identity, and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List each system of record, required trigger or action, data classification, and expected volume.</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Select the connector and confirm whether the required operation is standard or premium.</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Choose a maintainable identity and grant only the permissions the action needs.</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Check environment policy and whether a gateway, firewall rule, or administrator setup is required.</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Record connection owner, recovery contact, and which flows depend on the connection.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Connectors, Connections, Identity, and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Northwind solution reads a SharePoint request, writes a Dataverse row, and inserts one SQL audit record.</a:t>
            </a:r>
          </a:p>
          <a:p>
            <a:pPr>
              <a:spcAft>
                <a:spcPts val="1000"/>
              </a:spcAft>
            </a:pPr>
            <a:r>
              <a:rPr sz="1600" b="0">
                <a:solidFill>
                  <a:srgbClr val="161B26"/>
                </a:solidFill>
                <a:latin typeface="Arial"/>
              </a:rPr>
              <a:t>•  The training SQL connection is premium and is owned by a managed training identity through an approved gateway.</a:t>
            </a:r>
          </a:p>
          <a:p>
            <a:pPr>
              <a:spcAft>
                <a:spcPts val="1000"/>
              </a:spcAft>
            </a:pPr>
            <a:r>
              <a:rPr sz="1600" b="0">
                <a:solidFill>
                  <a:srgbClr val="161B26"/>
                </a:solidFill>
                <a:latin typeface="Arial"/>
              </a:rPr>
              <a:t>•  The runbook records the connection name, owner, table permission, gateway, and reconnection procedure.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integration inventory is approved and each identity has a documented operational owner.</a:t>
            </a:r>
          </a:p>
          <a:p>
            <a:pPr>
              <a:spcAft>
                <a:spcPts val="1000"/>
              </a:spcAft>
            </a:pPr>
            <a:r>
              <a:rPr sz="1400" b="0">
                <a:solidFill>
                  <a:srgbClr val="5B6372"/>
                </a:solidFill>
                <a:latin typeface="Arial"/>
              </a:rPr>
              <a:t>–  The connector and gateway can meet data location, policy, licensing, latency, and volume needs.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personal maker connection would become an undocumented production dependency.</a:t>
            </a:r>
          </a:p>
          <a:p>
            <a:pPr>
              <a:spcAft>
                <a:spcPts val="1000"/>
              </a:spcAft>
            </a:pPr>
            <a:r>
              <a:rPr sz="1400" b="0">
                <a:solidFill>
                  <a:srgbClr val="5B6372"/>
                </a:solidFill>
                <a:latin typeface="Arial"/>
              </a:rPr>
              <a:t>–  The design attempts to bypass data policy, licensing, or network controls.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Connectors, Connections, Identity, and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Authority</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system that owns each field and status.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Identity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who authenticates, what they can do, and who maintains the connection.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Policy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connector classification, environment, licence, gateway, and data rules.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SharePoint, Power Apps, Dataverse, Dynamics 365, and SQL Patterns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SharePoint lists support collaborative records and document-centred processes. Power Apps can collect validated user input and invoke a flow. Dataverse provides relational tables, security, and solution-aware components used by model-driven apps and Dynamics 365. SQL Server provides relational queries and commands, often through premium connections and, for on-premises systems, a gateway.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Integration should not make every system a competing source of truth. The design assigns ownership: SharePoint holds the original intake, Dataverse holds governed lifecycle state, and SQL holds an append-only integration audit. Power Apps provides the interaction surface. The same Request ID and explicit field map allow the flow to reconcile data without confusing display names, option values, or data types.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SharePoint, Power Apps, Dataverse, Dynamics 365, and SQL Patterns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Declare the system of record for request, stage, decision, calendar event, and audit evidence.</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Map source field, type, required state, transformation, target field, and null behaviour.</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Carry Request ID as the correlation key through Power Apps input, SharePoint, Dataverse, and SQL.</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parameterised connector fields or stored procedures; never concatenate untrusted input into SQL text.</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Test create, update, duplicate, null, and permission-denied cases with synthetic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SharePoint, Power Apps, Dataverse, Dynamics 365, and SQL Patterns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Power Apps sends Request ID and a validated review note to a flow.</a:t>
            </a:r>
          </a:p>
          <a:p>
            <a:pPr>
              <a:spcAft>
                <a:spcPts val="1000"/>
              </a:spcAft>
            </a:pPr>
            <a:r>
              <a:rPr sz="1600" b="0">
                <a:solidFill>
                  <a:srgbClr val="161B26"/>
                </a:solidFill>
                <a:latin typeface="Arial"/>
              </a:rPr>
              <a:t>•  Flow 07A requires exactly one SharePoint item, creates or returns the keyed Dataverse row, and responds with message, Dataverse row ID, and Created/Existing state.</a:t>
            </a:r>
          </a:p>
          <a:p>
            <a:pPr>
              <a:spcAft>
                <a:spcPts val="1000"/>
              </a:spcAft>
            </a:pPr>
            <a:r>
              <a:rPr sz="1600" b="0">
                <a:solidFill>
                  <a:srgbClr val="161B26"/>
                </a:solidFill>
                <a:latin typeface="Arial"/>
              </a:rPr>
              <a:t>•  The Dataverse Added event starts flow 07B, which validates the source again, inserts one SQL audit row, writes identifiers to SharePoint, and is reconciled later with the Created, Added, Existing, and any recovery-run timestamps in their defined columns.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Each system has a distinct role and the field map preserves identifiers and types.</a:t>
            </a:r>
          </a:p>
          <a:p>
            <a:pPr>
              <a:spcAft>
                <a:spcPts val="1000"/>
              </a:spcAft>
            </a:pPr>
            <a:r>
              <a:rPr sz="1400" b="0">
                <a:solidFill>
                  <a:srgbClr val="5B6372"/>
                </a:solidFill>
                <a:latin typeface="Arial"/>
              </a:rPr>
              <a:t>–  The flow uses approved connections and synthetic or authorised data during testing.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flow writes the same status independently in several systems without an authority rule.</a:t>
            </a:r>
          </a:p>
          <a:p>
            <a:pPr>
              <a:spcAft>
                <a:spcPts val="1000"/>
              </a:spcAft>
            </a:pPr>
            <a:r>
              <a:rPr sz="1400" b="0">
                <a:solidFill>
                  <a:srgbClr val="5B6372"/>
                </a:solidFill>
                <a:latin typeface="Arial"/>
              </a:rPr>
              <a:t>–  SQL text is built by concatenating user input or a shared connection has broader rights than required.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SharePoint, Power Apps, Dataverse, Dynamics 365, and SQL Patterns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Map</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source, type, transform, target, required state, and null behaviour.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Key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Carry one stable Request ID and persist downstream IDs returned by each system.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Security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parameterised actions, least privilege, and approved connection ownership.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Monitoring, Ownership, Reliability, and Handover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Operational management keeps a flow observable and maintainable after it is built. Run history shows individual executions; analytics and alerts reveal trends; owners and co-owners maintain logic and connections; solutions organise related components for controlled movement. A runbook records purpose, dependencies, service targets, monitoring cadence, common failures, recovery, and change ownership.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successful classroom run proves only one path at one moment. Production reliability requires ongoing evidence: whether triggers are arriving, actions are succeeding, duration and failure rates are acceptable, connections are healthy, and unresolved errors have owners. A tested Catch path and a concise runbook reduce recovery time and keep the process independent of one maker's memory.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Monitoring, Ownership, Reliability, and Handover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1" name="TextBox 10"/>
          <p:cNvSpPr txBox="1"/>
          <p:nvPr/>
        </p:nvSpPr>
        <p:spPr>
          <a:xfrm>
            <a:off x="1618488"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Define service expectations: schedule, volume, acceptable latency, failure threshold, and retention needs.</a:t>
            </a:r>
          </a:p>
        </p:txBody>
      </p:sp>
      <p:sp>
        <p:nvSpPr>
          <p:cNvPr id="12" name="Rectangle 11"/>
          <p:cNvSpPr/>
          <p:nvPr/>
        </p:nvSpPr>
        <p:spPr>
          <a:xfrm>
            <a:off x="4425696"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90288"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6" name="TextBox 15"/>
          <p:cNvSpPr txBox="1"/>
          <p:nvPr/>
        </p:nvSpPr>
        <p:spPr>
          <a:xfrm>
            <a:off x="5266944"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Monitor the trigger count, success rate, duration, connector errors, and business completion record.</a:t>
            </a:r>
          </a:p>
        </p:txBody>
      </p:sp>
      <p:sp>
        <p:nvSpPr>
          <p:cNvPr id="17" name="Rectangle 16"/>
          <p:cNvSpPr/>
          <p:nvPr/>
        </p:nvSpPr>
        <p:spPr>
          <a:xfrm>
            <a:off x="8074152" y="2057400"/>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205740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38744" y="259232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2592324"/>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1" name="TextBox 20"/>
          <p:cNvSpPr txBox="1"/>
          <p:nvPr/>
        </p:nvSpPr>
        <p:spPr>
          <a:xfrm>
            <a:off x="8915400" y="2185416"/>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Use Try, Catch, and Finally scopes with run-after settings and one structured error record.</a:t>
            </a:r>
          </a:p>
        </p:txBody>
      </p:sp>
      <p:sp>
        <p:nvSpPr>
          <p:cNvPr id="22" name="Rectangle 21"/>
          <p:cNvSpPr/>
          <p:nvPr/>
        </p:nvSpPr>
        <p:spPr>
          <a:xfrm>
            <a:off x="2601468"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01468" y="3977639"/>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66060" y="4512563"/>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6060"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26" name="TextBox 25"/>
          <p:cNvSpPr txBox="1"/>
          <p:nvPr/>
        </p:nvSpPr>
        <p:spPr>
          <a:xfrm>
            <a:off x="3442716"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Assign primary and backup owners and confirm licensing, connection, and underlying-data access.</a:t>
            </a:r>
          </a:p>
        </p:txBody>
      </p:sp>
      <p:sp>
        <p:nvSpPr>
          <p:cNvPr id="27" name="Rectangle 26"/>
          <p:cNvSpPr/>
          <p:nvPr/>
        </p:nvSpPr>
        <p:spPr>
          <a:xfrm>
            <a:off x="6249924" y="3977639"/>
            <a:ext cx="3337560"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9924" y="3977639"/>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14516" y="4512563"/>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4516" y="4512563"/>
            <a:ext cx="530352" cy="530352"/>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1" name="TextBox 30"/>
          <p:cNvSpPr txBox="1"/>
          <p:nvPr/>
        </p:nvSpPr>
        <p:spPr>
          <a:xfrm>
            <a:off x="7091172" y="4105655"/>
            <a:ext cx="2350008" cy="1344168"/>
          </a:xfrm>
          <a:prstGeom prst="rect">
            <a:avLst/>
          </a:prstGeom>
          <a:noFill/>
        </p:spPr>
        <p:txBody>
          <a:bodyPr wrap="square" anchor="ctr">
            <a:spAutoFit/>
          </a:bodyPr>
          <a:lstStyle/>
          <a:p>
            <a:pPr algn="l">
              <a:spcAft>
                <a:spcPts val="400"/>
              </a:spcAft>
            </a:pPr>
            <a:r>
              <a:rPr sz="1600" b="0">
                <a:solidFill>
                  <a:srgbClr val="161B26"/>
                </a:solidFill>
                <a:latin typeface="Arial"/>
              </a:rPr>
              <a:t>Complete a runbook and rehearse one failure, recovery, retest, and communication sequence.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Monitoring, Ownership, Reliability, and Handover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synthetic Diagnostic Divisor makes a Compose action fail at runtime before the SQL insert.</a:t>
            </a:r>
          </a:p>
          <a:p>
            <a:pPr>
              <a:spcAft>
                <a:spcPts val="1000"/>
              </a:spcAft>
            </a:pPr>
            <a:r>
              <a:rPr sz="1600" b="0">
                <a:solidFill>
                  <a:srgbClr val="161B26"/>
                </a:solidFill>
                <a:latin typeface="Arial"/>
              </a:rPr>
              <a:t>•  Catch sets SharePoint Status to Automation Error and sends an internal alert containing only Request ID, failed action, status, error code, message, UTC time, and owner.</a:t>
            </a:r>
          </a:p>
          <a:p>
            <a:pPr>
              <a:spcAft>
                <a:spcPts val="1000"/>
              </a:spcAft>
            </a:pPr>
            <a:r>
              <a:rPr sz="1600" b="0">
                <a:solidFill>
                  <a:srgbClr val="161B26"/>
                </a:solidFill>
                <a:latin typeface="Arial"/>
              </a:rPr>
              <a:t>•  After Finally records completion, a Boolean failure flag terminates the handled run Failed. The owner removes the diagnostic, resubmits that same failed 07B run, and verifies one Dataverse row and one SQL audit row, not duplicates.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business process needs repeatable monitoring and more than one person can perform recovery.</a:t>
            </a:r>
          </a:p>
          <a:p>
            <a:pPr>
              <a:spcAft>
                <a:spcPts val="1000"/>
              </a:spcAft>
            </a:pPr>
            <a:r>
              <a:rPr sz="1400" b="0">
                <a:solidFill>
                  <a:srgbClr val="5B6372"/>
                </a:solidFill>
                <a:latin typeface="Arial"/>
              </a:rPr>
              <a:t>–  The team can define an acceptable service level and retain enough run evidence to diagnose defects.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flow is handed over without access checks, owner acceptance, or a tested recovery path.</a:t>
            </a:r>
          </a:p>
          <a:p>
            <a:pPr>
              <a:spcAft>
                <a:spcPts val="1000"/>
              </a:spcAft>
            </a:pPr>
            <a:r>
              <a:rPr sz="1400" b="0">
                <a:solidFill>
                  <a:srgbClr val="5B6372"/>
                </a:solidFill>
                <a:latin typeface="Arial"/>
              </a:rPr>
              <a:t>–  Alerts send raw connector payloads or personal data to recipients who do not need them.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Monitoring, Ownership, Reliability, and Handover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Observe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Track trigger arrival, success, duration, business completion, and connection health.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Recover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the first failure, owner, safe retry rule, and post-recovery verification.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primary and backup owners, review cadence, and change process.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Power Automate's Deep Integration Across Multiple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 Idempotent Power Apps, SharePoint, Dataverse, and SQL Integration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Recover the Same Integration Run and Complete Operational Handover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an Idempotent Power Apps, SharePoint, Dataverse, and SQL Integration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use per-learner SharePoint, Dataverse, canvas-app, and SQL resources prepared by the trainer. The Power Apps flow rejects zero or multiple SharePoint matches and returns an existing Dataverse row instead of creating a duplicate. A Dataverse-added flow inserts one SQL audit row and writes the target identifiers back to SharePoint. The app disables its button while a submission is running.</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Two solution-aware guarded cloud flows, a bound C903 Request Launcher app, exactly one Dataverse and SQL row for NW-1009, and a complete supplied-header correlation record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Preflight isolation</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Build guarded app flow</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Build event flow</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Disable double submit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 Apps · SharePoint Online · Microsoft Dataverse · SQL Server connector · Power Automate solutions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an Idempotent Power Apps, SharePoint, Dataverse, and SQL Integration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500" b="0">
                <a:solidFill>
                  <a:srgbClr val="161B26"/>
                </a:solidFill>
                <a:latin typeface="Arial"/>
              </a:rPr>
              <a:t>T23 must show one SharePoint NW-1009, one Dataverse row by the active Request ID alternate key, and one SQL row by the count query. The first app response is Created and any repeated submission is Existing with the same Dataverse GUID; no second Dataverse trigger or SQL row occurs. SharePoint DataverseRowID and SQLAuditID must match the targets. Evidence must show exactly three relevant runs (07A Created, 07B Added, 07A Existing), the app button must disable while varSubmitting is true, and the correlation register must use all ten supplied columns. The SQL count is recorded only after the NW-1009 07B run reaches terminal Succeeded.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Recover the Same Integration Run and Complete Operational Handover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wrap 07B in serial Try, Catch, and Finally scopes. A temporary Compose divides by the runtime Diagnostic Divisor, so NW-1099 value 0 fails only after the flow is saved and triggered. Catch filters error details and records Automation Error. You will remove the temporary action, resubmit the same failed 07B run, prove one Dataverse and one SQL row for NW-1099, and then run NW-1010 as an independent regression.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final 07B flow with tested serial Try/Catch/Finally behaviour, same-record recovery evidence for NW-1099, NW-1010 regression evidence, approved co-owners, and a Reviewed operations runbook</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Wrap scopes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Fail NW-1099</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Correct and resubmit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Run regression</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Power Automate monitoring · run-after scopes · SharePoint · Dataverse · SQL · solution ownership</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Recover the Same Integration Run and Complete Operational Handover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32004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2148840"/>
          </a:xfrm>
          <a:prstGeom prst="rect">
            <a:avLst/>
          </a:prstGeom>
          <a:noFill/>
        </p:spPr>
        <p:txBody>
          <a:bodyPr wrap="square" anchor="t">
            <a:spAutoFit/>
          </a:bodyPr>
          <a:lstStyle/>
          <a:p>
            <a:pPr algn="l">
              <a:spcAft>
                <a:spcPts val="400"/>
              </a:spcAft>
            </a:pPr>
            <a:r>
              <a:rPr sz="1500" b="0">
                <a:solidFill>
                  <a:srgbClr val="161B26"/>
                </a:solidFill>
                <a:latin typeface="Arial"/>
              </a:rPr>
              <a:t>T24A must show a runtime, not save-time, failure for NW-1099; filtered Catch evidence; and counts 1/1/0. The post-Finally failure flag must make the overall T24A run Failed and therefore resubmittable. T24B must be a resubmission of that same failed 07B run and end with counts 1/1/1, reconciled IDs, Try success, Catch skipped, and Finally success. T25 must independently show 1/1/1 for NW-1010. The final saved 07B must contain no diagnostic action, both flows must have approved primary and backup owners, and the runbook must document exact resubmission, duplicate, timeout, invalid-input, 401/403, and connection-repair paths. The correlation register must include one complete row each for NW-1099 and NW-1010 with initial and recovery 07B timestamps placed in their defined columns. T24A must identify C903_Runtime_Diagnostic as the leaf Error_action and store nonblank Error_code and Error_message; documented fallback text is acceptable only when the action returns no structured detail.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Power Automate's Deep Integration Across Multiple Data Sources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LO4 - Integrate and Operate: Select connectors by system of record, identity, licensing, policy, and latency; preserve a shared correlation ID; then hand over the flow with owners, monitoring checks, and a tested recovery path.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Build &amp; Diagnose</a:t>
            </a:r>
          </a:p>
          <a:p>
            <a:pPr algn="l">
              <a:spcAft>
                <a:spcPts val="300"/>
              </a:spcAft>
            </a:pPr>
            <a:r>
              <a:rPr sz="1300" b="0">
                <a:solidFill>
                  <a:srgbClr val="5B6372"/>
                </a:solidFill>
                <a:latin typeface="Arial"/>
              </a:rPr>
              <a:t>Design, build, test, share, and troubleshoot cloud flows by selecting appropriate triggers, actions, recurrence settings, dynamic content, and run-history evidence.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Approve &amp; Branch</a:t>
            </a:r>
          </a:p>
          <a:p>
            <a:pPr algn="l">
              <a:spcAft>
                <a:spcPts val="300"/>
              </a:spcAft>
            </a:pPr>
            <a:r>
              <a:rPr sz="1300" b="0">
                <a:solidFill>
                  <a:srgbClr val="5B6372"/>
                </a:solidFill>
                <a:latin typeface="Arial"/>
              </a:rPr>
              <a:t>Implement conditional logic, approval patterns, run-after behaviour, and a conditional business process flow for a governed request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Personalise &amp; Schedule</a:t>
            </a:r>
          </a:p>
          <a:p>
            <a:pPr algn="l">
              <a:spcAft>
                <a:spcPts val="300"/>
              </a:spcAft>
            </a:pPr>
            <a:r>
              <a:rPr sz="1300" b="0">
                <a:solidFill>
                  <a:srgbClr val="5B6372"/>
                </a:solidFill>
                <a:latin typeface="Arial"/>
              </a:rPr>
              <a:t>Create user-driven flows that use explicit inputs, Microsoft 365 user information, date and time logic, and calendar actions while controlling duplicates and data exposure.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Integrate &amp; Operate</a:t>
            </a:r>
          </a:p>
          <a:p>
            <a:pPr algn="l">
              <a:spcAft>
                <a:spcPts val="300"/>
              </a:spcAft>
            </a:pPr>
            <a:r>
              <a:rPr sz="1300" b="0">
                <a:solidFill>
                  <a:srgbClr val="5B6372"/>
                </a:solidFill>
                <a:latin typeface="Arial"/>
              </a:rPr>
              <a:t>Integrate SharePoint, Power Apps, Dataverse, Dynamics 365 patterns, and SQL; then monitor, share, own, and document a reliable automated process.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Building Observable Automations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E-D-D-A-E-O to one small, authorised business process.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Carry one stable correlation key through every system and evidence record.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Test the normal, empty, false, failure, timeout, and duplicate paths.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Review current Microsoft guidance whenever connectors or designer controls change.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C903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PL-7002 POWER AUTOMATE · C903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build, integrate, test, share, monitor, and hand over Power Automate processes with observable results and controlled recovery.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PL-7002 Create and Manage Automated Processes by using Power Automate  ·  C903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