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Hours per week, per staff member</c:v>
                </c:pt>
              </c:strCache>
            </c:strRef>
          </c:tx>
          <c:spPr>
            <a:solidFill>
              <a:srgbClr val="1F6FEB"/>
            </a:solidFill>
          </c:spPr>
          <c:cat>
            <c:strRef>
              <c:f>Sheet1!$A$2:$A$6</c:f>
              <c:strCache>
                <c:ptCount val="5"/>
                <c:pt idx="0">
                  <c:v>Re-keying data</c:v>
                </c:pt>
                <c:pt idx="1">
                  <c:v>Chasing approvals</c:v>
                </c:pt>
                <c:pt idx="2">
                  <c:v>Compiling reports</c:v>
                </c:pt>
                <c:pt idx="3">
                  <c:v>Sending updates</c:v>
                </c:pt>
                <c:pt idx="4">
                  <c:v>Fixing errors</c:v>
                </c:pt>
              </c:strCache>
            </c:strRef>
          </c:cat>
          <c:val>
            <c:numRef>
              <c:f>Sheet1!$B$2:$B$6</c:f>
              <c:numCache>
                <c:formatCode>0.0</c:formatCode>
                <c:ptCount val="5"/>
                <c:pt idx="0">
                  <c:v>6.5</c:v>
                </c:pt>
                <c:pt idx="1">
                  <c:v>4.2</c:v>
                </c:pt>
                <c:pt idx="2">
                  <c:v>3.8</c:v>
                </c:pt>
                <c:pt idx="3">
                  <c:v>2.9</c:v>
                </c:pt>
                <c:pt idx="4">
                  <c:v>2.1</c:v>
                </c:pt>
              </c:numCache>
            </c:numRef>
          </c:val>
        </c:ser>
        <c:dLbls>
          <c:numFmt formatCode="0.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Number of properties</c:v>
                </c:pt>
              </c:strCache>
            </c:strRef>
          </c:tx>
          <c:spPr>
            <a:solidFill>
              <a:srgbClr val="1F6FEB"/>
            </a:solidFill>
          </c:spPr>
          <c:cat>
            <c:strRef>
              <c:f>Sheet1!$A$2:$A$4</c:f>
              <c:strCache>
                <c:ptCount val="3"/>
                <c:pt idx="0">
                  <c:v>Available</c:v>
                </c:pt>
                <c:pt idx="1">
                  <c:v>Under Offer</c:v>
                </c:pt>
                <c:pt idx="2">
                  <c:v>Sold</c:v>
                </c:pt>
              </c:strCache>
            </c:strRef>
          </c:cat>
          <c:val>
            <c:numRef>
              <c:f>Sheet1!$B$2:$B$4</c:f>
              <c:numCache>
                <c:formatCode>0</c:formatCode>
                <c:ptCount val="3"/>
                <c:pt idx="0">
                  <c:v>11</c:v>
                </c:pt>
                <c:pt idx="1">
                  <c:v>4</c:v>
                </c:pt>
                <c:pt idx="2">
                  <c:v>3</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Average asking price</c:v>
                </c:pt>
              </c:strCache>
            </c:strRef>
          </c:tx>
          <c:spPr>
            <a:solidFill>
              <a:srgbClr val="1F6FEB"/>
            </a:solidFill>
          </c:spPr>
          <c:cat>
            <c:strRef>
              <c:f>Sheet1!$A$2:$A$3</c:f>
              <c:strCache>
                <c:ptCount val="2"/>
                <c:pt idx="0">
                  <c:v>Residential</c:v>
                </c:pt>
                <c:pt idx="1">
                  <c:v>Commercial</c:v>
                </c:pt>
              </c:strCache>
            </c:strRef>
          </c:cat>
          <c:val>
            <c:numRef>
              <c:f>Sheet1!$B$2:$B$3</c:f>
              <c:numCache>
                <c:formatCode>#,##0</c:formatCode>
                <c:ptCount val="2"/>
                <c:pt idx="0">
                  <c:v>2569583</c:v>
                </c:pt>
                <c:pt idx="1">
                  <c:v>4255000</c:v>
                </c:pt>
              </c:numCache>
            </c:numRef>
          </c:val>
        </c:ser>
        <c:dLbls>
          <c:numFmt formatCode="#,##0" sourceLinked="0"/>
          <c:txPr>
            <a:bodyPr/>
            <a:lstStyle/>
            <a:p>
              <a:pPr>
                <a:defRPr sz="1000">
                  <a:solidFill>
                    <a:srgbClr val="161B26"/>
                  </a:solidFill>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200">
          <a:solidFill>
            <a:srgbClr val="161B26"/>
          </a:solidFill>
          <a:latin typeface="Arial"/>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56832"/>
            <a:ext cx="12191695" cy="20116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ertiary-infotech-logo.png"/>
          <p:cNvPicPr>
            <a:picLocks noChangeAspect="1"/>
          </p:cNvPicPr>
          <p:nvPr/>
        </p:nvPicPr>
        <p:blipFill>
          <a:blip r:embed="rId2"/>
          <a:stretch>
            <a:fillRect/>
          </a:stretch>
        </p:blipFill>
        <p:spPr>
          <a:xfrm>
            <a:off x="777240" y="640080"/>
            <a:ext cx="960120" cy="960120"/>
          </a:xfrm>
          <a:prstGeom prst="rect">
            <a:avLst/>
          </a:prstGeom>
        </p:spPr>
      </p:pic>
      <p:sp>
        <p:nvSpPr>
          <p:cNvPr id="6" name="Rectangle 5"/>
          <p:cNvSpPr/>
          <p:nvPr/>
        </p:nvSpPr>
        <p:spPr>
          <a:xfrm>
            <a:off x="9646920" y="566928"/>
            <a:ext cx="1874519" cy="10972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46920" y="676656"/>
            <a:ext cx="1874519" cy="384048"/>
          </a:xfrm>
          <a:prstGeom prst="rect">
            <a:avLst/>
          </a:prstGeom>
          <a:noFill/>
        </p:spPr>
        <p:txBody>
          <a:bodyPr wrap="square" anchor="t">
            <a:spAutoFit/>
          </a:bodyPr>
          <a:lstStyle/>
          <a:p>
            <a:pPr algn="ctr">
              <a:spcAft>
                <a:spcPts val="400"/>
              </a:spcAft>
            </a:pPr>
            <a:r>
              <a:rPr sz="1300" b="1">
                <a:solidFill>
                  <a:srgbClr val="FFFFFF"/>
                </a:solidFill>
                <a:latin typeface="Arial"/>
              </a:rPr>
              <a:t>MICROSOFT</a:t>
            </a:r>
          </a:p>
        </p:txBody>
      </p:sp>
      <p:sp>
        <p:nvSpPr>
          <p:cNvPr id="8" name="TextBox 7"/>
          <p:cNvSpPr txBox="1"/>
          <p:nvPr/>
        </p:nvSpPr>
        <p:spPr>
          <a:xfrm>
            <a:off x="9646920" y="1005840"/>
            <a:ext cx="1874519" cy="384048"/>
          </a:xfrm>
          <a:prstGeom prst="rect">
            <a:avLst/>
          </a:prstGeom>
          <a:noFill/>
        </p:spPr>
        <p:txBody>
          <a:bodyPr wrap="square" anchor="t">
            <a:spAutoFit/>
          </a:bodyPr>
          <a:lstStyle/>
          <a:p>
            <a:pPr algn="ctr">
              <a:spcAft>
                <a:spcPts val="400"/>
              </a:spcAft>
            </a:pPr>
            <a:r>
              <a:rPr sz="1100" b="1">
                <a:solidFill>
                  <a:srgbClr val="FFFFFF"/>
                </a:solidFill>
                <a:latin typeface="Arial"/>
              </a:rPr>
              <a:t>POWER PLATFORM</a:t>
            </a:r>
          </a:p>
        </p:txBody>
      </p:sp>
      <p:sp>
        <p:nvSpPr>
          <p:cNvPr id="9" name="TextBox 8"/>
          <p:cNvSpPr txBox="1"/>
          <p:nvPr/>
        </p:nvSpPr>
        <p:spPr>
          <a:xfrm>
            <a:off x="9646920" y="1316736"/>
            <a:ext cx="1874519" cy="310896"/>
          </a:xfrm>
          <a:prstGeom prst="rect">
            <a:avLst/>
          </a:prstGeom>
          <a:noFill/>
        </p:spPr>
        <p:txBody>
          <a:bodyPr wrap="square" anchor="t">
            <a:spAutoFit/>
          </a:bodyPr>
          <a:lstStyle/>
          <a:p>
            <a:pPr algn="ctr">
              <a:spcAft>
                <a:spcPts val="400"/>
              </a:spcAft>
            </a:pPr>
            <a:r>
              <a:rPr sz="1000" b="0">
                <a:solidFill>
                  <a:srgbClr val="FFFFFF"/>
                </a:solidFill>
                <a:latin typeface="Arial"/>
              </a:rPr>
              <a:t>with Copilot</a:t>
            </a:r>
          </a:p>
        </p:txBody>
      </p:sp>
      <p:sp>
        <p:nvSpPr>
          <p:cNvPr id="10" name="TextBox 9"/>
          <p:cNvSpPr txBox="1"/>
          <p:nvPr/>
        </p:nvSpPr>
        <p:spPr>
          <a:xfrm>
            <a:off x="822960" y="2103120"/>
            <a:ext cx="10972800" cy="548640"/>
          </a:xfrm>
          <a:prstGeom prst="rect">
            <a:avLst/>
          </a:prstGeom>
          <a:noFill/>
        </p:spPr>
        <p:txBody>
          <a:bodyPr wrap="square" anchor="t">
            <a:spAutoFit/>
          </a:bodyPr>
          <a:lstStyle/>
          <a:p>
            <a:pPr algn="l">
              <a:spcAft>
                <a:spcPts val="400"/>
              </a:spcAft>
            </a:pPr>
            <a:r>
              <a:rPr sz="1600" b="1">
                <a:solidFill>
                  <a:srgbClr val="1F6FEB"/>
                </a:solidFill>
                <a:latin typeface="Arial"/>
              </a:rPr>
              <a:t>COURSE SLIDES  ·  WSQ</a:t>
            </a:r>
          </a:p>
        </p:txBody>
      </p:sp>
      <p:sp>
        <p:nvSpPr>
          <p:cNvPr id="11" name="TextBox 10"/>
          <p:cNvSpPr txBox="1"/>
          <p:nvPr/>
        </p:nvSpPr>
        <p:spPr>
          <a:xfrm>
            <a:off x="822960" y="2606040"/>
            <a:ext cx="10972800" cy="1737360"/>
          </a:xfrm>
          <a:prstGeom prst="rect">
            <a:avLst/>
          </a:prstGeom>
          <a:noFill/>
        </p:spPr>
        <p:txBody>
          <a:bodyPr wrap="square" anchor="t">
            <a:spAutoFit/>
          </a:bodyPr>
          <a:lstStyle/>
          <a:p>
            <a:pPr algn="l">
              <a:spcAft>
                <a:spcPts val="400"/>
              </a:spcAft>
            </a:pPr>
            <a:r>
              <a:rPr sz="4000" b="1">
                <a:solidFill>
                  <a:srgbClr val="161B26"/>
                </a:solidFill>
                <a:latin typeface="Arial"/>
              </a:rPr>
              <a:t>Create Intelligent Power Apps and Power Automate Workflows with Copilot</a:t>
            </a:r>
          </a:p>
        </p:txBody>
      </p:sp>
      <p:sp>
        <p:nvSpPr>
          <p:cNvPr id="12" name="Rectangle 11"/>
          <p:cNvSpPr/>
          <p:nvPr/>
        </p:nvSpPr>
        <p:spPr>
          <a:xfrm>
            <a:off x="841248" y="4343400"/>
            <a:ext cx="2194560" cy="5486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617720"/>
            <a:ext cx="10972800" cy="1280160"/>
          </a:xfrm>
          <a:prstGeom prst="rect">
            <a:avLst/>
          </a:prstGeom>
          <a:noFill/>
        </p:spPr>
        <p:txBody>
          <a:bodyPr wrap="square" anchor="t">
            <a:spAutoFit/>
          </a:bodyPr>
          <a:lstStyle/>
          <a:p>
            <a:pPr algn="l">
              <a:spcAft>
                <a:spcPts val="600"/>
              </a:spcAft>
            </a:pPr>
            <a:r>
              <a:rPr sz="1600" b="0">
                <a:solidFill>
                  <a:srgbClr val="5B6372"/>
                </a:solidFill>
                <a:latin typeface="Arial"/>
              </a:rPr>
              <a:t>WSQ Course Code: TGS-2023036648</a:t>
            </a:r>
          </a:p>
          <a:p>
            <a:pPr algn="l">
              <a:spcAft>
                <a:spcPts val="600"/>
              </a:spcAft>
            </a:pPr>
            <a:r>
              <a:rPr sz="1400" b="0">
                <a:solidFill>
                  <a:srgbClr val="5B6372"/>
                </a:solidFill>
                <a:latin typeface="Arial"/>
              </a:rPr>
              <a:t>Conducted by Tertiary Infotech Academy Pte Ltd  ·  UEN 201200696W</a:t>
            </a:r>
          </a:p>
        </p:txBody>
      </p:sp>
      <p:sp>
        <p:nvSpPr>
          <p:cNvPr id="14" name="TextBox 13"/>
          <p:cNvSpPr txBox="1"/>
          <p:nvPr/>
        </p:nvSpPr>
        <p:spPr>
          <a:xfrm>
            <a:off x="822960" y="5943600"/>
            <a:ext cx="10972800" cy="365760"/>
          </a:xfrm>
          <a:prstGeom prst="rect">
            <a:avLst/>
          </a:prstGeom>
          <a:noFill/>
        </p:spPr>
        <p:txBody>
          <a:bodyPr wrap="square" anchor="t">
            <a:spAutoFit/>
          </a:bodyPr>
          <a:lstStyle/>
          <a:p>
            <a:pPr algn="l">
              <a:spcAft>
                <a:spcPts val="400"/>
              </a:spcAft>
            </a:pPr>
            <a:r>
              <a:rPr sz="1200" b="0">
                <a:solidFill>
                  <a:srgbClr val="5B6372"/>
                </a:solidFill>
                <a:latin typeface="Arial"/>
              </a:rPr>
              <a:t>Version v12.0  ·  2 September 2026</a:t>
            </a:r>
          </a:p>
        </p:txBody>
      </p:sp>
      <p:sp>
        <p:nvSpPr>
          <p:cNvPr id="15" name="TextBox 14"/>
          <p:cNvSpPr txBox="1"/>
          <p:nvPr/>
        </p:nvSpPr>
        <p:spPr>
          <a:xfrm>
            <a:off x="822960" y="6263640"/>
            <a:ext cx="10972800" cy="310896"/>
          </a:xfrm>
          <a:prstGeom prst="rect">
            <a:avLst/>
          </a:prstGeom>
          <a:noFill/>
        </p:spPr>
        <p:txBody>
          <a:bodyPr wrap="square" anchor="t">
            <a:spAutoFit/>
          </a:bodyPr>
          <a:lstStyle/>
          <a:p>
            <a:pPr algn="l">
              <a:spcAft>
                <a:spcPts val="400"/>
              </a:spcAft>
            </a:pPr>
            <a:r>
              <a:rPr sz="1000" b="0">
                <a:solidFill>
                  <a:srgbClr val="5B6372"/>
                </a:solidFill>
                <a:latin typeface="Arial"/>
              </a:rPr>
              <a:t>© 2026 Tertiary Infotech Academy Pte Ltd. All rights reserved.  ·  www.tertiarycourses.com.sg</a:t>
            </a:r>
          </a:p>
        </p:txBody>
      </p:sp>
    </p:spTree>
  </p:cSld>
  <p:clrMapOvr>
    <a:masterClrMapping/>
  </p:clrMapOvr>
  <p:transition spd="fast"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COURSE ADMINISTRATION</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Welcome &amp; Housekeeping</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 name="TextBox 8"/>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a:t>
            </a:r>
          </a:p>
        </p:txBody>
      </p:sp>
    </p:spTree>
  </p:cSld>
  <p:clrMapOvr>
    <a:masterClrMapping/>
  </p:clrMapOvr>
  <p:transition spd="med" advClick="1">
    <p:push dir="l"/>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(or Singpass app)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a:t>
            </a:r>
          </a:p>
        </p:txBody>
      </p:sp>
    </p:spTree>
  </p:cSld>
  <p:clrMapOvr>
    <a:masterClrMapping/>
  </p:clrMapOvr>
  <p:transition spd="fast"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5B6372"/>
                </a:solidFill>
                <a:latin typeface="Arial"/>
              </a:rPr>
              <a:t>YOUR TRAINER · GENERAL</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Your Trainer</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General Trainer template —
to be completed by the trainer</a:t>
            </a:r>
          </a:p>
        </p:txBody>
      </p:sp>
      <p:sp>
        <p:nvSpPr>
          <p:cNvPr id="13" name="Rectangle 12"/>
          <p:cNvSpPr/>
          <p:nvPr/>
        </p:nvSpPr>
        <p:spPr>
          <a:xfrm>
            <a:off x="4480560" y="17830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NAME</a:t>
            </a:r>
          </a:p>
          <a:p>
            <a:pPr algn="l">
              <a:spcAft>
                <a:spcPts val="300"/>
              </a:spcAft>
            </a:pPr>
            <a:r>
              <a:rPr sz="1300" b="0">
                <a:solidFill>
                  <a:srgbClr val="E2E8F0"/>
                </a:solidFill>
                <a:latin typeface="Arial"/>
              </a:rPr>
              <a:t>____________________________________________</a:t>
            </a:r>
          </a:p>
        </p:txBody>
      </p:sp>
      <p:sp>
        <p:nvSpPr>
          <p:cNvPr id="16" name="Rectangle 15"/>
          <p:cNvSpPr/>
          <p:nvPr/>
        </p:nvSpPr>
        <p:spPr>
          <a:xfrm>
            <a:off x="4480560" y="252984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52984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52984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TITLE / DESIGNATION</a:t>
            </a:r>
          </a:p>
          <a:p>
            <a:pPr algn="l">
              <a:spcAft>
                <a:spcPts val="300"/>
              </a:spcAft>
            </a:pPr>
            <a:r>
              <a:rPr sz="1300" b="0">
                <a:solidFill>
                  <a:srgbClr val="E2E8F0"/>
                </a:solidFill>
                <a:latin typeface="Arial"/>
              </a:rPr>
              <a:t>____________________________________________</a:t>
            </a:r>
          </a:p>
        </p:txBody>
      </p:sp>
      <p:sp>
        <p:nvSpPr>
          <p:cNvPr id="19" name="Rectangle 18"/>
          <p:cNvSpPr/>
          <p:nvPr/>
        </p:nvSpPr>
        <p:spPr>
          <a:xfrm>
            <a:off x="4480560" y="327660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3276600"/>
            <a:ext cx="91440" cy="5638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3276600"/>
            <a:ext cx="6400800" cy="563880"/>
          </a:xfrm>
          <a:prstGeom prst="rect">
            <a:avLst/>
          </a:prstGeom>
          <a:noFill/>
        </p:spPr>
        <p:txBody>
          <a:bodyPr wrap="square" anchor="ctr">
            <a:spAutoFit/>
          </a:bodyPr>
          <a:lstStyle/>
          <a:p>
            <a:pPr algn="l">
              <a:spcAft>
                <a:spcPts val="300"/>
              </a:spcAft>
            </a:pPr>
            <a:r>
              <a:rPr sz="1100" b="1">
                <a:solidFill>
                  <a:srgbClr val="7C3AED"/>
                </a:solidFill>
                <a:latin typeface="Arial"/>
              </a:rPr>
              <a:t>QUALIFICATIONS</a:t>
            </a:r>
          </a:p>
          <a:p>
            <a:pPr algn="l">
              <a:spcAft>
                <a:spcPts val="300"/>
              </a:spcAft>
            </a:pPr>
            <a:r>
              <a:rPr sz="1300" b="0">
                <a:solidFill>
                  <a:srgbClr val="E2E8F0"/>
                </a:solidFill>
                <a:latin typeface="Arial"/>
              </a:rPr>
              <a:t>____________________________________________</a:t>
            </a:r>
          </a:p>
        </p:txBody>
      </p:sp>
      <p:sp>
        <p:nvSpPr>
          <p:cNvPr id="22" name="Rectangle 21"/>
          <p:cNvSpPr/>
          <p:nvPr/>
        </p:nvSpPr>
        <p:spPr>
          <a:xfrm>
            <a:off x="4480560" y="402336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4023360"/>
            <a:ext cx="91440" cy="56388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4023360"/>
            <a:ext cx="6400800" cy="563880"/>
          </a:xfrm>
          <a:prstGeom prst="rect">
            <a:avLst/>
          </a:prstGeom>
          <a:noFill/>
        </p:spPr>
        <p:txBody>
          <a:bodyPr wrap="square" anchor="ctr">
            <a:spAutoFit/>
          </a:bodyPr>
          <a:lstStyle/>
          <a:p>
            <a:pPr algn="l">
              <a:spcAft>
                <a:spcPts val="300"/>
              </a:spcAft>
            </a:pPr>
            <a:r>
              <a:rPr sz="1100" b="1">
                <a:solidFill>
                  <a:srgbClr val="F59E0B"/>
                </a:solidFill>
                <a:latin typeface="Arial"/>
              </a:rPr>
              <a:t>AREAS OF EXPERTISE</a:t>
            </a:r>
          </a:p>
          <a:p>
            <a:pPr algn="l">
              <a:spcAft>
                <a:spcPts val="300"/>
              </a:spcAft>
            </a:pPr>
            <a:r>
              <a:rPr sz="1300" b="0">
                <a:solidFill>
                  <a:srgbClr val="E2E8F0"/>
                </a:solidFill>
                <a:latin typeface="Arial"/>
              </a:rPr>
              <a:t>____________________________________________</a:t>
            </a:r>
          </a:p>
        </p:txBody>
      </p:sp>
      <p:sp>
        <p:nvSpPr>
          <p:cNvPr id="25" name="Rectangle 24"/>
          <p:cNvSpPr/>
          <p:nvPr/>
        </p:nvSpPr>
        <p:spPr>
          <a:xfrm>
            <a:off x="4480560" y="477012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0560" y="4770120"/>
            <a:ext cx="91440" cy="56388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73168" y="4770120"/>
            <a:ext cx="6400800" cy="563880"/>
          </a:xfrm>
          <a:prstGeom prst="rect">
            <a:avLst/>
          </a:prstGeom>
          <a:noFill/>
        </p:spPr>
        <p:txBody>
          <a:bodyPr wrap="square" anchor="ctr">
            <a:spAutoFit/>
          </a:bodyPr>
          <a:lstStyle/>
          <a:p>
            <a:pPr algn="l">
              <a:spcAft>
                <a:spcPts val="300"/>
              </a:spcAft>
            </a:pPr>
            <a:r>
              <a:rPr sz="1100" b="1">
                <a:solidFill>
                  <a:srgbClr val="1F6FEB"/>
                </a:solidFill>
                <a:latin typeface="Arial"/>
              </a:rPr>
              <a:t>TRAINING &amp; INDUSTRY EXPERIENCE</a:t>
            </a:r>
          </a:p>
          <a:p>
            <a:pPr algn="l">
              <a:spcAft>
                <a:spcPts val="300"/>
              </a:spcAft>
            </a:pPr>
            <a:r>
              <a:rPr sz="1300" b="0">
                <a:solidFill>
                  <a:srgbClr val="E2E8F0"/>
                </a:solidFill>
                <a:latin typeface="Arial"/>
              </a:rPr>
              <a:t>____________________________________________</a:t>
            </a:r>
          </a:p>
        </p:txBody>
      </p:sp>
      <p:sp>
        <p:nvSpPr>
          <p:cNvPr id="28" name="Rectangle 27"/>
          <p:cNvSpPr/>
          <p:nvPr/>
        </p:nvSpPr>
        <p:spPr>
          <a:xfrm>
            <a:off x="4480560" y="5516880"/>
            <a:ext cx="6949440" cy="5638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480560" y="5516880"/>
            <a:ext cx="91440" cy="5638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773168" y="5516880"/>
            <a:ext cx="6400800" cy="563880"/>
          </a:xfrm>
          <a:prstGeom prst="rect">
            <a:avLst/>
          </a:prstGeom>
          <a:noFill/>
        </p:spPr>
        <p:txBody>
          <a:bodyPr wrap="square" anchor="ctr">
            <a:spAutoFit/>
          </a:bodyPr>
          <a:lstStyle/>
          <a:p>
            <a:pPr algn="l">
              <a:spcAft>
                <a:spcPts val="300"/>
              </a:spcAft>
            </a:pPr>
            <a:r>
              <a:rPr sz="1100" b="1">
                <a:solidFill>
                  <a:srgbClr val="10B981"/>
                </a:solidFill>
                <a:latin typeface="Arial"/>
              </a:rPr>
              <a:t>CONTACT</a:t>
            </a:r>
          </a:p>
          <a:p>
            <a:pPr algn="l">
              <a:spcAft>
                <a:spcPts val="300"/>
              </a:spcAft>
            </a:pPr>
            <a:r>
              <a:rPr sz="1300" b="0">
                <a:solidFill>
                  <a:srgbClr val="E2E8F0"/>
                </a:solidFill>
                <a:latin typeface="Arial"/>
              </a:rPr>
              <a:t>____________________________________________</a:t>
            </a:r>
          </a:p>
        </p:txBody>
      </p:sp>
      <p:sp>
        <p:nvSpPr>
          <p:cNvPr id="31" name="TextBox 30"/>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2" name="TextBox 31"/>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a:t>
            </a:r>
          </a:p>
        </p:txBody>
      </p:sp>
    </p:spTree>
  </p:cSld>
  <p:clrMapOvr>
    <a:masterClrMapping/>
  </p:clrMapOvr>
  <p:transition spd="fast"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YOUR TRAINER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About the Trainer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68780" y="2286000"/>
            <a:ext cx="1554480" cy="155448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68780" y="2286000"/>
            <a:ext cx="1554480" cy="1554480"/>
          </a:xfrm>
          <a:prstGeom prst="rect">
            <a:avLst/>
          </a:prstGeom>
          <a:noFill/>
        </p:spPr>
        <p:txBody>
          <a:bodyPr wrap="square" anchor="ctr">
            <a:spAutoFit/>
          </a:bodyPr>
          <a:lstStyle/>
          <a:p>
            <a:pPr algn="ctr">
              <a:spcAft>
                <a:spcPts val="400"/>
              </a:spcAft>
            </a:pPr>
            <a:r>
              <a:rPr sz="4400" b="1">
                <a:solidFill>
                  <a:srgbClr val="FFFFFF"/>
                </a:solidFill>
                <a:latin typeface="Arial"/>
              </a:rPr>
              <a:t>AA</a:t>
            </a:r>
          </a:p>
        </p:txBody>
      </p:sp>
      <p:sp>
        <p:nvSpPr>
          <p:cNvPr id="11" name="TextBox 10"/>
          <p:cNvSpPr txBox="1"/>
          <p:nvPr/>
        </p:nvSpPr>
        <p:spPr>
          <a:xfrm>
            <a:off x="914400" y="4160520"/>
            <a:ext cx="3063240" cy="548640"/>
          </a:xfrm>
          <a:prstGeom prst="rect">
            <a:avLst/>
          </a:prstGeom>
          <a:noFill/>
        </p:spPr>
        <p:txBody>
          <a:bodyPr wrap="square" anchor="t">
            <a:spAutoFit/>
          </a:bodyPr>
          <a:lstStyle/>
          <a:p>
            <a:pPr algn="ctr">
              <a:spcAft>
                <a:spcPts val="400"/>
              </a:spcAft>
            </a:pPr>
            <a:r>
              <a:rPr sz="2100" b="1">
                <a:solidFill>
                  <a:srgbClr val="161B26"/>
                </a:solidFill>
                <a:latin typeface="Arial"/>
              </a:rPr>
              <a:t>Dr. Alfred Ang</a:t>
            </a:r>
          </a:p>
        </p:txBody>
      </p:sp>
      <p:sp>
        <p:nvSpPr>
          <p:cNvPr id="12" name="TextBox 11"/>
          <p:cNvSpPr txBox="1"/>
          <p:nvPr/>
        </p:nvSpPr>
        <p:spPr>
          <a:xfrm>
            <a:off x="914400" y="4754880"/>
            <a:ext cx="3063240" cy="1097280"/>
          </a:xfrm>
          <a:prstGeom prst="rect">
            <a:avLst/>
          </a:prstGeom>
          <a:noFill/>
        </p:spPr>
        <p:txBody>
          <a:bodyPr wrap="square" anchor="t">
            <a:spAutoFit/>
          </a:bodyPr>
          <a:lstStyle/>
          <a:p>
            <a:pPr algn="ctr">
              <a:spcAft>
                <a:spcPts val="400"/>
              </a:spcAft>
            </a:pPr>
            <a:r>
              <a:rPr sz="1300" b="0">
                <a:solidFill>
                  <a:srgbClr val="5B6372"/>
                </a:solidFill>
                <a:latin typeface="Arial"/>
              </a:rPr>
              <a:t>Principal Trainer
Tertiary Infotech Academy Pte Ltd</a:t>
            </a:r>
          </a:p>
        </p:txBody>
      </p:sp>
      <p:sp>
        <p:nvSpPr>
          <p:cNvPr id="13" name="Rectangle 12"/>
          <p:cNvSpPr/>
          <p:nvPr/>
        </p:nvSpPr>
        <p:spPr>
          <a:xfrm>
            <a:off x="4480560" y="178308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480560" y="1783080"/>
            <a:ext cx="91440" cy="9372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1783080"/>
            <a:ext cx="6400800" cy="937260"/>
          </a:xfrm>
          <a:prstGeom prst="rect">
            <a:avLst/>
          </a:prstGeom>
          <a:noFill/>
        </p:spPr>
        <p:txBody>
          <a:bodyPr wrap="square" anchor="ctr">
            <a:spAutoFit/>
          </a:bodyPr>
          <a:lstStyle/>
          <a:p>
            <a:pPr algn="l">
              <a:spcAft>
                <a:spcPts val="300"/>
              </a:spcAft>
            </a:pPr>
            <a:r>
              <a:rPr sz="1100" b="1">
                <a:solidFill>
                  <a:srgbClr val="1F6FEB"/>
                </a:solidFill>
                <a:latin typeface="Arial"/>
              </a:rPr>
              <a:t>ROLE</a:t>
            </a:r>
          </a:p>
          <a:p>
            <a:pPr algn="l">
              <a:spcAft>
                <a:spcPts val="300"/>
              </a:spcAft>
            </a:pPr>
            <a:r>
              <a:rPr sz="1400" b="0">
                <a:solidFill>
                  <a:srgbClr val="161B26"/>
                </a:solidFill>
                <a:latin typeface="Arial"/>
              </a:rPr>
              <a:t>Principal Trainer, Tertiary Infotech Academy Pte Ltd</a:t>
            </a:r>
          </a:p>
        </p:txBody>
      </p:sp>
      <p:sp>
        <p:nvSpPr>
          <p:cNvPr id="16" name="Rectangle 15"/>
          <p:cNvSpPr/>
          <p:nvPr/>
        </p:nvSpPr>
        <p:spPr>
          <a:xfrm>
            <a:off x="4480560" y="290322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480560" y="2903220"/>
            <a:ext cx="91440" cy="9372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73168" y="2903220"/>
            <a:ext cx="6400800" cy="937260"/>
          </a:xfrm>
          <a:prstGeom prst="rect">
            <a:avLst/>
          </a:prstGeom>
          <a:noFill/>
        </p:spPr>
        <p:txBody>
          <a:bodyPr wrap="square" anchor="ctr">
            <a:spAutoFit/>
          </a:bodyPr>
          <a:lstStyle/>
          <a:p>
            <a:pPr algn="l">
              <a:spcAft>
                <a:spcPts val="300"/>
              </a:spcAft>
            </a:pPr>
            <a:r>
              <a:rPr sz="1100" b="1">
                <a:solidFill>
                  <a:srgbClr val="10B981"/>
                </a:solidFill>
                <a:latin typeface="Arial"/>
              </a:rPr>
              <a:t>CERTIFICATION</a:t>
            </a:r>
          </a:p>
          <a:p>
            <a:pPr algn="l">
              <a:spcAft>
                <a:spcPts val="300"/>
              </a:spcAft>
            </a:pPr>
            <a:r>
              <a:rPr sz="1400" b="0">
                <a:solidFill>
                  <a:srgbClr val="161B26"/>
                </a:solidFill>
                <a:latin typeface="Arial"/>
              </a:rPr>
              <a:t>Microsoft Power Platform (PL-100 / PL-400), Azure and applied AI — 20+ years of training experience.</a:t>
            </a:r>
          </a:p>
        </p:txBody>
      </p:sp>
      <p:sp>
        <p:nvSpPr>
          <p:cNvPr id="19" name="Rectangle 18"/>
          <p:cNvSpPr/>
          <p:nvPr/>
        </p:nvSpPr>
        <p:spPr>
          <a:xfrm>
            <a:off x="4480560" y="402336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480560" y="4023360"/>
            <a:ext cx="91440" cy="9372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73168" y="4023360"/>
            <a:ext cx="6400800" cy="937260"/>
          </a:xfrm>
          <a:prstGeom prst="rect">
            <a:avLst/>
          </a:prstGeom>
          <a:noFill/>
        </p:spPr>
        <p:txBody>
          <a:bodyPr wrap="square" anchor="ctr">
            <a:spAutoFit/>
          </a:bodyPr>
          <a:lstStyle/>
          <a:p>
            <a:pPr algn="l">
              <a:spcAft>
                <a:spcPts val="300"/>
              </a:spcAft>
            </a:pPr>
            <a:r>
              <a:rPr sz="1100" b="1">
                <a:solidFill>
                  <a:srgbClr val="7C3AED"/>
                </a:solidFill>
                <a:latin typeface="Arial"/>
              </a:rPr>
              <a:t>DELIVERS</a:t>
            </a:r>
          </a:p>
          <a:p>
            <a:pPr algn="l">
              <a:spcAft>
                <a:spcPts val="300"/>
              </a:spcAft>
            </a:pPr>
            <a:r>
              <a:rPr sz="1400" b="0">
                <a:solidFill>
                  <a:srgbClr val="161B26"/>
                </a:solidFill>
                <a:latin typeface="Arial"/>
              </a:rPr>
              <a:t>WSQ courses on Power Platform, business automation, AI and data analytics.</a:t>
            </a:r>
          </a:p>
        </p:txBody>
      </p:sp>
      <p:sp>
        <p:nvSpPr>
          <p:cNvPr id="22" name="Rectangle 21"/>
          <p:cNvSpPr/>
          <p:nvPr/>
        </p:nvSpPr>
        <p:spPr>
          <a:xfrm>
            <a:off x="4480560" y="5143500"/>
            <a:ext cx="6949440" cy="9372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480560" y="5143500"/>
            <a:ext cx="91440" cy="9372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73168" y="5143500"/>
            <a:ext cx="6400800" cy="937260"/>
          </a:xfrm>
          <a:prstGeom prst="rect">
            <a:avLst/>
          </a:prstGeom>
          <a:noFill/>
        </p:spPr>
        <p:txBody>
          <a:bodyPr wrap="square" anchor="ctr">
            <a:spAutoFit/>
          </a:bodyPr>
          <a:lstStyle/>
          <a:p>
            <a:pPr algn="l">
              <a:spcAft>
                <a:spcPts val="300"/>
              </a:spcAft>
            </a:pPr>
            <a:r>
              <a:rPr sz="1100" b="1">
                <a:solidFill>
                  <a:srgbClr val="F59E0B"/>
                </a:solidFill>
                <a:latin typeface="Arial"/>
              </a:rPr>
              <a:t>FOUNDER</a:t>
            </a:r>
          </a:p>
          <a:p>
            <a:pPr algn="l">
              <a:spcAft>
                <a:spcPts val="300"/>
              </a:spcAft>
            </a:pPr>
            <a:r>
              <a:rPr sz="1400" b="0">
                <a:solidFill>
                  <a:srgbClr val="161B26"/>
                </a:solidFill>
                <a:latin typeface="Arial"/>
              </a:rPr>
              <a:t>Founder and lead instructor at Tertiary Infotech / Tertiary Courses.</a:t>
            </a:r>
          </a:p>
        </p:txBody>
      </p:sp>
      <p:sp>
        <p:nvSpPr>
          <p:cNvPr id="25" name="TextBox 2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6" name="TextBox 2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a:t>
            </a:r>
          </a:p>
        </p:txBody>
      </p:sp>
    </p:spTree>
  </p:cSld>
  <p:clrMapOvr>
    <a:masterClrMapping/>
  </p:clrMapOvr>
  <p:transition spd="fast"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ICE-BREAKER</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Let's Know Each Other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Who you are</a:t>
            </a:r>
          </a:p>
          <a:p>
            <a:pPr algn="l">
              <a:spcAft>
                <a:spcPts val="300"/>
              </a:spcAft>
            </a:pPr>
            <a:r>
              <a:rPr sz="1300" b="0">
                <a:solidFill>
                  <a:srgbClr val="5B6372"/>
                </a:solidFill>
                <a:latin typeface="Arial"/>
              </a:rPr>
              <a:t>Your name, organisation and role.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Your starting point</a:t>
            </a:r>
          </a:p>
          <a:p>
            <a:pPr algn="l">
              <a:spcAft>
                <a:spcPts val="300"/>
              </a:spcAft>
            </a:pPr>
            <a:r>
              <a:rPr sz="1300" b="0">
                <a:solidFill>
                  <a:srgbClr val="5B6372"/>
                </a:solidFill>
                <a:latin typeface="Arial"/>
              </a:rPr>
              <a:t>Your experience with Power Apps, Power Automate, Excel or any low-code tool.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The process you'd automate</a:t>
            </a:r>
          </a:p>
          <a:p>
            <a:pPr algn="l">
              <a:spcAft>
                <a:spcPts val="300"/>
              </a:spcAft>
            </a:pPr>
            <a:r>
              <a:rPr sz="1300" b="0">
                <a:solidFill>
                  <a:srgbClr val="5B6372"/>
                </a:solidFill>
                <a:latin typeface="Arial"/>
              </a:rPr>
              <a:t>One business process in your organisation you would most like to automate.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What you want to leave with</a:t>
            </a:r>
          </a:p>
          <a:p>
            <a:pPr algn="l">
              <a:spcAft>
                <a:spcPts val="300"/>
              </a:spcAft>
            </a:pPr>
            <a:r>
              <a:rPr sz="1300" b="0">
                <a:solidFill>
                  <a:srgbClr val="5B6372"/>
                </a:solidFill>
                <a:latin typeface="Arial"/>
              </a:rPr>
              <a:t>What you want to walk out of this 4-day course able to build.</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a:t>
            </a:r>
          </a:p>
        </p:txBody>
      </p:sp>
    </p:spTree>
  </p:cSld>
  <p:clrMapOvr>
    <a:masterClrMapping/>
  </p:clrMapOvr>
  <p:transition spd="fast"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HOUSEKEEPING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Ground Rules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Set your mobile phone to silent mode.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874520"/>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Participate actively — no question is too small.</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Respect each other's views; agree to disagree.</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10712"/>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One conversation at a time.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Exit quietly for a call or a break, and return on time.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46904"/>
            <a:ext cx="3973068" cy="1152144"/>
          </a:xfrm>
          <a:prstGeom prst="rect">
            <a:avLst/>
          </a:prstGeom>
          <a:noFill/>
        </p:spPr>
        <p:txBody>
          <a:bodyPr wrap="square" anchor="ctr">
            <a:spAutoFit/>
          </a:bodyPr>
          <a:lstStyle/>
          <a:p>
            <a:pPr algn="l">
              <a:spcAft>
                <a:spcPts val="400"/>
              </a:spcAft>
            </a:pPr>
            <a:r>
              <a:rPr sz="1500" b="0">
                <a:solidFill>
                  <a:srgbClr val="161B26"/>
                </a:solidFill>
                <a:latin typeface="Arial"/>
              </a:rPr>
              <a:t>75% attendance is required for funding.</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a:t>
            </a:r>
          </a:p>
        </p:txBody>
      </p:sp>
    </p:spTree>
  </p:cSld>
  <p:clrMapOvr>
    <a:masterClrMapping/>
  </p:clrMapOvr>
  <p:transition spd="fast"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LMS / TMS  ·  lms-tms.tertiaryinfotech.com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Download Your Course Material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1 · Go to the LMS portal</a:t>
            </a:r>
          </a:p>
          <a:p>
            <a:pPr algn="l">
              <a:spcAft>
                <a:spcPts val="300"/>
              </a:spcAft>
            </a:pPr>
            <a:r>
              <a:rPr sz="1200" b="0">
                <a:solidFill>
                  <a:srgbClr val="5B6372"/>
                </a:solidFill>
                <a:latin typeface="Arial"/>
              </a:rPr>
              <a:t>Open https://lms-tms.tertiaryinfotech.com in your browser.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2 · Log in</a:t>
            </a:r>
          </a:p>
          <a:p>
            <a:pPr algn="l">
              <a:spcAft>
                <a:spcPts val="300"/>
              </a:spcAft>
            </a:pPr>
            <a:r>
              <a:rPr sz="1200" b="0">
                <a:solidFill>
                  <a:srgbClr val="5B6372"/>
                </a:solidFill>
                <a:latin typeface="Arial"/>
              </a:rPr>
              <a:t>Sign in with the account e-mail you used to register for this course.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3 · Open this course</a:t>
            </a:r>
          </a:p>
          <a:p>
            <a:pPr algn="l">
              <a:spcAft>
                <a:spcPts val="300"/>
              </a:spcAft>
            </a:pPr>
            <a:r>
              <a:rPr sz="1200" b="0">
                <a:solidFill>
                  <a:srgbClr val="5B6372"/>
                </a:solidFill>
                <a:latin typeface="Arial"/>
              </a:rPr>
              <a:t>Select 'Create Intelligent Power Apps and Power Automate Workflows with Copilot'.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4 · Download</a:t>
            </a:r>
          </a:p>
          <a:p>
            <a:pPr algn="l">
              <a:spcAft>
                <a:spcPts val="300"/>
              </a:spcAft>
            </a:pPr>
            <a:r>
              <a:rPr sz="1200" b="0">
                <a:solidFill>
                  <a:srgbClr val="5B6372"/>
                </a:solidFill>
                <a:latin typeface="Arial"/>
              </a:rPr>
              <a:t>Download the Trainer Slides, Learner Guide and Lesson Plan (PDF).</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5 · Get the labs</a:t>
            </a:r>
          </a:p>
          <a:p>
            <a:pPr algn="l">
              <a:spcAft>
                <a:spcPts val="300"/>
              </a:spcAft>
            </a:pPr>
            <a:r>
              <a:rPr sz="1200" b="0">
                <a:solidFill>
                  <a:srgbClr val="5B6372"/>
                </a:solidFill>
                <a:latin typeface="Arial"/>
              </a:rPr>
              <a:t>Open the labs folder — 26 labs, each with its own step-by-step guide and mock data.</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6 · Keep them open</a:t>
            </a:r>
          </a:p>
          <a:p>
            <a:pPr algn="l">
              <a:spcAft>
                <a:spcPts val="300"/>
              </a:spcAft>
            </a:pPr>
            <a:r>
              <a:rPr sz="1200" b="0">
                <a:solidFill>
                  <a:srgbClr val="5B6372"/>
                </a:solidFill>
                <a:latin typeface="Arial"/>
              </a:rPr>
              <a:t>You may use these materials during the open-book assessment.</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a:t>
            </a:r>
          </a:p>
        </p:txBody>
      </p:sp>
    </p:spTree>
  </p:cSld>
  <p:clrMapOvr>
    <a:masterClrMapping/>
  </p:clrMapOvr>
  <p:transition spd="fast"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COURSE ENVIRONMENT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Your Training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Microsoft 365 account</a:t>
            </a:r>
          </a:p>
          <a:p>
            <a:pPr algn="l">
              <a:spcAft>
                <a:spcPts val="300"/>
              </a:spcAft>
            </a:pPr>
            <a:r>
              <a:rPr sz="1200" b="0">
                <a:solidFill>
                  <a:srgbClr val="5B6372"/>
                </a:solidFill>
                <a:latin typeface="Arial"/>
              </a:rPr>
              <a:t>The trainer assigns you a training account — use the same login for every lab.</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One environment</a:t>
            </a:r>
          </a:p>
          <a:p>
            <a:pPr algn="l">
              <a:spcAft>
                <a:spcPts val="300"/>
              </a:spcAft>
            </a:pPr>
            <a:r>
              <a:rPr sz="1200" b="0">
                <a:solidFill>
                  <a:srgbClr val="5B6372"/>
                </a:solidFill>
                <a:latin typeface="Arial"/>
              </a:rPr>
              <a:t>Stay in the environment the trainer names (e.g. Dev One). Flows, apps and agents must share it.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Apps</a:t>
            </a:r>
          </a:p>
          <a:p>
            <a:pPr algn="l">
              <a:spcAft>
                <a:spcPts val="300"/>
              </a:spcAft>
            </a:pPr>
            <a:r>
              <a:rPr sz="1200" b="0">
                <a:solidFill>
                  <a:srgbClr val="5B6372"/>
                </a:solidFill>
                <a:latin typeface="Arial"/>
              </a:rPr>
              <a:t>make.powerapps.com — canvas apps, model-driven apps, Dataverse tables.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Automate</a:t>
            </a:r>
          </a:p>
          <a:p>
            <a:pPr algn="l">
              <a:spcAft>
                <a:spcPts val="300"/>
              </a:spcAft>
            </a:pPr>
            <a:r>
              <a:rPr sz="1200" b="0">
                <a:solidFill>
                  <a:srgbClr val="5B6372"/>
                </a:solidFill>
                <a:latin typeface="Arial"/>
              </a:rPr>
              <a:t>make.powerautomate.com — cloud flows, approvals, run history.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Copilot Studio</a:t>
            </a:r>
          </a:p>
          <a:p>
            <a:pPr algn="l">
              <a:spcAft>
                <a:spcPts val="300"/>
              </a:spcAft>
            </a:pPr>
            <a:r>
              <a:rPr sz="1200" b="0">
                <a:solidFill>
                  <a:srgbClr val="5B6372"/>
                </a:solidFill>
                <a:latin typeface="Arial"/>
              </a:rPr>
              <a:t>copilotstudio.microsoft.com — agents, agent flows, knowledge and tools.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Do not change passwords</a:t>
            </a:r>
          </a:p>
          <a:p>
            <a:pPr algn="l">
              <a:spcAft>
                <a:spcPts val="300"/>
              </a:spcAft>
            </a:pPr>
            <a:r>
              <a:rPr sz="1200" b="0">
                <a:solidFill>
                  <a:srgbClr val="5B6372"/>
                </a:solidFill>
                <a:latin typeface="Arial"/>
              </a:rPr>
              <a:t>These are shared training accounts. Leave the credentials as issued.</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a:t>
            </a:r>
          </a:p>
        </p:txBody>
      </p:sp>
    </p:spTree>
  </p:cSld>
  <p:clrMapOvr>
    <a:masterClrMapping/>
  </p:clrMapOvr>
  <p:transition spd="fast"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SKILLS FRAMEWORK  ·  TSC</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Skills Framework Alignment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Title</a:t>
            </a:r>
          </a:p>
          <a:p>
            <a:pPr algn="l">
              <a:spcAft>
                <a:spcPts val="300"/>
              </a:spcAft>
            </a:pPr>
            <a:r>
              <a:rPr sz="1200" b="0">
                <a:solidFill>
                  <a:srgbClr val="5B6372"/>
                </a:solidFill>
                <a:latin typeface="Arial"/>
              </a:rPr>
              <a:t>Applications Integration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TSC Code</a:t>
            </a:r>
          </a:p>
          <a:p>
            <a:pPr algn="l">
              <a:spcAft>
                <a:spcPts val="300"/>
              </a:spcAft>
            </a:pPr>
            <a:r>
              <a:rPr sz="1200" b="0">
                <a:solidFill>
                  <a:srgbClr val="5B6372"/>
                </a:solidFill>
                <a:latin typeface="Arial"/>
              </a:rPr>
              <a:t>ICT-DIT-3003-1.1</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A1 / A2</a:t>
            </a:r>
          </a:p>
          <a:p>
            <a:pPr algn="l">
              <a:spcAft>
                <a:spcPts val="300"/>
              </a:spcAft>
            </a:pPr>
            <a:r>
              <a:rPr sz="1200" b="0">
                <a:solidFill>
                  <a:srgbClr val="5B6372"/>
                </a:solidFill>
                <a:latin typeface="Arial"/>
              </a:rPr>
              <a:t>Identify integration opportunities across devices, databases and applications; perform feasibility scans.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A3 / A4</a:t>
            </a:r>
          </a:p>
          <a:p>
            <a:pPr algn="l">
              <a:spcAft>
                <a:spcPts val="300"/>
              </a:spcAft>
            </a:pPr>
            <a:r>
              <a:rPr sz="1200" b="0">
                <a:solidFill>
                  <a:srgbClr val="5B6372"/>
                </a:solidFill>
                <a:latin typeface="Arial"/>
              </a:rPr>
              <a:t>Utilise middleware to integrate data and functions across programs; support API-level integration.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A5 / A6</a:t>
            </a:r>
          </a:p>
          <a:p>
            <a:pPr algn="l">
              <a:spcAft>
                <a:spcPts val="300"/>
              </a:spcAft>
            </a:pPr>
            <a:r>
              <a:rPr sz="1200" b="0">
                <a:solidFill>
                  <a:srgbClr val="5B6372"/>
                </a:solidFill>
                <a:latin typeface="Arial"/>
              </a:rPr>
              <a:t>Perform tests and checks on connections; verify modules function across integrated platforms.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A7 / A8</a:t>
            </a:r>
          </a:p>
          <a:p>
            <a:pPr algn="l">
              <a:spcAft>
                <a:spcPts val="300"/>
              </a:spcAft>
            </a:pPr>
            <a:r>
              <a:rPr sz="1200" b="0">
                <a:solidFill>
                  <a:srgbClr val="5B6372"/>
                </a:solidFill>
                <a:latin typeface="Arial"/>
              </a:rPr>
              <a:t>Highlight technical, compatibility and performance issues; implement modifications to middleware.</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a:t>
            </a:r>
          </a:p>
        </p:txBody>
      </p:sp>
    </p:spTree>
  </p:cSld>
  <p:clrMapOvr>
    <a:masterClrMapping/>
  </p:clrMapOvr>
  <p:transition spd="fast"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ACHIEVE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Learning Outcomes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LO1 · Identify &amp; scan</a:t>
            </a:r>
          </a:p>
          <a:p>
            <a:pPr algn="l">
              <a:spcAft>
                <a:spcPts val="300"/>
              </a:spcAft>
            </a:pPr>
            <a:r>
              <a:rPr sz="1300" b="0">
                <a:solidFill>
                  <a:srgbClr val="5B6372"/>
                </a:solidFill>
                <a:latin typeface="Arial"/>
              </a:rPr>
              <a:t>Identify opportunities for creating connections in Microsoft Power Platform and perform feasibility scans.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LO2 · Integrate with Power Apps</a:t>
            </a:r>
          </a:p>
          <a:p>
            <a:pPr algn="l">
              <a:spcAft>
                <a:spcPts val="300"/>
              </a:spcAft>
            </a:pPr>
            <a:r>
              <a:rPr sz="1300" b="0">
                <a:solidFill>
                  <a:srgbClr val="5B6372"/>
                </a:solidFill>
                <a:latin typeface="Arial"/>
              </a:rPr>
              <a:t>Utilise Power Apps to integrate data and functions across programs and API-level integration.</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LO3 · Test with Power Automate</a:t>
            </a:r>
          </a:p>
          <a:p>
            <a:pPr algn="l">
              <a:spcAft>
                <a:spcPts val="300"/>
              </a:spcAft>
            </a:pPr>
            <a:r>
              <a:rPr sz="1300" b="0">
                <a:solidFill>
                  <a:srgbClr val="5B6372"/>
                </a:solidFill>
                <a:latin typeface="Arial"/>
              </a:rPr>
              <a:t>Execute tests in Power Automate to verify connections between disparate programs across platforms.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LO4 · Resolve &amp; modify</a:t>
            </a:r>
          </a:p>
          <a:p>
            <a:pPr algn="l">
              <a:spcAft>
                <a:spcPts val="300"/>
              </a:spcAft>
            </a:pPr>
            <a:r>
              <a:rPr sz="1300" b="0">
                <a:solidFill>
                  <a:srgbClr val="5B6372"/>
                </a:solidFill>
                <a:latin typeface="Arial"/>
              </a:rPr>
              <a:t>Resolve technical issues in Power Platform and implement modifications to Power Platform middleware.</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a:t>
            </a:r>
          </a:p>
        </p:txBody>
      </p:sp>
    </p:spTree>
  </p:cSld>
  <p:clrMapOvr>
    <a:masterClrMapping/>
  </p:clrMapOvr>
  <p:transition spd="fast"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19 TOPICS · 26 HANDS-ON LABS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Course Outline — Four Learning Units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LU1 — Get Started with Copilot for Power Platform</a:t>
            </a:r>
          </a:p>
          <a:p>
            <a:pPr algn="l">
              <a:spcAft>
                <a:spcPts val="300"/>
              </a:spcAft>
            </a:pPr>
            <a:r>
              <a:rPr sz="1200" b="0">
                <a:solidFill>
                  <a:srgbClr val="5B6372"/>
                </a:solidFill>
                <a:latin typeface="Arial"/>
              </a:rPr>
              <a:t>Topics 1–4 · Copilot in Power Apps, Power Automate and Power Pages · Labs 1–4.</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LU2 — Create and Manage Canvas Apps</a:t>
            </a:r>
          </a:p>
          <a:p>
            <a:pPr algn="l">
              <a:spcAft>
                <a:spcPts val="300"/>
              </a:spcAft>
            </a:pPr>
            <a:r>
              <a:rPr sz="1200" b="0">
                <a:solidFill>
                  <a:srgbClr val="5B6372"/>
                </a:solidFill>
                <a:latin typeface="Arial"/>
              </a:rPr>
              <a:t>Topics 5–10 · data, formulas, UI, external data, forms, publishing, PCF · Labs 5–12.</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LU3 — Automated Processes with Power Automate &amp; Copilot Studio Agents</a:t>
            </a:r>
          </a:p>
          <a:p>
            <a:pPr algn="l">
              <a:spcAft>
                <a:spcPts val="300"/>
              </a:spcAft>
            </a:pPr>
            <a:r>
              <a:rPr sz="1200" b="0">
                <a:solidFill>
                  <a:srgbClr val="5B6372"/>
                </a:solidFill>
                <a:latin typeface="Arial"/>
              </a:rPr>
              <a:t>Topics 11–14 · flows, approvals, filters, agents, tools, structured output · Labs 13–20.</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LU4 — Model-Driven Apps with Power Apps and Dataverse</a:t>
            </a:r>
          </a:p>
          <a:p>
            <a:pPr algn="l">
              <a:spcAft>
                <a:spcPts val="300"/>
              </a:spcAft>
            </a:pPr>
            <a:r>
              <a:rPr sz="1200" b="0">
                <a:solidFill>
                  <a:srgbClr val="5B6372"/>
                </a:solidFill>
                <a:latin typeface="Arial"/>
              </a:rPr>
              <a:t>Topics 15–19 · tables, forms, views, charts, solutions, troubleshooting · Labs 21–26.</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a:t>
            </a:r>
          </a:p>
        </p:txBody>
      </p:sp>
    </p:spTree>
  </p:cSld>
  <p:clrMapOvr>
    <a:masterClrMapping/>
  </p:clrMapOvr>
  <p:transition spd="fast"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 – 6:30pm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Days 1 &amp; 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1</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2</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1 — Copilot for Power Platform &amp; First Canvas Apps</a:t>
            </a:r>
          </a:p>
          <a:p>
            <a:pPr>
              <a:spcAft>
                <a:spcPts val="1000"/>
              </a:spcAft>
            </a:pPr>
            <a:r>
              <a:rPr sz="1400" b="0">
                <a:solidFill>
                  <a:srgbClr val="5B6372"/>
                </a:solidFill>
                <a:latin typeface="Arial"/>
              </a:rPr>
              <a:t>–  Digital Attendance (AM) · Introductions · Learning Outcomes</a:t>
            </a:r>
          </a:p>
          <a:p>
            <a:pPr>
              <a:spcAft>
                <a:spcPts val="1000"/>
              </a:spcAft>
            </a:pPr>
            <a:r>
              <a:rPr sz="1400" b="0">
                <a:solidFill>
                  <a:srgbClr val="5B6372"/>
                </a:solidFill>
                <a:latin typeface="Arial"/>
              </a:rPr>
              <a:t>–  LU1 Topics 1–4: Copilot across Power Platform</a:t>
            </a:r>
          </a:p>
          <a:p>
            <a:pPr>
              <a:spcAft>
                <a:spcPts val="1000"/>
              </a:spcAft>
            </a:pPr>
            <a:r>
              <a:rPr sz="1400" b="0">
                <a:solidFill>
                  <a:srgbClr val="5B6372"/>
                </a:solidFill>
                <a:latin typeface="Arial"/>
              </a:rPr>
              <a:t>–  Labs 1–4: environment scan, Copilot app, Copilot flow, Power Pages</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LU2 Topics 5–6: canvas apps and the Dataverse data model</a:t>
            </a:r>
          </a:p>
          <a:p>
            <a:pPr>
              <a:spcAft>
                <a:spcPts val="1000"/>
              </a:spcAft>
            </a:pPr>
            <a:r>
              <a:rPr sz="1400" b="0">
                <a:solidFill>
                  <a:srgbClr val="5B6372"/>
                </a:solidFill>
                <a:latin typeface="Arial"/>
              </a:rPr>
              <a:t>–  Labs 5–7: Excel app, Dataverse tables, canvas app over Dataverse</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2 — Canvas Apps: UI, External Data, Forms &amp; Publishing</a:t>
            </a:r>
          </a:p>
          <a:p>
            <a:pPr>
              <a:spcAft>
                <a:spcPts val="1000"/>
              </a:spcAft>
            </a:pPr>
            <a:r>
              <a:rPr sz="1400" b="0">
                <a:solidFill>
                  <a:srgbClr val="5B6372"/>
                </a:solidFill>
                <a:latin typeface="Arial"/>
              </a:rPr>
              <a:t>–  Digital Attendance (AM) · Day 1 recap</a:t>
            </a:r>
          </a:p>
          <a:p>
            <a:pPr>
              <a:spcAft>
                <a:spcPts val="1000"/>
              </a:spcAft>
            </a:pPr>
            <a:r>
              <a:rPr sz="1400" b="0">
                <a:solidFill>
                  <a:srgbClr val="5B6372"/>
                </a:solidFill>
                <a:latin typeface="Arial"/>
              </a:rPr>
              <a:t>–  LU2 Topics 7–8: building the UI and working with external data</a:t>
            </a:r>
          </a:p>
          <a:p>
            <a:pPr>
              <a:spcAft>
                <a:spcPts val="1000"/>
              </a:spcAft>
            </a:pPr>
            <a:r>
              <a:rPr sz="1400" b="0">
                <a:solidFill>
                  <a:srgbClr val="5B6372"/>
                </a:solidFill>
                <a:latin typeface="Arial"/>
              </a:rPr>
              <a:t>–  Labs 8–9: theming and branding, SharePoint + collections + Patch</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LU2 Topics 9–10: writing data with forms, publish and maintain</a:t>
            </a:r>
          </a:p>
          <a:p>
            <a:pPr>
              <a:spcAft>
                <a:spcPts val="1000"/>
              </a:spcAft>
            </a:pPr>
            <a:r>
              <a:rPr sz="1400" b="0">
                <a:solidFill>
                  <a:srgbClr val="5B6372"/>
                </a:solidFill>
                <a:latin typeface="Arial"/>
              </a:rPr>
              <a:t>–  Labs 10–12: forms, PCF code component, publish and share</a:t>
            </a:r>
          </a:p>
        </p:txBody>
      </p:sp>
      <p:sp>
        <p:nvSpPr>
          <p:cNvPr id="13" name="TextBox 1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4" name="TextBox 1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a:t>
            </a:r>
          </a:p>
        </p:txBody>
      </p:sp>
    </p:spTree>
  </p:cSld>
  <p:clrMapOvr>
    <a:masterClrMapping/>
  </p:clrMapOvr>
  <p:transition spd="fast"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SCHEDULE  ·  9:30am – 6:30pm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Lesson Plan — Days 3 &amp; 4</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21208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355080" y="1783080"/>
            <a:ext cx="507492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1965960"/>
            <a:ext cx="4754880" cy="365760"/>
          </a:xfrm>
          <a:prstGeom prst="rect">
            <a:avLst/>
          </a:prstGeom>
          <a:noFill/>
        </p:spPr>
        <p:txBody>
          <a:bodyPr wrap="square" anchor="t">
            <a:spAutoFit/>
          </a:bodyPr>
          <a:lstStyle/>
          <a:p>
            <a:pPr algn="l">
              <a:spcAft>
                <a:spcPts val="400"/>
              </a:spcAft>
            </a:pPr>
            <a:r>
              <a:rPr sz="1600" b="1">
                <a:solidFill>
                  <a:srgbClr val="1F6FEB"/>
                </a:solidFill>
                <a:latin typeface="Arial"/>
              </a:rPr>
              <a:t>Day 3</a:t>
            </a:r>
          </a:p>
        </p:txBody>
      </p:sp>
      <p:sp>
        <p:nvSpPr>
          <p:cNvPr id="10" name="TextBox 9"/>
          <p:cNvSpPr txBox="1"/>
          <p:nvPr/>
        </p:nvSpPr>
        <p:spPr>
          <a:xfrm>
            <a:off x="6583680" y="1965960"/>
            <a:ext cx="4572000" cy="365760"/>
          </a:xfrm>
          <a:prstGeom prst="rect">
            <a:avLst/>
          </a:prstGeom>
          <a:noFill/>
        </p:spPr>
        <p:txBody>
          <a:bodyPr wrap="square" anchor="t">
            <a:spAutoFit/>
          </a:bodyPr>
          <a:lstStyle/>
          <a:p>
            <a:pPr algn="l">
              <a:spcAft>
                <a:spcPts val="400"/>
              </a:spcAft>
            </a:pPr>
            <a:r>
              <a:rPr sz="1600" b="1">
                <a:solidFill>
                  <a:srgbClr val="10B981"/>
                </a:solidFill>
                <a:latin typeface="Arial"/>
              </a:rPr>
              <a:t>Day 4</a:t>
            </a:r>
          </a:p>
        </p:txBody>
      </p:sp>
      <p:sp>
        <p:nvSpPr>
          <p:cNvPr id="11" name="TextBox 10"/>
          <p:cNvSpPr txBox="1"/>
          <p:nvPr/>
        </p:nvSpPr>
        <p:spPr>
          <a:xfrm>
            <a:off x="1005840" y="2468880"/>
            <a:ext cx="4754880" cy="3474720"/>
          </a:xfrm>
          <a:prstGeom prst="rect">
            <a:avLst/>
          </a:prstGeom>
          <a:noFill/>
        </p:spPr>
        <p:txBody>
          <a:bodyPr wrap="square">
            <a:spAutoFit/>
          </a:bodyPr>
          <a:lstStyle/>
          <a:p>
            <a:pPr>
              <a:spcAft>
                <a:spcPts val="1000"/>
              </a:spcAft>
            </a:pPr>
            <a:r>
              <a:rPr sz="1600" b="0">
                <a:solidFill>
                  <a:srgbClr val="161B26"/>
                </a:solidFill>
                <a:latin typeface="Arial"/>
              </a:rPr>
              <a:t>•  Day 3 — Power Automate Flows &amp; Copilot Studio Agents</a:t>
            </a:r>
          </a:p>
          <a:p>
            <a:pPr>
              <a:spcAft>
                <a:spcPts val="1000"/>
              </a:spcAft>
            </a:pPr>
            <a:r>
              <a:rPr sz="1400" b="0">
                <a:solidFill>
                  <a:srgbClr val="5B6372"/>
                </a:solidFill>
                <a:latin typeface="Arial"/>
              </a:rPr>
              <a:t>–  Digital Attendance (AM) · Day 2 recap</a:t>
            </a:r>
          </a:p>
          <a:p>
            <a:pPr>
              <a:spcAft>
                <a:spcPts val="1000"/>
              </a:spcAft>
            </a:pPr>
            <a:r>
              <a:rPr sz="1400" b="0">
                <a:solidFill>
                  <a:srgbClr val="5B6372"/>
                </a:solidFill>
                <a:latin typeface="Arial"/>
              </a:rPr>
              <a:t>–  LU3 Topics 11–12: flow anatomy, triggers, actions, approvals</a:t>
            </a:r>
          </a:p>
          <a:p>
            <a:pPr>
              <a:spcAft>
                <a:spcPts val="1000"/>
              </a:spcAft>
            </a:pPr>
            <a:r>
              <a:rPr sz="1400" b="0">
                <a:solidFill>
                  <a:srgbClr val="5B6372"/>
                </a:solidFill>
                <a:latin typeface="Arial"/>
              </a:rPr>
              <a:t>–  Labs 13–15: three ways to build a flow, approvals, button &amp; scheduled</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LU3 Topics 13–14: trigger filters, Copilot Studio agents</a:t>
            </a:r>
          </a:p>
          <a:p>
            <a:pPr>
              <a:spcAft>
                <a:spcPts val="1000"/>
              </a:spcAft>
            </a:pPr>
            <a:r>
              <a:rPr sz="1400" b="0">
                <a:solidFill>
                  <a:srgbClr val="5B6372"/>
                </a:solidFill>
                <a:latin typeface="Arial"/>
              </a:rPr>
              <a:t>–  Labs 16–20: filters, agents, tools, structured output, multi-agent</a:t>
            </a:r>
          </a:p>
        </p:txBody>
      </p:sp>
      <p:sp>
        <p:nvSpPr>
          <p:cNvPr id="12" name="TextBox 11"/>
          <p:cNvSpPr txBox="1"/>
          <p:nvPr/>
        </p:nvSpPr>
        <p:spPr>
          <a:xfrm>
            <a:off x="6583680" y="2468880"/>
            <a:ext cx="4617720" cy="3474720"/>
          </a:xfrm>
          <a:prstGeom prst="rect">
            <a:avLst/>
          </a:prstGeom>
          <a:noFill/>
        </p:spPr>
        <p:txBody>
          <a:bodyPr wrap="square">
            <a:spAutoFit/>
          </a:bodyPr>
          <a:lstStyle/>
          <a:p>
            <a:pPr>
              <a:spcAft>
                <a:spcPts val="1000"/>
              </a:spcAft>
            </a:pPr>
            <a:r>
              <a:rPr sz="1600" b="0">
                <a:solidFill>
                  <a:srgbClr val="161B26"/>
                </a:solidFill>
                <a:latin typeface="Arial"/>
              </a:rPr>
              <a:t>•  Day 4 — Model-Driven Apps, Dataverse, Solutions &amp; Assessment</a:t>
            </a:r>
          </a:p>
          <a:p>
            <a:pPr>
              <a:spcAft>
                <a:spcPts val="1000"/>
              </a:spcAft>
            </a:pPr>
            <a:r>
              <a:rPr sz="1400" b="0">
                <a:solidFill>
                  <a:srgbClr val="5B6372"/>
                </a:solidFill>
                <a:latin typeface="Arial"/>
              </a:rPr>
              <a:t>–  Digital Attendance (AM) · Day 3 recap</a:t>
            </a:r>
          </a:p>
          <a:p>
            <a:pPr>
              <a:spcAft>
                <a:spcPts val="1000"/>
              </a:spcAft>
            </a:pPr>
            <a:r>
              <a:rPr sz="1400" b="0">
                <a:solidFill>
                  <a:srgbClr val="5B6372"/>
                </a:solidFill>
                <a:latin typeface="Arial"/>
              </a:rPr>
              <a:t>–  LU4 Topics 15–17: Dataverse tables, model-driven apps, forms &amp; views</a:t>
            </a:r>
          </a:p>
          <a:p>
            <a:pPr>
              <a:spcAft>
                <a:spcPts val="1000"/>
              </a:spcAft>
            </a:pPr>
            <a:r>
              <a:rPr sz="1400" b="0">
                <a:solidFill>
                  <a:srgbClr val="5B6372"/>
                </a:solidFill>
                <a:latin typeface="Arial"/>
              </a:rPr>
              <a:t>–  Labs 21–24: tables, model-driven app, forms/views, charts</a:t>
            </a:r>
          </a:p>
          <a:p>
            <a:pPr>
              <a:spcAft>
                <a:spcPts val="1000"/>
              </a:spcAft>
            </a:pPr>
            <a:r>
              <a:rPr sz="1400" b="0">
                <a:solidFill>
                  <a:srgbClr val="5B6372"/>
                </a:solidFill>
                <a:latin typeface="Arial"/>
              </a:rPr>
              <a:t>–  Lunch Break · Digital Attendance (PM)</a:t>
            </a:r>
          </a:p>
          <a:p>
            <a:pPr>
              <a:spcAft>
                <a:spcPts val="1000"/>
              </a:spcAft>
            </a:pPr>
            <a:r>
              <a:rPr sz="1400" b="0">
                <a:solidFill>
                  <a:srgbClr val="5B6372"/>
                </a:solidFill>
                <a:latin typeface="Arial"/>
              </a:rPr>
              <a:t>–  LU4 Topics 18–19: solutions, ALM and troubleshooting · Labs 25–26</a:t>
            </a:r>
          </a:p>
          <a:p>
            <a:pPr>
              <a:spcAft>
                <a:spcPts val="1000"/>
              </a:spcAft>
            </a:pPr>
            <a:r>
              <a:rPr sz="1400" b="0">
                <a:solidFill>
                  <a:srgbClr val="5B6372"/>
                </a:solidFill>
                <a:latin typeface="Arial"/>
              </a:rPr>
              <a:t>–  Briefing · Digital Attendance (Assessment) · WA + PP · TRAQOM</a:t>
            </a:r>
          </a:p>
        </p:txBody>
      </p:sp>
      <p:sp>
        <p:nvSpPr>
          <p:cNvPr id="13" name="TextBox 1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4" name="TextBox 1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5" name="TextBox 1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a:t>
            </a:r>
          </a:p>
        </p:txBody>
      </p:sp>
    </p:spTree>
  </p:cSld>
  <p:clrMapOvr>
    <a:masterClrMapping/>
  </p:clrMapOvr>
  <p:transition spd="fast"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 Started with Copilot for Microsoft Power Platform</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Topics 1–4 · Labs 1–4</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a:t>
            </a:r>
          </a:p>
        </p:txBody>
      </p:sp>
    </p:spTree>
  </p:cSld>
  <p:clrMapOvr>
    <a:masterClrMapping/>
  </p:clrMapOvr>
  <p:transition spd="fast"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CORE CONCEPTS</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The Power Platform, and What Copilot Changes</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 name="TextBox 8"/>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a:t>
            </a:r>
          </a:p>
        </p:txBody>
      </p:sp>
    </p:spTree>
  </p:cSld>
  <p:clrMapOvr>
    <a:masterClrMapping/>
  </p:clrMapOvr>
  <p:transition spd="med" advClick="1">
    <p:push dir="l"/>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CORE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Business Process Automation Removes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Form filled in</a:t>
            </a:r>
          </a:p>
        </p:txBody>
      </p:sp>
      <p:sp>
        <p:nvSpPr>
          <p:cNvPr id="12" name="TextBox 11"/>
          <p:cNvSpPr txBox="1"/>
          <p:nvPr/>
        </p:nvSpPr>
        <p:spPr>
          <a:xfrm>
            <a:off x="85039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a person types it</a:t>
            </a:r>
          </a:p>
        </p:txBody>
      </p:sp>
      <p:cxnSp>
        <p:nvCxnSpPr>
          <p:cNvPr id="13" name="Connector 12"/>
          <p:cNvCxnSpPr/>
          <p:nvPr/>
        </p:nvCxnSpPr>
        <p:spPr>
          <a:xfrm>
            <a:off x="320268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Someone reads it</a:t>
            </a:r>
          </a:p>
        </p:txBody>
      </p:sp>
      <p:sp>
        <p:nvSpPr>
          <p:cNvPr id="19" name="TextBox 18"/>
          <p:cNvSpPr txBox="1"/>
          <p:nvPr/>
        </p:nvSpPr>
        <p:spPr>
          <a:xfrm>
            <a:off x="360502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and re-keys the data</a:t>
            </a:r>
          </a:p>
        </p:txBody>
      </p:sp>
      <p:cxnSp>
        <p:nvCxnSpPr>
          <p:cNvPr id="20" name="Connector 19"/>
          <p:cNvCxnSpPr/>
          <p:nvPr/>
        </p:nvCxnSpPr>
        <p:spPr>
          <a:xfrm>
            <a:off x="595731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Re-typed into Excel</a:t>
            </a:r>
          </a:p>
        </p:txBody>
      </p:sp>
      <p:sp>
        <p:nvSpPr>
          <p:cNvPr id="26" name="TextBox 25"/>
          <p:cNvSpPr txBox="1"/>
          <p:nvPr/>
        </p:nvSpPr>
        <p:spPr>
          <a:xfrm>
            <a:off x="635965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the second copy</a:t>
            </a:r>
          </a:p>
        </p:txBody>
      </p:sp>
      <p:cxnSp>
        <p:nvCxnSpPr>
          <p:cNvPr id="27" name="Connector 26"/>
          <p:cNvCxnSpPr/>
          <p:nvPr/>
        </p:nvCxnSpPr>
        <p:spPr>
          <a:xfrm>
            <a:off x="8711946" y="3223260"/>
            <a:ext cx="274320" cy="0"/>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Someone remembers</a:t>
            </a:r>
          </a:p>
        </p:txBody>
      </p:sp>
      <p:sp>
        <p:nvSpPr>
          <p:cNvPr id="33" name="TextBox 32"/>
          <p:cNvSpPr txBox="1"/>
          <p:nvPr/>
        </p:nvSpPr>
        <p:spPr>
          <a:xfrm>
            <a:off x="911428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to reply — or forgets</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F59E0B"/>
                </a:solidFill>
                <a:latin typeface="Arial"/>
              </a:rPr>
              <a:t>THE HAND-OFF IS THE COST</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Automation is not software doing the same work faster. It removes the hand-off where a person re-types what another system already knows.</a:t>
            </a:r>
          </a:p>
        </p:txBody>
      </p:sp>
      <p:sp>
        <p:nvSpPr>
          <p:cNvPr id="75" name="TextBox 7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76" name="TextBox 7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CORE CONCEPT · THE PLATFORM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Power Platform — Four Products, One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Apps</a:t>
            </a:r>
          </a:p>
          <a:p>
            <a:pPr algn="l">
              <a:spcAft>
                <a:spcPts val="300"/>
              </a:spcAft>
            </a:pPr>
            <a:r>
              <a:rPr sz="1200" b="0">
                <a:solidFill>
                  <a:srgbClr val="5B6372"/>
                </a:solidFill>
                <a:latin typeface="Arial"/>
              </a:rPr>
              <a:t>Canvas and model-driven applications over your data. Labs 2, 5–12, 21–24.</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Automate</a:t>
            </a:r>
          </a:p>
          <a:p>
            <a:pPr algn="l">
              <a:spcAft>
                <a:spcPts val="300"/>
              </a:spcAft>
            </a:pPr>
            <a:r>
              <a:rPr sz="1200" b="0">
                <a:solidFill>
                  <a:srgbClr val="5B6372"/>
                </a:solidFill>
                <a:latin typeface="Arial"/>
              </a:rPr>
              <a:t>Cloud flows: triggers and actions that run without a person. Labs 3, 13–16.</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Copilot Studio</a:t>
            </a:r>
          </a:p>
          <a:p>
            <a:pPr algn="l">
              <a:spcAft>
                <a:spcPts val="300"/>
              </a:spcAft>
            </a:pPr>
            <a:r>
              <a:rPr sz="1200" b="0">
                <a:solidFill>
                  <a:srgbClr val="5B6372"/>
                </a:solidFill>
                <a:latin typeface="Arial"/>
              </a:rPr>
              <a:t>Conversational agents with instructions, knowledge and tools. Labs 17–20.</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Power Pages</a:t>
            </a:r>
          </a:p>
          <a:p>
            <a:pPr algn="l">
              <a:spcAft>
                <a:spcPts val="300"/>
              </a:spcAft>
            </a:pPr>
            <a:r>
              <a:rPr sz="1200" b="0">
                <a:solidFill>
                  <a:srgbClr val="5B6372"/>
                </a:solidFill>
                <a:latin typeface="Arial"/>
              </a:rPr>
              <a:t>External-facing websites backed by Dataverse. Lab 4.</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Dataverse</a:t>
            </a:r>
          </a:p>
          <a:p>
            <a:pPr algn="l">
              <a:spcAft>
                <a:spcPts val="300"/>
              </a:spcAft>
            </a:pPr>
            <a:r>
              <a:rPr sz="1200" b="0">
                <a:solidFill>
                  <a:srgbClr val="5B6372"/>
                </a:solidFill>
                <a:latin typeface="Arial"/>
              </a:rPr>
              <a:t>The managed data store behind the environment. Labs 6, 21, 25.</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Connectors</a:t>
            </a:r>
          </a:p>
          <a:p>
            <a:pPr algn="l">
              <a:spcAft>
                <a:spcPts val="300"/>
              </a:spcAft>
            </a:pPr>
            <a:r>
              <a:rPr sz="1200" b="0">
                <a:solidFill>
                  <a:srgbClr val="5B6372"/>
                </a:solidFill>
                <a:latin typeface="Arial"/>
              </a:rPr>
              <a:t>Excel, SharePoint, Outlook, Teams, SQL, HTTP — 1,000+ integration points.</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a:t>
            </a:r>
          </a:p>
        </p:txBody>
      </p:sp>
    </p:spTree>
  </p:cSld>
  <p:clrMapOvr>
    <a:masterClrMapping/>
  </p:clrMapOvr>
  <p:transition spd="fast"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CORE CONCEPT · ENVIRONMENTS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The environment is the container.</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Apps, flows, agents and data all live inside ONE environment. If Power Automate and Copilot Studio point at different environments, your agent cannot see your flow. This is the single most common "where did it go?" in this course.</a:t>
            </a:r>
          </a:p>
        </p:txBody>
      </p:sp>
      <p:sp>
        <p:nvSpPr>
          <p:cNvPr id="7" name="TextBox 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8" name="TextBox 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a:t>
            </a:r>
          </a:p>
        </p:txBody>
      </p:sp>
    </p:spTree>
  </p:cSld>
  <p:clrMapOvr>
    <a:masterClrMapping/>
  </p:clrMapOvr>
  <p:transition spd="fast"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CORE CONCEPT · THE CASE FOR AUTOMATION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the Manual Hours Actually Go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Re-keying and chasing approvals — the two hand-offs a flow removes outright — account for more than half the manual hours. These map directly to Labs 13–16.</a:t>
            </a:r>
          </a:p>
        </p:txBody>
      </p:sp>
      <p:sp>
        <p:nvSpPr>
          <p:cNvPr id="12" name="TextBox 1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3" name="TextBox 1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a:t>
            </a:r>
          </a:p>
        </p:txBody>
      </p:sp>
    </p:spTree>
  </p:cSld>
  <p:clrMapOvr>
    <a:masterClrMapping/>
  </p:clrMapOvr>
  <p:transition spd="fast"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INTRODUCTION TO COPILOT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Copilot Is an AI Assistant You Reach Through Chat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Generic copilot</a:t>
            </a:r>
          </a:p>
          <a:p>
            <a:pPr algn="l">
              <a:spcAft>
                <a:spcPts val="300"/>
              </a:spcAft>
            </a:pPr>
            <a:r>
              <a:rPr sz="1300" b="0">
                <a:solidFill>
                  <a:srgbClr val="5B6372"/>
                </a:solidFill>
                <a:latin typeface="Arial"/>
              </a:rPr>
              <a:t>Microsoft Copilot — not tied to any one product.</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Context-aware copilot</a:t>
            </a:r>
          </a:p>
          <a:p>
            <a:pPr algn="l">
              <a:spcAft>
                <a:spcPts val="300"/>
              </a:spcAft>
            </a:pPr>
            <a:r>
              <a:rPr sz="1300" b="0">
                <a:solidFill>
                  <a:srgbClr val="5B6372"/>
                </a:solidFill>
                <a:latin typeface="Arial"/>
              </a:rPr>
              <a:t>Tailored to the product you are in right now.</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Maker-facing</a:t>
            </a:r>
          </a:p>
          <a:p>
            <a:pPr algn="l">
              <a:spcAft>
                <a:spcPts val="300"/>
              </a:spcAft>
            </a:pPr>
            <a:r>
              <a:rPr sz="1300" b="0">
                <a:solidFill>
                  <a:srgbClr val="5B6372"/>
                </a:solidFill>
                <a:latin typeface="Arial"/>
              </a:rPr>
              <a:t>Helps you BUILD the app, flow or site — Labs 2, 3, 4.</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User-facing</a:t>
            </a:r>
          </a:p>
          <a:p>
            <a:pPr algn="l">
              <a:spcAft>
                <a:spcPts val="300"/>
              </a:spcAft>
            </a:pPr>
            <a:r>
              <a:rPr sz="1300" b="0">
                <a:solidFill>
                  <a:srgbClr val="5B6372"/>
                </a:solidFill>
                <a:latin typeface="Arial"/>
              </a:rPr>
              <a:t>Helps the END USER ask questions of the app's data.</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21</a:t>
            </a:r>
          </a:p>
        </p:txBody>
      </p:sp>
    </p:spTree>
  </p:cSld>
  <p:clrMapOvr>
    <a:masterClrMapping/>
  </p:clrMapOvr>
  <p:transition spd="fast"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Introduction to Copilot in Microsoft Power Platform</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What a copilot is · the copilots in Power Platform · anatomy · prompts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22</a:t>
            </a:r>
          </a:p>
        </p:txBody>
      </p:sp>
    </p:spTree>
  </p:cSld>
  <p:clrMapOvr>
    <a:masterClrMapping/>
  </p:clrMapOvr>
  <p:transition spd="fast"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Copilots Across Microsoft Power Platform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Copilot</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you give it</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it produces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Used in</a:t>
            </a:r>
          </a:p>
        </p:txBody>
      </p:sp>
      <p:sp>
        <p:nvSpPr>
          <p:cNvPr id="15" name="Rectangle 14"/>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Copilot for Power Apps</a:t>
            </a:r>
          </a:p>
        </p:txBody>
      </p:sp>
      <p:sp>
        <p:nvSpPr>
          <p:cNvPr id="17" name="Rectangle 16"/>
          <p:cNvSpPr/>
          <p:nvPr/>
        </p:nvSpPr>
        <p:spPr>
          <a:xfrm>
            <a:off x="354220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description of the app you need</a:t>
            </a:r>
          </a:p>
        </p:txBody>
      </p:sp>
      <p:sp>
        <p:nvSpPr>
          <p:cNvPr id="19" name="Rectangle 18"/>
          <p:cNvSpPr/>
          <p:nvPr/>
        </p:nvSpPr>
        <p:spPr>
          <a:xfrm>
            <a:off x="616537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data structure plus canvas app pages you can iterate</a:t>
            </a:r>
          </a:p>
        </p:txBody>
      </p:sp>
      <p:sp>
        <p:nvSpPr>
          <p:cNvPr id="21" name="Rectangle 20"/>
          <p:cNvSpPr/>
          <p:nvPr/>
        </p:nvSpPr>
        <p:spPr>
          <a:xfrm>
            <a:off x="8788542" y="2258568"/>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Lab 2</a:t>
            </a:r>
          </a:p>
        </p:txBody>
      </p:sp>
      <p:sp>
        <p:nvSpPr>
          <p:cNvPr id="23" name="Rectangle 22"/>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Copilot for Power Automate</a:t>
            </a:r>
          </a:p>
        </p:txBody>
      </p:sp>
      <p:sp>
        <p:nvSpPr>
          <p:cNvPr id="25" name="Rectangle 24"/>
          <p:cNvSpPr/>
          <p:nvPr/>
        </p:nvSpPr>
        <p:spPr>
          <a:xfrm>
            <a:off x="354220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description of the automation</a:t>
            </a:r>
          </a:p>
        </p:txBody>
      </p:sp>
      <p:sp>
        <p:nvSpPr>
          <p:cNvPr id="27" name="Rectangle 26"/>
          <p:cNvSpPr/>
          <p:nvPr/>
        </p:nvSpPr>
        <p:spPr>
          <a:xfrm>
            <a:off x="616537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cloud or desktop flow — explains, adds, replaces actions</a:t>
            </a:r>
          </a:p>
        </p:txBody>
      </p:sp>
      <p:sp>
        <p:nvSpPr>
          <p:cNvPr id="29" name="Rectangle 28"/>
          <p:cNvSpPr/>
          <p:nvPr/>
        </p:nvSpPr>
        <p:spPr>
          <a:xfrm>
            <a:off x="8788542" y="2838297"/>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838297"/>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Lab 3</a:t>
            </a:r>
          </a:p>
        </p:txBody>
      </p:sp>
      <p:sp>
        <p:nvSpPr>
          <p:cNvPr id="31" name="Rectangle 30"/>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Copilot for Power Pages</a:t>
            </a:r>
          </a:p>
        </p:txBody>
      </p:sp>
      <p:sp>
        <p:nvSpPr>
          <p:cNvPr id="33" name="Rectangle 32"/>
          <p:cNvSpPr/>
          <p:nvPr/>
        </p:nvSpPr>
        <p:spPr>
          <a:xfrm>
            <a:off x="354220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description of the website</a:t>
            </a:r>
          </a:p>
        </p:txBody>
      </p:sp>
      <p:sp>
        <p:nvSpPr>
          <p:cNvPr id="35" name="Rectangle 34"/>
          <p:cNvSpPr/>
          <p:nvPr/>
        </p:nvSpPr>
        <p:spPr>
          <a:xfrm>
            <a:off x="616537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Theming, standard pages, AI images and text</a:t>
            </a:r>
          </a:p>
        </p:txBody>
      </p:sp>
      <p:sp>
        <p:nvSpPr>
          <p:cNvPr id="37" name="Rectangle 36"/>
          <p:cNvSpPr/>
          <p:nvPr/>
        </p:nvSpPr>
        <p:spPr>
          <a:xfrm>
            <a:off x="8788542" y="3418026"/>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418026"/>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Lab 4</a:t>
            </a:r>
          </a:p>
        </p:txBody>
      </p:sp>
      <p:sp>
        <p:nvSpPr>
          <p:cNvPr id="39" name="Rectangle 38"/>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Copilot in Power BI</a:t>
            </a:r>
          </a:p>
        </p:txBody>
      </p:sp>
      <p:sp>
        <p:nvSpPr>
          <p:cNvPr id="41" name="Rectangle 40"/>
          <p:cNvSpPr/>
          <p:nvPr/>
        </p:nvSpPr>
        <p:spPr>
          <a:xfrm>
            <a:off x="354220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question about the data</a:t>
            </a:r>
          </a:p>
        </p:txBody>
      </p:sp>
      <p:sp>
        <p:nvSpPr>
          <p:cNvPr id="43" name="Rectangle 42"/>
          <p:cNvSpPr/>
          <p:nvPr/>
        </p:nvSpPr>
        <p:spPr>
          <a:xfrm>
            <a:off x="616537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Visuals, DAX measures and narrative summaries</a:t>
            </a:r>
          </a:p>
        </p:txBody>
      </p:sp>
      <p:sp>
        <p:nvSpPr>
          <p:cNvPr id="45" name="Rectangle 44"/>
          <p:cNvSpPr/>
          <p:nvPr/>
        </p:nvSpPr>
        <p:spPr>
          <a:xfrm>
            <a:off x="8788542" y="3997755"/>
            <a:ext cx="2623170"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997755"/>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Reference</a:t>
            </a:r>
          </a:p>
        </p:txBody>
      </p:sp>
      <p:sp>
        <p:nvSpPr>
          <p:cNvPr id="47" name="Rectangle 4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User-facing Copilot</a:t>
            </a:r>
          </a:p>
        </p:txBody>
      </p:sp>
      <p:sp>
        <p:nvSpPr>
          <p:cNvPr id="49" name="Rectangle 48"/>
          <p:cNvSpPr/>
          <p:nvPr/>
        </p:nvSpPr>
        <p:spPr>
          <a:xfrm>
            <a:off x="354220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question about the app's records</a:t>
            </a:r>
          </a:p>
        </p:txBody>
      </p:sp>
      <p:sp>
        <p:nvSpPr>
          <p:cNvPr id="51" name="Rectangle 50"/>
          <p:cNvSpPr/>
          <p:nvPr/>
        </p:nvSpPr>
        <p:spPr>
          <a:xfrm>
            <a:off x="616537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A natural-language answer over the app's data</a:t>
            </a:r>
          </a:p>
        </p:txBody>
      </p:sp>
      <p:sp>
        <p:nvSpPr>
          <p:cNvPr id="53" name="Rectangle 52"/>
          <p:cNvSpPr/>
          <p:nvPr/>
        </p:nvSpPr>
        <p:spPr>
          <a:xfrm>
            <a:off x="8788542" y="4577484"/>
            <a:ext cx="2623170"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577484"/>
            <a:ext cx="2367138" cy="579729"/>
          </a:xfrm>
          <a:prstGeom prst="rect">
            <a:avLst/>
          </a:prstGeom>
          <a:noFill/>
        </p:spPr>
        <p:txBody>
          <a:bodyPr wrap="square" anchor="ctr">
            <a:spAutoFit/>
          </a:bodyPr>
          <a:lstStyle/>
          <a:p>
            <a:pPr algn="l">
              <a:spcAft>
                <a:spcPts val="400"/>
              </a:spcAft>
            </a:pPr>
            <a:r>
              <a:rPr sz="1150" b="0">
                <a:solidFill>
                  <a:srgbClr val="5B6372"/>
                </a:solidFill>
                <a:latin typeface="Arial"/>
              </a:rPr>
              <a:t>Lab 2</a:t>
            </a:r>
          </a:p>
        </p:txBody>
      </p:sp>
      <p:sp>
        <p:nvSpPr>
          <p:cNvPr id="55" name="Rectangle 54"/>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Every one of these is an accelerator, not an author. The maker still owns correctness — Copilot's proposed data structure is a starting point you review and correct.</a:t>
            </a:r>
          </a:p>
        </p:txBody>
      </p:sp>
      <p:sp>
        <p:nvSpPr>
          <p:cNvPr id="58" name="TextBox 57"/>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59" name="TextBox 58"/>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60" name="TextBox 5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23</a:t>
            </a:r>
          </a:p>
        </p:txBody>
      </p:sp>
    </p:spTree>
  </p:cSld>
  <p:clrMapOvr>
    <a:masterClrMapping/>
  </p:clrMapOvr>
  <p:transition spd="fast"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ANATOMY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The Anatomy of a Copilot — Four Things Every One Shares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Compose a prompt</a:t>
            </a:r>
          </a:p>
          <a:p>
            <a:pPr algn="l">
              <a:spcAft>
                <a:spcPts val="300"/>
              </a:spcAft>
            </a:pPr>
            <a:r>
              <a:rPr sz="1300" b="0">
                <a:solidFill>
                  <a:srgbClr val="5B6372"/>
                </a:solidFill>
                <a:latin typeface="Arial"/>
              </a:rPr>
              <a:t>Ask the copilot to take an action, in natural language.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Undo modifications</a:t>
            </a:r>
          </a:p>
          <a:p>
            <a:pPr algn="l">
              <a:spcAft>
                <a:spcPts val="300"/>
              </a:spcAft>
            </a:pPr>
            <a:r>
              <a:rPr sz="1300" b="0">
                <a:solidFill>
                  <a:srgbClr val="5B6372"/>
                </a:solidFill>
                <a:latin typeface="Arial"/>
              </a:rPr>
              <a:t>Roll back a change that did not work out.</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Ask for help</a:t>
            </a:r>
          </a:p>
          <a:p>
            <a:pPr algn="l">
              <a:spcAft>
                <a:spcPts val="300"/>
              </a:spcAft>
            </a:pPr>
            <a:r>
              <a:rPr sz="1300" b="0">
                <a:solidFill>
                  <a:srgbClr val="5B6372"/>
                </a:solidFill>
                <a:latin typeface="Arial"/>
              </a:rPr>
              <a:t>Including asking the copilot what it can actually do.</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Show or hide</a:t>
            </a:r>
          </a:p>
          <a:p>
            <a:pPr algn="l">
              <a:spcAft>
                <a:spcPts val="300"/>
              </a:spcAft>
            </a:pPr>
            <a:r>
              <a:rPr sz="1300" b="0">
                <a:solidFill>
                  <a:srgbClr val="5B6372"/>
                </a:solidFill>
                <a:latin typeface="Arial"/>
              </a:rPr>
              <a:t>Make the copilot pane visible or hidden beside your work.</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24</a:t>
            </a:r>
          </a:p>
        </p:txBody>
      </p:sp>
    </p:spTree>
  </p:cSld>
  <p:clrMapOvr>
    <a:masterClrMapping/>
  </p:clrMapOvr>
  <p:transition spd="fast"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THE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Copilot in Power Apps — Describe It to Design It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pilot_describe.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The prompt box. A natural-language description of the outcome you want.</a:t>
            </a:r>
          </a:p>
        </p:txBody>
      </p:sp>
      <p:sp>
        <p:nvSpPr>
          <p:cNvPr id="13" name="Oval 12"/>
          <p:cNvSpPr/>
          <p:nvPr/>
        </p:nvSpPr>
        <p:spPr>
          <a:xfrm>
            <a:off x="8805672" y="3730752"/>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685032"/>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The proposed data structure. Review the column names and data types, and refine by prompting again — before the app is generated.</a:t>
            </a:r>
          </a:p>
        </p:txBody>
      </p:sp>
      <p:sp>
        <p:nvSpPr>
          <p:cNvPr id="16" name="Rectangle 15"/>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760720"/>
            <a:ext cx="100584"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Applied in Lab 2 — you will describe an app, refine the data structure by prompt, then generate and inspect it.</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25</a:t>
            </a:r>
          </a:p>
        </p:txBody>
      </p:sp>
    </p:spTree>
  </p:cSld>
  <p:clrMapOvr>
    <a:masterClrMapping/>
  </p:clrMapOvr>
  <p:transition spd="fast"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 · PROMPTS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Makes a Prompt Work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Be specific</a:t>
            </a:r>
          </a:p>
          <a:p>
            <a:pPr algn="l">
              <a:spcAft>
                <a:spcPts val="300"/>
              </a:spcAft>
            </a:pPr>
            <a:r>
              <a:rPr sz="1200" b="0">
                <a:solidFill>
                  <a:srgbClr val="5B6372"/>
                </a:solidFill>
                <a:latin typeface="Arial"/>
              </a:rPr>
              <a:t>"Track employee training requests" beats "an HR app".</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Name the fields</a:t>
            </a:r>
          </a:p>
          <a:p>
            <a:pPr algn="l">
              <a:spcAft>
                <a:spcPts val="300"/>
              </a:spcAft>
            </a:pPr>
            <a:r>
              <a:rPr sz="1200" b="0">
                <a:solidFill>
                  <a:srgbClr val="5B6372"/>
                </a:solidFill>
                <a:latin typeface="Arial"/>
              </a:rPr>
              <a:t>List the columns you know you need, and their meaning.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State the outcome</a:t>
            </a:r>
          </a:p>
          <a:p>
            <a:pPr algn="l">
              <a:spcAft>
                <a:spcPts val="300"/>
              </a:spcAft>
            </a:pPr>
            <a:r>
              <a:rPr sz="1200" b="0">
                <a:solidFill>
                  <a:srgbClr val="5B6372"/>
                </a:solidFill>
                <a:latin typeface="Arial"/>
              </a:rPr>
              <a:t>Describe what the app must let someone DO.</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Iterate, don't restart</a:t>
            </a:r>
          </a:p>
          <a:p>
            <a:pPr algn="l">
              <a:spcAft>
                <a:spcPts val="300"/>
              </a:spcAft>
            </a:pPr>
            <a:r>
              <a:rPr sz="1200" b="0">
                <a:solidFill>
                  <a:srgbClr val="5B6372"/>
                </a:solidFill>
                <a:latin typeface="Arial"/>
              </a:rPr>
              <a:t>Refine with a follow-up prompt rather than starting over.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Review everything</a:t>
            </a:r>
          </a:p>
          <a:p>
            <a:pPr algn="l">
              <a:spcAft>
                <a:spcPts val="300"/>
              </a:spcAft>
            </a:pPr>
            <a:r>
              <a:rPr sz="1200" b="0">
                <a:solidFill>
                  <a:srgbClr val="5B6372"/>
                </a:solidFill>
                <a:latin typeface="Arial"/>
              </a:rPr>
              <a:t>Copilot proposes; you verify names, types and relationships.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Know the goal first</a:t>
            </a:r>
          </a:p>
          <a:p>
            <a:pPr algn="l">
              <a:spcAft>
                <a:spcPts val="300"/>
              </a:spcAft>
            </a:pPr>
            <a:r>
              <a:rPr sz="1200" b="0">
                <a:solidFill>
                  <a:srgbClr val="5B6372"/>
                </a:solidFill>
                <a:latin typeface="Arial"/>
              </a:rPr>
              <a:t>If you cannot state the outcome, the copilot cannot either.</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26</a:t>
            </a:r>
          </a:p>
        </p:txBody>
      </p:sp>
    </p:spTree>
  </p:cSld>
  <p:clrMapOvr>
    <a:masterClrMapping/>
  </p:clrMapOvr>
  <p:transition spd="fast"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 · TSC A2 · FEASIBILITY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Feasibility Scan — Can This Integration Actually Be Built?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a standard
connector exist for
BOTH systems, within
the licence you have?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075688"/>
            <a:ext cx="5303520" cy="475488"/>
          </a:xfrm>
          <a:prstGeom prst="rect">
            <a:avLst/>
          </a:prstGeom>
          <a:noFill/>
        </p:spPr>
        <p:txBody>
          <a:bodyPr wrap="square" anchor="t">
            <a:spAutoFit/>
          </a:bodyPr>
          <a:lstStyle/>
          <a:p>
            <a:pPr algn="l">
              <a:spcAft>
                <a:spcPts val="400"/>
              </a:spcAft>
            </a:pPr>
            <a:r>
              <a:rPr sz="1500" b="1">
                <a:solidFill>
                  <a:srgbClr val="10B981"/>
                </a:solidFill>
                <a:latin typeface="Arial"/>
              </a:rPr>
              <a:t>YES — build it on the connector</a:t>
            </a:r>
          </a:p>
        </p:txBody>
      </p:sp>
      <p:sp>
        <p:nvSpPr>
          <p:cNvPr id="11" name="TextBox 10"/>
          <p:cNvSpPr txBox="1"/>
          <p:nvPr/>
        </p:nvSpPr>
        <p:spPr>
          <a:xfrm>
            <a:off x="5852160" y="2587752"/>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Use the standard connector. Confirm the action you need exists, then check throttling limits and the data volume.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087367"/>
            <a:ext cx="5303520" cy="475488"/>
          </a:xfrm>
          <a:prstGeom prst="rect">
            <a:avLst/>
          </a:prstGeom>
          <a:noFill/>
        </p:spPr>
        <p:txBody>
          <a:bodyPr wrap="square" anchor="t">
            <a:spAutoFit/>
          </a:bodyPr>
          <a:lstStyle/>
          <a:p>
            <a:pPr algn="l">
              <a:spcAft>
                <a:spcPts val="400"/>
              </a:spcAft>
            </a:pPr>
            <a:r>
              <a:rPr sz="1500" b="1">
                <a:solidFill>
                  <a:srgbClr val="F59E0B"/>
                </a:solidFill>
                <a:latin typeface="Arial"/>
              </a:rPr>
              <a:t>NO — escalate the design</a:t>
            </a:r>
          </a:p>
        </p:txBody>
      </p:sp>
      <p:sp>
        <p:nvSpPr>
          <p:cNvPr id="16" name="TextBox 15"/>
          <p:cNvSpPr txBox="1"/>
          <p:nvPr/>
        </p:nvSpPr>
        <p:spPr>
          <a:xfrm>
            <a:off x="5852160" y="4599431"/>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Consider a premium connector (licence cost), a custom connector over the vendor's API, or HTTP with authentication.</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This decision is the TSC A2 deliverable. In Lab 1 you record the result for ten connectors in connector-scan.csv — that file is your evidence of a feasibility scan.</a:t>
            </a:r>
          </a:p>
        </p:txBody>
      </p:sp>
      <p:sp>
        <p:nvSpPr>
          <p:cNvPr id="20" name="TextBox 19"/>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1" name="TextBox 20"/>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27</a:t>
            </a:r>
          </a:p>
        </p:txBody>
      </p:sp>
    </p:spTree>
  </p:cSld>
  <p:clrMapOvr>
    <a:masterClrMapping/>
  </p:clrMapOvr>
  <p:transition spd="fast"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7C3AED"/>
                </a:solidFill>
                <a:latin typeface="Arial"/>
              </a:rPr>
              <a:t>TOPIC 1 · THE HONEST FRAMING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Copilot accelerates. It does not absolve.</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Prototyping, inspiration and task completion are real gains. But the maker still owns the data model, the correctness of the formulas and the security of the result — and that is exactly what the assessment tests.</a:t>
            </a:r>
          </a:p>
        </p:txBody>
      </p:sp>
      <p:sp>
        <p:nvSpPr>
          <p:cNvPr id="7" name="TextBox 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8" name="TextBox 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28</a:t>
            </a:r>
          </a:p>
        </p:txBody>
      </p:sp>
    </p:spTree>
  </p:cSld>
  <p:clrMapOvr>
    <a:masterClrMapping/>
  </p:clrMapOvr>
  <p:transition spd="fast"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Use Copilot in Power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Maker-facing Copilot · user-facing Copilot · what it generates · what you must review</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29</a:t>
            </a:r>
          </a:p>
        </p:txBody>
      </p:sp>
    </p:spTree>
  </p:cSld>
  <p:clrMapOvr>
    <a:masterClrMapping/>
  </p:clrMapOvr>
  <p:transition spd="fast"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2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Maker-Facing and User-Facing Copilot Are Different Things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Maker-facing Copilot</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User-facing Copilot</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Who uses it</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 while BUILDING the app</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end user, while USING the app</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What it does</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Proposes a data structure, generates screens, edits controls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Answers questions about the data in the app</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Where it appears</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maker portal and Power Apps Studio</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Copilot control on a screen</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What it changes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The app itself</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Nothing — it reads and answers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Built in</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Lab 2</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Lab 2 (optional extension)</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Adding the user-facing Copilot control lets a user ask 'how many requests are still pending?' in natural language, over the same data the gallery shows.</a:t>
            </a:r>
          </a:p>
        </p:txBody>
      </p:sp>
      <p:sp>
        <p:nvSpPr>
          <p:cNvPr id="46" name="TextBox 45"/>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47" name="TextBox 46"/>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30</a:t>
            </a:r>
          </a:p>
        </p:txBody>
      </p:sp>
    </p:spTree>
  </p:cSld>
  <p:clrMapOvr>
    <a:masterClrMapping/>
  </p:clrMapOvr>
  <p:transition spd="fast"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2 · WHAT YOU OWN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Copilot Generates — and What You Must Check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data structure</a:t>
            </a:r>
          </a:p>
          <a:p>
            <a:pPr algn="l">
              <a:spcAft>
                <a:spcPts val="300"/>
              </a:spcAft>
            </a:pPr>
            <a:r>
              <a:rPr sz="1100" b="0">
                <a:solidFill>
                  <a:srgbClr val="5B6372"/>
                </a:solidFill>
                <a:latin typeface="Arial"/>
              </a:rPr>
              <a:t>Column names and DATA TYPES. Check Currency is Currency, dates are Date only, and choices are Choice.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Screens and controls</a:t>
            </a:r>
          </a:p>
          <a:p>
            <a:pPr algn="l">
              <a:spcAft>
                <a:spcPts val="300"/>
              </a:spcAft>
            </a:pPr>
            <a:r>
              <a:rPr sz="1100" b="0">
                <a:solidFill>
                  <a:srgbClr val="5B6372"/>
                </a:solidFill>
                <a:latin typeface="Arial"/>
              </a:rPr>
              <a:t>A browse, detail and edit screen. Check the gallery's Items and the form's DataSource.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Power Fx formulas</a:t>
            </a:r>
          </a:p>
          <a:p>
            <a:pPr algn="l">
              <a:spcAft>
                <a:spcPts val="300"/>
              </a:spcAft>
            </a:pPr>
            <a:r>
              <a:rPr sz="1100" b="0">
                <a:solidFill>
                  <a:srgbClr val="5B6372"/>
                </a:solidFill>
                <a:latin typeface="Arial"/>
              </a:rPr>
              <a:t>It writes real formulas. Check delegation, and that filters use the right column.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Nothing about security</a:t>
            </a:r>
          </a:p>
          <a:p>
            <a:pPr algn="l">
              <a:spcAft>
                <a:spcPts val="300"/>
              </a:spcAft>
            </a:pPr>
            <a:r>
              <a:rPr sz="1100" b="0">
                <a:solidFill>
                  <a:srgbClr val="5B6372"/>
                </a:solidFill>
                <a:latin typeface="Arial"/>
              </a:rPr>
              <a:t>Copilot does NOT set security roles or sharing. That remains entirely yours.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Nothing about performance</a:t>
            </a:r>
          </a:p>
          <a:p>
            <a:pPr algn="l">
              <a:spcAft>
                <a:spcPts val="300"/>
              </a:spcAft>
            </a:pPr>
            <a:r>
              <a:rPr sz="1100" b="0">
                <a:solidFill>
                  <a:srgbClr val="5B6372"/>
                </a:solidFill>
                <a:latin typeface="Arial"/>
              </a:rPr>
              <a:t>It will happily generate a non-delegable filter. You own the fix.</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 starting point</a:t>
            </a:r>
          </a:p>
          <a:p>
            <a:pPr algn="l">
              <a:spcAft>
                <a:spcPts val="300"/>
              </a:spcAft>
            </a:pPr>
            <a:r>
              <a:rPr sz="1100" b="0">
                <a:solidFill>
                  <a:srgbClr val="5B6372"/>
                </a:solidFill>
                <a:latin typeface="Arial"/>
              </a:rPr>
              <a:t>Every generated artefact is a draft you review, correct and extend.</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31</a:t>
            </a:r>
          </a:p>
        </p:txBody>
      </p:sp>
    </p:spTree>
  </p:cSld>
  <p:clrMapOvr>
    <a:masterClrMapping/>
  </p:clrMapOvr>
  <p:transition spd="fast"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Use Copilot in Power Automate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Describing a flow · explaining actions · adding and replacing actions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3</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32</a:t>
            </a:r>
          </a:p>
        </p:txBody>
      </p:sp>
    </p:spTree>
  </p:cSld>
  <p:clrMapOvr>
    <a:masterClrMapping/>
  </p:clrMapOvr>
  <p:transition spd="fast"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3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Copilot for Power Automate Can Actually Do</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Build from a description</a:t>
            </a:r>
          </a:p>
          <a:p>
            <a:pPr algn="l">
              <a:spcAft>
                <a:spcPts val="300"/>
              </a:spcAft>
            </a:pPr>
            <a:r>
              <a:rPr sz="1100" b="0">
                <a:solidFill>
                  <a:srgbClr val="5B6372"/>
                </a:solidFill>
                <a:latin typeface="Arial"/>
              </a:rPr>
              <a:t>'When a new item is added to my list, email me the details' becomes a real flow with a trigger and actions.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Explain an action</a:t>
            </a:r>
          </a:p>
          <a:p>
            <a:pPr algn="l">
              <a:spcAft>
                <a:spcPts val="300"/>
              </a:spcAft>
            </a:pPr>
            <a:r>
              <a:rPr sz="1100" b="0">
                <a:solidFill>
                  <a:srgbClr val="5B6372"/>
                </a:solidFill>
                <a:latin typeface="Arial"/>
              </a:rPr>
              <a:t>Ask what a step does and why it is there — useful on a flow someone else built.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Add an action</a:t>
            </a:r>
          </a:p>
          <a:p>
            <a:pPr algn="l">
              <a:spcAft>
                <a:spcPts val="300"/>
              </a:spcAft>
            </a:pPr>
            <a:r>
              <a:rPr sz="1100" b="0">
                <a:solidFill>
                  <a:srgbClr val="5B6372"/>
                </a:solidFill>
                <a:latin typeface="Arial"/>
              </a:rPr>
              <a:t>'Also post it to Teams' inserts the action in the right place, already wired to the earlier outputs.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Replace an action</a:t>
            </a:r>
          </a:p>
          <a:p>
            <a:pPr algn="l">
              <a:spcAft>
                <a:spcPts val="300"/>
              </a:spcAft>
            </a:pPr>
            <a:r>
              <a:rPr sz="1100" b="0">
                <a:solidFill>
                  <a:srgbClr val="5B6372"/>
                </a:solidFill>
                <a:latin typeface="Arial"/>
              </a:rPr>
              <a:t>Swap one connector action for another without rebuilding the surrounding steps.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Answer questions</a:t>
            </a:r>
          </a:p>
          <a:p>
            <a:pPr algn="l">
              <a:spcAft>
                <a:spcPts val="300"/>
              </a:spcAft>
            </a:pPr>
            <a:r>
              <a:rPr sz="1100" b="0">
                <a:solidFill>
                  <a:srgbClr val="5B6372"/>
                </a:solidFill>
                <a:latin typeface="Arial"/>
              </a:rPr>
              <a:t>Ask about connectors, expressions or why a run failed.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 design the process</a:t>
            </a:r>
          </a:p>
          <a:p>
            <a:pPr algn="l">
              <a:spcAft>
                <a:spcPts val="300"/>
              </a:spcAft>
            </a:pPr>
            <a:r>
              <a:rPr sz="1100" b="0">
                <a:solidFill>
                  <a:srgbClr val="5B6372"/>
                </a:solidFill>
                <a:latin typeface="Arial"/>
              </a:rPr>
              <a:t>It automates the process you describe. Deciding what SHOULD be automated is still your judgement.</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33</a:t>
            </a:r>
          </a:p>
        </p:txBody>
      </p:sp>
    </p:spTree>
  </p:cSld>
  <p:clrMapOvr>
    <a:masterClrMapping/>
  </p:clrMapOvr>
  <p:transition spd="fast"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TOPIC 3 · THE JUDGEMENT THAT STAYS YOURS</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Copilot builds the flow. You still own the trigger.</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The trigger is a statement about who or what may start a business process — and that is a design decision, not a generation task. Read what Copilot chose, and change it if the wrong thing is allowed to start the process.</a:t>
            </a:r>
          </a:p>
        </p:txBody>
      </p:sp>
      <p:sp>
        <p:nvSpPr>
          <p:cNvPr id="7" name="TextBox 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8" name="TextBox 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34</a:t>
            </a:r>
          </a:p>
        </p:txBody>
      </p:sp>
    </p:spTree>
  </p:cSld>
  <p:clrMapOvr>
    <a:masterClrMapping/>
  </p:clrMapOvr>
  <p:transition spd="fast"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Use Copilot in Power Pages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Generating a site · theming and pages · Dataverse-backed lists and forms · permissions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4</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35</a:t>
            </a:r>
          </a:p>
        </p:txBody>
      </p:sp>
    </p:spTree>
  </p:cSld>
  <p:clrMapOvr>
    <a:masterClrMapping/>
  </p:clrMapOvr>
  <p:transition spd="fast"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4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 Power Pages Site Reaches Real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Describe the site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Copilot proposes the pages</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Data workspace</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point a list at a table</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a form</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Insert, Edit or Read-only</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Set table permissions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who may read or write</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Preview, then publish</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test signed-in and anonymous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PERMISSIONS ARE THE WHOLE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Power Pages site is EXTERNAL-facing. Table permissions and web roles decide what an anonymous visitor can see — get this wrong and you have published your Dataverse to the internet.</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4 · SCOPE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Copilot Generates for a Power Pages Site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Theming</a:t>
            </a:r>
          </a:p>
          <a:p>
            <a:pPr algn="l">
              <a:spcAft>
                <a:spcPts val="300"/>
              </a:spcAft>
            </a:pPr>
            <a:r>
              <a:rPr sz="1100" b="0">
                <a:solidFill>
                  <a:srgbClr val="5B6372"/>
                </a:solidFill>
                <a:latin typeface="Arial"/>
              </a:rPr>
              <a:t>A colour scheme and typography you can then edit.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Standard pages</a:t>
            </a:r>
          </a:p>
          <a:p>
            <a:pPr algn="l">
              <a:spcAft>
                <a:spcPts val="300"/>
              </a:spcAft>
            </a:pPr>
            <a:r>
              <a:rPr sz="1100" b="0">
                <a:solidFill>
                  <a:srgbClr val="5B6372"/>
                </a:solidFill>
                <a:latin typeface="Arial"/>
              </a:rPr>
              <a:t>Home, about and contact pages as a starting structure.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AI-generated images</a:t>
            </a:r>
          </a:p>
          <a:p>
            <a:pPr algn="l">
              <a:spcAft>
                <a:spcPts val="300"/>
              </a:spcAft>
            </a:pPr>
            <a:r>
              <a:rPr sz="1100" b="0">
                <a:solidFill>
                  <a:srgbClr val="5B6372"/>
                </a:solidFill>
                <a:latin typeface="Arial"/>
              </a:rPr>
              <a:t>Stock imagery matched to your description.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Text content</a:t>
            </a:r>
          </a:p>
          <a:p>
            <a:pPr algn="l">
              <a:spcAft>
                <a:spcPts val="300"/>
              </a:spcAft>
            </a:pPr>
            <a:r>
              <a:rPr sz="1100" b="0">
                <a:solidFill>
                  <a:srgbClr val="5B6372"/>
                </a:solidFill>
                <a:latin typeface="Arial"/>
              </a:rPr>
              <a:t>Headings and descriptive copy — review it for accuracy before publishing.</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 the data binding</a:t>
            </a:r>
          </a:p>
          <a:p>
            <a:pPr algn="l">
              <a:spcAft>
                <a:spcPts val="300"/>
              </a:spcAft>
            </a:pPr>
            <a:r>
              <a:rPr sz="1100" b="0">
                <a:solidFill>
                  <a:srgbClr val="5B6372"/>
                </a:solidFill>
                <a:latin typeface="Arial"/>
              </a:rPr>
              <a:t>You add Dataverse lists and forms yourself, in the Data workspace.</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NOT the permissions</a:t>
            </a:r>
          </a:p>
          <a:p>
            <a:pPr algn="l">
              <a:spcAft>
                <a:spcPts val="300"/>
              </a:spcAft>
            </a:pPr>
            <a:r>
              <a:rPr sz="1100" b="0">
                <a:solidFill>
                  <a:srgbClr val="5B6372"/>
                </a:solidFill>
                <a:latin typeface="Arial"/>
              </a:rPr>
              <a:t>Table permissions and web roles are always your decision.</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37</a:t>
            </a:r>
          </a:p>
        </p:txBody>
      </p:sp>
    </p:spTree>
  </p:cSld>
  <p:clrMapOvr>
    <a:masterClrMapping/>
  </p:clrMapOvr>
  <p:transition spd="fast"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Hands-On Labs — Get Started with Copilot for Microsoft Power Platform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Validate the Lab Environment and Explore Copilot</a:t>
            </a:r>
          </a:p>
          <a:p>
            <a:pPr>
              <a:spcAft>
                <a:spcPts val="900"/>
              </a:spcAft>
            </a:pPr>
            <a:r>
              <a:rPr sz="1400" b="0">
                <a:solidFill>
                  <a:srgbClr val="161B26"/>
                </a:solidFill>
                <a:latin typeface="Arial"/>
              </a:rPr>
              <a:t>•  Use Copilot to Build a Canvas App from a Description</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3–4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a Cloud Flow with Copilot for Power Automate</a:t>
            </a:r>
          </a:p>
          <a:p>
            <a:pPr>
              <a:spcAft>
                <a:spcPts val="900"/>
              </a:spcAft>
            </a:pPr>
            <a:r>
              <a:rPr sz="1400" b="0">
                <a:solidFill>
                  <a:srgbClr val="161B26"/>
                </a:solidFill>
                <a:latin typeface="Arial"/>
              </a:rPr>
              <a:t>•  Use Copilot to Build a Power Pages Site</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38</a:t>
            </a:r>
          </a:p>
        </p:txBody>
      </p:sp>
    </p:spTree>
  </p:cSld>
  <p:clrMapOvr>
    <a:masterClrMapping/>
  </p:clrMapOvr>
  <p:transition spd="fast"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the Lab Environment and Explore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A1/A2 — Identify connection opportunities in Power Platform and scan the environment for feasibility.</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Sign in to the Power Apps maker portal, confirm you are in the correct environment, verify that Dataverse and the Copilot features are available, and take an inventory of the connectors your tenant can actually reach.</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validated maker environment with a documented connector feasibility scan (mock-data/connector-scan.csv).</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maker portal, Power Platform admin centre, Dataverse, Copilot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Tables load in the chosen environment, all four connections show Connected, and connector-scan.csv records the feasibility result for each.</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39</a:t>
            </a:r>
          </a:p>
        </p:txBody>
      </p:sp>
    </p:spTree>
  </p:cSld>
  <p:clrMapOvr>
    <a:masterClrMapping/>
  </p:clrMapOvr>
  <p:transition spd="fast"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Sign in</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maker portal</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Pick the environment</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one for every lab</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Check Dataverse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tables must load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connections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four connectors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Record feasibility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connector-scan.csv</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A1/A2 — Identify connection opportunities in Power Platform and scan the environment for feasibility.</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Validate the Lab Environment and Explore Copilot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Tables load in the chosen environment, all four connections show Connected, and connector-scan.csv records the feasibility result for each.</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labs/lab-01/README.md.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41</a:t>
            </a:r>
          </a:p>
        </p:txBody>
      </p:sp>
    </p:spTree>
  </p:cSld>
  <p:clrMapOvr>
    <a:masterClrMapping/>
  </p:clrMapOvr>
  <p:transition spd="fast"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 Copilot to Build a Canvas App from a Description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A1/A3 — Use Copilot to turn a natural-language need into a working app over a generated data structure.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Describe an app in plain English and let Copilot propose a data structure and screens. Iterate on the proposed table, then let Copilot generate the app and inspect what it produced.</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Copilot-generated canvas app over a Dataverse table, with the generated data structure reviewed and corrected.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Copilot for Power Apps, Dataverse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app opens in Preview, a record added in the form appears in the gallery, and the Dataverse table contains the two columns you added by prompt.</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42</a:t>
            </a:r>
          </a:p>
        </p:txBody>
      </p:sp>
    </p:spTree>
  </p:cSld>
  <p:clrMapOvr>
    <a:masterClrMapping/>
  </p:clrMapOvr>
  <p:transition spd="fast"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Describe the app</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natural language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Review the structure</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names and types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Refine by prompt</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add two columns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Generate</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Copilot builds it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Inspect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read the Items formula</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A1/A3 — Use Copilot to turn a natural-language need into a working app over a generated data structure.</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 Copilot to Build a Canvas App from a Description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app opens in Preview, a record added in the form appears in the gallery, and the Dataverse table contains the two columns you added by prompt.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labs/lab-02/README.md.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44</a:t>
            </a:r>
          </a:p>
        </p:txBody>
      </p:sp>
    </p:spTree>
  </p:cSld>
  <p:clrMapOvr>
    <a:masterClrMapping/>
  </p:clrMapOvr>
  <p:transition spd="fast"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 Cloud Flow with Copilot for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A3/A5 — Use Copilot to assemble a flow, then read and test what it built.</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Copilot in Power Automate to build a flow from a description, then examine the trigger and actions it chose, correct them, and test the run.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working Copilot-built cloud flow that emails a summary when a new item is created.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Copilot for Power Automate, Outlook, SharePoint</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run history shows a Succeeded run, the email arrives with the item's field values, and you can point at the action output that supplied each value.</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45</a:t>
            </a:r>
          </a:p>
        </p:txBody>
      </p:sp>
    </p:spTree>
  </p:cSld>
  <p:clrMapOvr>
    <a:masterClrMapping/>
  </p:clrMapOvr>
  <p:transition spd="fast" advClick="1">
    <p:fade/>
  </p:transition>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Prompt Copilot</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describe the automation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Read the draft</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trigger and actions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Supply connections</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site and list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Extend</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ask for a Teams post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Test and read history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inputs and outputs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A3/A5 — Use Copilot to assemble a flow, then read and test what it built.</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 Cloud Flow with Copilot for Power Automate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run history shows a Succeeded run, the email arrives with the item's field values, and you can point at the action output that supplied each value.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labs/lab-03/README.md.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47</a:t>
            </a:r>
          </a:p>
        </p:txBody>
      </p:sp>
    </p:spTree>
  </p:cSld>
  <p:clrMapOvr>
    <a:masterClrMapping/>
  </p:clrMapOvr>
  <p:transition spd="fast" advClick="1">
    <p:fade/>
  </p:transition>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LU1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 Copilot to Build a Power Pages Site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A1/A4 — Generate an external-facing site and connect it to Dataverse data through its API layer.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Describe a public-facing site to Copilot in Power Pages, review the theming, pages and AI-generated content it produces, then add a Dataverse-backed form so the site reads and writes real data.</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published Power Pages site with a Dataverse-backed page and a working form.</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Pages, Copilot for Power Pages, Dataverse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previewed site lists courses from Dataverse and a submitted request creates a new row in the Dataverse table.</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48</a:t>
            </a:r>
          </a:p>
        </p:txBody>
      </p:sp>
    </p:spTree>
  </p:cSld>
  <p:clrMapOvr>
    <a:masterClrMapping/>
  </p:clrMapOvr>
  <p:transition spd="fast" advClick="1">
    <p:fade/>
  </p:transition>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Describe the site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Copilot proposes pages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Review theme</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edit the hero</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Bind Dataverse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list and form</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Set permissions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anonymous vs signed-in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Preview and submit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row lands in the table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A1/A4 — Generate an external-facing site and connect it to Dataverse data through its API layer.</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49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Use Copilot to Build a Power Pages Site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previewed site lists courses from Dataverse and a submitted request creates a new row in the Dataverse table.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labs/lab-04/README.md.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50</a:t>
            </a:r>
          </a:p>
        </p:txBody>
      </p:sp>
    </p:spTree>
  </p:cSld>
  <p:clrMapOvr>
    <a:masterClrMapping/>
  </p:clrMapOvr>
  <p:transition spd="fast" advClick="1">
    <p:fade/>
  </p:transition>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RECAP · YOU CAN 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Recap — Get Started with Copilot for Microsoft Power Platform</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 — Validate the Lab Environment and Explore Copilot</a:t>
            </a:r>
          </a:p>
          <a:p>
            <a:pPr algn="l">
              <a:spcAft>
                <a:spcPts val="300"/>
              </a:spcAft>
            </a:pPr>
            <a:r>
              <a:rPr sz="1000" b="0">
                <a:solidFill>
                  <a:srgbClr val="5B6372"/>
                </a:solidFill>
                <a:latin typeface="Arial"/>
              </a:rPr>
              <a:t>A1/A2 — Identify connection opportunities in Power Platform and scan the environment for feasibility.</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2 — Use Copilot to Build a Canvas App from a Description</a:t>
            </a:r>
          </a:p>
          <a:p>
            <a:pPr algn="l">
              <a:spcAft>
                <a:spcPts val="300"/>
              </a:spcAft>
            </a:pPr>
            <a:r>
              <a:rPr sz="1000" b="0">
                <a:solidFill>
                  <a:srgbClr val="5B6372"/>
                </a:solidFill>
                <a:latin typeface="Arial"/>
              </a:rPr>
              <a:t>A1/A3 — Use Copilot to turn a natural-language need into a working app over a generated data structure.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3 — Build a Cloud Flow with Copilot for Power Automate</a:t>
            </a:r>
          </a:p>
          <a:p>
            <a:pPr algn="l">
              <a:spcAft>
                <a:spcPts val="300"/>
              </a:spcAft>
            </a:pPr>
            <a:r>
              <a:rPr sz="1000" b="0">
                <a:solidFill>
                  <a:srgbClr val="5B6372"/>
                </a:solidFill>
                <a:latin typeface="Arial"/>
              </a:rPr>
              <a:t>A3/A5 — Use Copilot to assemble a flow, then read and test what it built.</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4 — Use Copilot to Build a Power Pages Site</a:t>
            </a:r>
          </a:p>
          <a:p>
            <a:pPr algn="l">
              <a:spcAft>
                <a:spcPts val="300"/>
              </a:spcAft>
            </a:pPr>
            <a:r>
              <a:rPr sz="1000" b="0">
                <a:solidFill>
                  <a:srgbClr val="5B6372"/>
                </a:solidFill>
                <a:latin typeface="Arial"/>
              </a:rPr>
              <a:t>A1/A4 — Generate an external-facing site and connect it to Dataverse data through its API layer.</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51</a:t>
            </a:r>
          </a:p>
        </p:txBody>
      </p:sp>
    </p:spTree>
  </p:cSld>
  <p:clrMapOvr>
    <a:masterClrMapping/>
  </p:clrMapOvr>
  <p:transition spd="fast" advClick="1">
    <p:fade/>
  </p:transition>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Create and Manage Canvas Apps with Power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Topics 5–10 · Labs 5–12</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2</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52</a:t>
            </a:r>
          </a:p>
        </p:txBody>
      </p:sp>
    </p:spTree>
  </p:cSld>
  <p:clrMapOvr>
    <a:masterClrMapping/>
  </p:clrMapOvr>
  <p:transition spd="fast" advClick="1">
    <p:fade/>
  </p:transition>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 Started with Power Apps Canvas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What a canvas app is · Power Fx · controls · galleries and forms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5</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53</a:t>
            </a:r>
          </a:p>
        </p:txBody>
      </p:sp>
    </p:spTree>
  </p:cSld>
  <p:clrMapOvr>
    <a:masterClrMapping/>
  </p:clrMapOvr>
  <p:transition spd="fast" advClick="1">
    <p:fade/>
  </p:transition>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5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Canvas App or Model-Driven App — Which 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Canvas app</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Model-driven app</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You design</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Pixel-precise screens you draw</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Components generated from the data model</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Starts from</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blank screen or a data source</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Dataverse tables themselves</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Data source</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Any of 1,000+ connectors</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Dataverse only</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Layout control</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Total — you place every control</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Configured, not drawn</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Best for</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Task-focused, mobile, branded UX</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Data-heavy, process-driven business apps</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In this course</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Labs 5–12</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Labs 21–24</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Neither is 'better'. Choose canvas when the experience matters most; choose model-driven when the data model and process matter most. LU2 builds one of each.</a:t>
            </a:r>
          </a:p>
        </p:txBody>
      </p:sp>
      <p:sp>
        <p:nvSpPr>
          <p:cNvPr id="52" name="TextBox 5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53" name="TextBox 5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54</a:t>
            </a:r>
          </a:p>
        </p:txBody>
      </p:sp>
    </p:spTree>
  </p:cSld>
  <p:clrMapOvr>
    <a:masterClrMapping/>
  </p:clrMapOvr>
  <p:transition spd="fast" advClick="1">
    <p:fade/>
  </p:transition>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5 · THE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Apps Studio — Where You Will Spend LU2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owerapps_studio.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127760"/>
          </a:xfrm>
          <a:prstGeom prst="rect">
            <a:avLst/>
          </a:prstGeom>
          <a:noFill/>
        </p:spPr>
        <p:txBody>
          <a:bodyPr wrap="square" anchor="t">
            <a:spAutoFit/>
          </a:bodyPr>
          <a:lstStyle/>
          <a:p>
            <a:pPr algn="l">
              <a:spcAft>
                <a:spcPts val="400"/>
              </a:spcAft>
            </a:pPr>
            <a:r>
              <a:rPr sz="1050" b="0">
                <a:solidFill>
                  <a:srgbClr val="161B26"/>
                </a:solidFill>
                <a:latin typeface="Arial"/>
              </a:rPr>
              <a:t>The formula bar. Select a property on the left, then write the Power Fx expression that produces its value.</a:t>
            </a:r>
          </a:p>
        </p:txBody>
      </p:sp>
      <p:sp>
        <p:nvSpPr>
          <p:cNvPr id="13" name="Oval 12"/>
          <p:cNvSpPr/>
          <p:nvPr/>
        </p:nvSpPr>
        <p:spPr>
          <a:xfrm>
            <a:off x="8805672" y="3139440"/>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139440"/>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093720"/>
            <a:ext cx="2057400" cy="1127760"/>
          </a:xfrm>
          <a:prstGeom prst="rect">
            <a:avLst/>
          </a:prstGeom>
          <a:noFill/>
        </p:spPr>
        <p:txBody>
          <a:bodyPr wrap="square" anchor="t">
            <a:spAutoFit/>
          </a:bodyPr>
          <a:lstStyle/>
          <a:p>
            <a:pPr algn="l">
              <a:spcAft>
                <a:spcPts val="400"/>
              </a:spcAft>
            </a:pPr>
            <a:r>
              <a:rPr sz="1050" b="0">
                <a:solidFill>
                  <a:srgbClr val="161B26"/>
                </a:solidFill>
                <a:latin typeface="Arial"/>
              </a:rPr>
              <a:t>The gallery — one control that repeats a template for every record in its Items collection.</a:t>
            </a:r>
          </a:p>
        </p:txBody>
      </p:sp>
      <p:sp>
        <p:nvSpPr>
          <p:cNvPr id="16" name="Oval 15"/>
          <p:cNvSpPr/>
          <p:nvPr/>
        </p:nvSpPr>
        <p:spPr>
          <a:xfrm>
            <a:off x="8805672" y="4322064"/>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05672" y="4322064"/>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18" name="TextBox 17"/>
          <p:cNvSpPr txBox="1"/>
          <p:nvPr/>
        </p:nvSpPr>
        <p:spPr>
          <a:xfrm>
            <a:off x="9171432" y="4276344"/>
            <a:ext cx="2057400" cy="1127760"/>
          </a:xfrm>
          <a:prstGeom prst="rect">
            <a:avLst/>
          </a:prstGeom>
          <a:noFill/>
        </p:spPr>
        <p:txBody>
          <a:bodyPr wrap="square" anchor="t">
            <a:spAutoFit/>
          </a:bodyPr>
          <a:lstStyle/>
          <a:p>
            <a:pPr algn="l">
              <a:spcAft>
                <a:spcPts val="400"/>
              </a:spcAft>
            </a:pPr>
            <a:r>
              <a:rPr sz="1050" b="0">
                <a:solidFill>
                  <a:srgbClr val="161B26"/>
                </a:solidFill>
                <a:latin typeface="Arial"/>
              </a:rPr>
              <a:t>The properties pane. Everything here can also be set as a formula in the bar above.</a:t>
            </a:r>
          </a:p>
        </p:txBody>
      </p:sp>
      <p:sp>
        <p:nvSpPr>
          <p:cNvPr id="19" name="Rectangle 18"/>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760720"/>
            <a:ext cx="100584"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Three panes: the tree view of every control, the canvas you are designing, and the properties of whatever is selected.</a:t>
            </a:r>
          </a:p>
        </p:txBody>
      </p:sp>
      <p:sp>
        <p:nvSpPr>
          <p:cNvPr id="22" name="TextBox 2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3" name="TextBox 2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55</a:t>
            </a:r>
          </a:p>
        </p:txBody>
      </p:sp>
    </p:spTree>
  </p:cSld>
  <p:clrMapOvr>
    <a:masterClrMapping/>
  </p:clrMapOvr>
  <p:transition spd="fast" advClick="1">
    <p:fade/>
  </p:transition>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5 · POWER FX</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Power Fx — A Property Is an Expression, Not a Script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Power Fx is declarative and recalculates automatically, exactly like an Excel cell. There is no 'run' — you never write a loop to fill a gallery.</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Gallery1.Items — the rows to show</a:t>
            </a:r>
          </a:p>
          <a:p>
            <a:pPr>
              <a:spcAft>
                <a:spcPts val="200"/>
              </a:spcAft>
            </a:pPr>
            <a:r>
              <a:rPr sz="1100">
                <a:solidFill>
                  <a:srgbClr val="9CDCFE"/>
                </a:solidFill>
                <a:latin typeface="Consolas"/>
              </a:rPr>
              <a:t>Sort(</a:t>
            </a:r>
          </a:p>
          <a:p>
            <a:pPr>
              <a:spcAft>
                <a:spcPts val="200"/>
              </a:spcAft>
            </a:pPr>
            <a:r>
              <a:rPr sz="1100">
                <a:solidFill>
                  <a:srgbClr val="9CDCFE"/>
                </a:solidFill>
                <a:latin typeface="Consolas"/>
              </a:rPr>
              <a:t>    Filter('Booking Requests',</a:t>
            </a:r>
          </a:p>
          <a:p>
            <a:pPr>
              <a:spcAft>
                <a:spcPts val="200"/>
              </a:spcAft>
            </a:pPr>
            <a:r>
              <a:rPr sz="1100">
                <a:solidFill>
                  <a:srgbClr val="D4D4D4"/>
                </a:solidFill>
                <a:latin typeface="Consolas"/>
              </a:rPr>
              <a:t>           Status.Value = "Requested"),</a:t>
            </a:r>
          </a:p>
          <a:p>
            <a:pPr>
              <a:spcAft>
                <a:spcPts val="200"/>
              </a:spcAft>
            </a:pPr>
            <a:r>
              <a:rPr sz="1100">
                <a:solidFill>
                  <a:srgbClr val="9CDCFE"/>
                </a:solidFill>
                <a:latin typeface="Consolas"/>
              </a:rPr>
              <a:t>    'Drop Off', Ascending</a:t>
            </a:r>
          </a:p>
          <a:p>
            <a:pPr>
              <a:spcAft>
                <a:spcPts val="200"/>
              </a:spcAft>
            </a:pPr>
            <a:r>
              <a:rPr sz="1100">
                <a:solidFill>
                  <a:srgbClr val="9CDCFE"/>
                </a:solidFill>
                <a:latin typeface="Consolas"/>
              </a:rPr>
              <a:t>)</a:t>
            </a:r>
          </a:p>
          <a:p>
            <a:pPr>
              <a:spcAft>
                <a:spcPts val="200"/>
              </a:spcAft>
            </a:pPr>
            <a:r>
              <a:rPr sz="1100">
                <a:solidFill>
                  <a:srgbClr val="9CDCFE"/>
                </a:solidFill>
                <a:latin typeface="Consolas"/>
              </a:rPr>
              <a:t/>
            </a:r>
          </a:p>
          <a:p>
            <a:pPr>
              <a:spcAft>
                <a:spcPts val="200"/>
              </a:spcAft>
            </a:pPr>
            <a:r>
              <a:rPr sz="1100">
                <a:solidFill>
                  <a:srgbClr val="9CDCFE"/>
                </a:solidFill>
                <a:latin typeface="Consolas"/>
              </a:rPr>
              <a:t>// Label1.Text — recalculates by itself</a:t>
            </a:r>
          </a:p>
          <a:p>
            <a:pPr>
              <a:spcAft>
                <a:spcPts val="200"/>
              </a:spcAft>
            </a:pPr>
            <a:r>
              <a:rPr sz="1100">
                <a:solidFill>
                  <a:srgbClr val="9CDCFE"/>
                </a:solidFill>
                <a:latin typeface="Consolas"/>
              </a:rPr>
              <a:t>"Showing " &amp; CountRows(Gallery1.AllItems)</a:t>
            </a:r>
          </a:p>
          <a:p>
            <a:pPr>
              <a:spcAft>
                <a:spcPts val="200"/>
              </a:spcAft>
            </a:pPr>
            <a:r>
              <a:rPr sz="1100">
                <a:solidFill>
                  <a:srgbClr val="9CDCFE"/>
                </a:solidFill>
                <a:latin typeface="Consolas"/>
              </a:rPr>
              <a:t>         &amp; " pending requests"</a:t>
            </a:r>
          </a:p>
          <a:p>
            <a:pPr>
              <a:spcAft>
                <a:spcPts val="200"/>
              </a:spcAft>
            </a:pPr>
            <a:r>
              <a:rPr sz="1100">
                <a:solidFill>
                  <a:srgbClr val="9CDCFE"/>
                </a:solidFill>
                <a:latin typeface="Consolas"/>
              </a:rPr>
              <a:t/>
            </a:r>
          </a:p>
          <a:p>
            <a:pPr>
              <a:spcAft>
                <a:spcPts val="200"/>
              </a:spcAft>
            </a:pPr>
            <a:r>
              <a:rPr sz="1100">
                <a:solidFill>
                  <a:srgbClr val="9CDCFE"/>
                </a:solidFill>
                <a:latin typeface="Consolas"/>
              </a:rPr>
              <a:t>// Button.OnSelect — actions, in order</a:t>
            </a:r>
          </a:p>
          <a:p>
            <a:pPr>
              <a:spcAft>
                <a:spcPts val="200"/>
              </a:spcAft>
            </a:pPr>
            <a:r>
              <a:rPr sz="1100">
                <a:solidFill>
                  <a:srgbClr val="9CDCFE"/>
                </a:solidFill>
                <a:latin typeface="Consolas"/>
              </a:rPr>
              <a:t>Patch('Booking Requests',</a:t>
            </a:r>
          </a:p>
          <a:p>
            <a:pPr>
              <a:spcAft>
                <a:spcPts val="200"/>
              </a:spcAft>
            </a:pPr>
            <a:r>
              <a:rPr sz="1100">
                <a:solidFill>
                  <a:srgbClr val="9CDCFE"/>
                </a:solidFill>
                <a:latin typeface="Consolas"/>
              </a:rPr>
              <a:t>      Gallery1.Selected,</a:t>
            </a:r>
          </a:p>
          <a:p>
            <a:pPr>
              <a:spcAft>
                <a:spcPts val="200"/>
              </a:spcAft>
            </a:pPr>
            <a:r>
              <a:rPr sz="1100">
                <a:solidFill>
                  <a:srgbClr val="9CDCFE"/>
                </a:solidFill>
                <a:latin typeface="Consolas"/>
              </a:rPr>
              <a:t>      {Status: {Value: "Confirmed"}});</a:t>
            </a:r>
          </a:p>
          <a:p>
            <a:pPr>
              <a:spcAft>
                <a:spcPts val="200"/>
              </a:spcAft>
            </a:pPr>
            <a:r>
              <a:rPr sz="1100">
                <a:solidFill>
                  <a:srgbClr val="9CDCFE"/>
                </a:solidFill>
                <a:latin typeface="Consolas"/>
              </a:rPr>
              <a:t>Notify("Booking confirmed", Success)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Declarative</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You state what a property IS. When the data changes, every dependent property recalculates on its own.</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Filter then Sort</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Filter narrows the rows, Sort orders them. Both should be delegable so the server does the work.</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&amp; concatenates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One expression can mix literals, functions and control properties.</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 sequences behaviour</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Only behaviour properties (OnSelect, OnVisible) take a ;-separated sequence.</a:t>
            </a:r>
          </a:p>
        </p:txBody>
      </p:sp>
      <p:sp>
        <p:nvSpPr>
          <p:cNvPr id="26" name="TextBox 25"/>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7" name="TextBox 26"/>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56</a:t>
            </a:r>
          </a:p>
        </p:txBody>
      </p:sp>
    </p:spTree>
  </p:cSld>
  <p:clrMapOvr>
    <a:masterClrMapping/>
  </p:clrMapOvr>
  <p:transition spd="fast" advClick="1">
    <p:fade/>
  </p:transition>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5 · CONTROLS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Controls You Will Actually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Label</a:t>
            </a:r>
          </a:p>
          <a:p>
            <a:pPr algn="l">
              <a:spcAft>
                <a:spcPts val="300"/>
              </a:spcAft>
            </a:pPr>
            <a:r>
              <a:rPr sz="1200" b="0">
                <a:solidFill>
                  <a:srgbClr val="5B6372"/>
                </a:solidFill>
                <a:latin typeface="Arial"/>
              </a:rPr>
              <a:t>Displays text. Its Text property is a formula.</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Gallery</a:t>
            </a:r>
          </a:p>
          <a:p>
            <a:pPr algn="l">
              <a:spcAft>
                <a:spcPts val="300"/>
              </a:spcAft>
            </a:pPr>
            <a:r>
              <a:rPr sz="1200" b="0">
                <a:solidFill>
                  <a:srgbClr val="5B6372"/>
                </a:solidFill>
                <a:latin typeface="Arial"/>
              </a:rPr>
              <a:t>Repeats a template for every record in Items.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Form (Display / Edit)</a:t>
            </a:r>
          </a:p>
          <a:p>
            <a:pPr algn="l">
              <a:spcAft>
                <a:spcPts val="300"/>
              </a:spcAft>
            </a:pPr>
            <a:r>
              <a:rPr sz="1200" b="0">
                <a:solidFill>
                  <a:srgbClr val="5B6372"/>
                </a:solidFill>
                <a:latin typeface="Arial"/>
              </a:rPr>
              <a:t>Shows or edits ONE record — the Item property.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Text input</a:t>
            </a:r>
          </a:p>
          <a:p>
            <a:pPr algn="l">
              <a:spcAft>
                <a:spcPts val="300"/>
              </a:spcAft>
            </a:pPr>
            <a:r>
              <a:rPr sz="1200" b="0">
                <a:solidFill>
                  <a:srgbClr val="5B6372"/>
                </a:solidFill>
                <a:latin typeface="Arial"/>
              </a:rPr>
              <a:t>Collects typed input; read it back as .Text.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Button / Icon</a:t>
            </a:r>
          </a:p>
          <a:p>
            <a:pPr algn="l">
              <a:spcAft>
                <a:spcPts val="300"/>
              </a:spcAft>
            </a:pPr>
            <a:r>
              <a:rPr sz="1200" b="0">
                <a:solidFill>
                  <a:srgbClr val="5B6372"/>
                </a:solidFill>
                <a:latin typeface="Arial"/>
              </a:rPr>
              <a:t>Runs a behaviour formula in OnSelect.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Dropdown / Combo box</a:t>
            </a:r>
          </a:p>
          <a:p>
            <a:pPr algn="l">
              <a:spcAft>
                <a:spcPts val="300"/>
              </a:spcAft>
            </a:pPr>
            <a:r>
              <a:rPr sz="1200" b="0">
                <a:solidFill>
                  <a:srgbClr val="5B6372"/>
                </a:solidFill>
                <a:latin typeface="Arial"/>
              </a:rPr>
              <a:t>Choose from a list or a related table.</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57</a:t>
            </a:r>
          </a:p>
        </p:txBody>
      </p:sp>
    </p:spTree>
  </p:cSld>
  <p:clrMapOvr>
    <a:masterClrMapping/>
  </p:clrMapOvr>
  <p:transition spd="fast" advClick="1">
    <p:fade/>
  </p:transition>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Customize a Canvas App in Power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Formulas · screen navigation · the data model · variables and collections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6</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58</a:t>
            </a:r>
          </a:p>
        </p:txBody>
      </p:sp>
    </p:spTree>
  </p:cSld>
  <p:clrMapOvr>
    <a:masterClrMapping/>
  </p:clrMapOvr>
  <p:transition spd="fast" advClick="1">
    <p:fade/>
  </p:transition>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6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Data Reaches the Screen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Data source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Excel, SharePoint, Dataverse</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Connector</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middleware (TSC A3)</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Items property</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Power Fx expression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Gallery / Form</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control that renders it</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The screen</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what the user sees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CHAIN IS THE INTEGRATION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canvas app is this chain. When data does not appear, you debug the chain one link at a time — which is exactly the Lab 26 method.</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59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6 · STATE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Where to Keep a Value — Three Kinds of State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Global variable</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Context variable</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Collection</a:t>
            </a:r>
          </a:p>
        </p:txBody>
      </p:sp>
      <p:sp>
        <p:nvSpPr>
          <p:cNvPr id="15" name="Rectangle 14"/>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Set with</a:t>
            </a:r>
          </a:p>
        </p:txBody>
      </p:sp>
      <p:sp>
        <p:nvSpPr>
          <p:cNvPr id="17" name="Rectangle 16"/>
          <p:cNvSpPr/>
          <p:nvPr/>
        </p:nvSpPr>
        <p:spPr>
          <a:xfrm>
            <a:off x="354220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Set(gblUser, …)</a:t>
            </a:r>
          </a:p>
        </p:txBody>
      </p:sp>
      <p:sp>
        <p:nvSpPr>
          <p:cNvPr id="19" name="Rectangle 18"/>
          <p:cNvSpPr/>
          <p:nvPr/>
        </p:nvSpPr>
        <p:spPr>
          <a:xfrm>
            <a:off x="616537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UpdateContext({locX: …})</a:t>
            </a:r>
          </a:p>
        </p:txBody>
      </p:sp>
      <p:sp>
        <p:nvSpPr>
          <p:cNvPr id="21" name="Rectangle 20"/>
          <p:cNvSpPr/>
          <p:nvPr/>
        </p:nvSpPr>
        <p:spPr>
          <a:xfrm>
            <a:off x="8788542" y="2258568"/>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ClearCollect(colX, …)</a:t>
            </a:r>
          </a:p>
        </p:txBody>
      </p:sp>
      <p:sp>
        <p:nvSpPr>
          <p:cNvPr id="23" name="Rectangle 22"/>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Scope</a:t>
            </a:r>
          </a:p>
        </p:txBody>
      </p:sp>
      <p:sp>
        <p:nvSpPr>
          <p:cNvPr id="25" name="Rectangle 24"/>
          <p:cNvSpPr/>
          <p:nvPr/>
        </p:nvSpPr>
        <p:spPr>
          <a:xfrm>
            <a:off x="354220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The whole app</a:t>
            </a:r>
          </a:p>
        </p:txBody>
      </p:sp>
      <p:sp>
        <p:nvSpPr>
          <p:cNvPr id="27" name="Rectangle 26"/>
          <p:cNvSpPr/>
          <p:nvPr/>
        </p:nvSpPr>
        <p:spPr>
          <a:xfrm>
            <a:off x="616537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One screen only</a:t>
            </a:r>
          </a:p>
        </p:txBody>
      </p:sp>
      <p:sp>
        <p:nvSpPr>
          <p:cNvPr id="29" name="Rectangle 28"/>
          <p:cNvSpPr/>
          <p:nvPr/>
        </p:nvSpPr>
        <p:spPr>
          <a:xfrm>
            <a:off x="8788542" y="2741676"/>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741676"/>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The whole app</a:t>
            </a:r>
          </a:p>
        </p:txBody>
      </p:sp>
      <p:sp>
        <p:nvSpPr>
          <p:cNvPr id="31" name="Rectangle 30"/>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Holds</a:t>
            </a:r>
          </a:p>
        </p:txBody>
      </p:sp>
      <p:sp>
        <p:nvSpPr>
          <p:cNvPr id="33" name="Rectangle 32"/>
          <p:cNvSpPr/>
          <p:nvPr/>
        </p:nvSpPr>
        <p:spPr>
          <a:xfrm>
            <a:off x="354220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 single value or record</a:t>
            </a:r>
          </a:p>
        </p:txBody>
      </p:sp>
      <p:sp>
        <p:nvSpPr>
          <p:cNvPr id="35" name="Rectangle 34"/>
          <p:cNvSpPr/>
          <p:nvPr/>
        </p:nvSpPr>
        <p:spPr>
          <a:xfrm>
            <a:off x="616537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 single value or record</a:t>
            </a:r>
          </a:p>
        </p:txBody>
      </p:sp>
      <p:sp>
        <p:nvSpPr>
          <p:cNvPr id="37" name="Rectangle 36"/>
          <p:cNvSpPr/>
          <p:nvPr/>
        </p:nvSpPr>
        <p:spPr>
          <a:xfrm>
            <a:off x="8788542" y="3224784"/>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224784"/>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A TABLE of records</a:t>
            </a:r>
          </a:p>
        </p:txBody>
      </p:sp>
      <p:sp>
        <p:nvSpPr>
          <p:cNvPr id="39" name="Rectangle 38"/>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Survives navigation</a:t>
            </a:r>
          </a:p>
        </p:txBody>
      </p:sp>
      <p:sp>
        <p:nvSpPr>
          <p:cNvPr id="41" name="Rectangle 40"/>
          <p:cNvSpPr/>
          <p:nvPr/>
        </p:nvSpPr>
        <p:spPr>
          <a:xfrm>
            <a:off x="354220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43" name="Rectangle 42"/>
          <p:cNvSpPr/>
          <p:nvPr/>
        </p:nvSpPr>
        <p:spPr>
          <a:xfrm>
            <a:off x="616537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No</a:t>
            </a:r>
          </a:p>
        </p:txBody>
      </p:sp>
      <p:sp>
        <p:nvSpPr>
          <p:cNvPr id="45" name="Rectangle 44"/>
          <p:cNvSpPr/>
          <p:nvPr/>
        </p:nvSpPr>
        <p:spPr>
          <a:xfrm>
            <a:off x="8788542" y="3707892"/>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3707892"/>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47" name="Rectangle 4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Typical use</a:t>
            </a:r>
          </a:p>
        </p:txBody>
      </p:sp>
      <p:sp>
        <p:nvSpPr>
          <p:cNvPr id="49" name="Rectangle 48"/>
          <p:cNvSpPr/>
          <p:nvPr/>
        </p:nvSpPr>
        <p:spPr>
          <a:xfrm>
            <a:off x="354220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7021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Signed-in user, app settings</a:t>
            </a:r>
          </a:p>
        </p:txBody>
      </p:sp>
      <p:sp>
        <p:nvSpPr>
          <p:cNvPr id="51" name="Rectangle 50"/>
          <p:cNvSpPr/>
          <p:nvPr/>
        </p:nvSpPr>
        <p:spPr>
          <a:xfrm>
            <a:off x="616537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29338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Show/hide a panel on this screen</a:t>
            </a:r>
          </a:p>
        </p:txBody>
      </p:sp>
      <p:sp>
        <p:nvSpPr>
          <p:cNvPr id="53" name="Rectangle 52"/>
          <p:cNvSpPr/>
          <p:nvPr/>
        </p:nvSpPr>
        <p:spPr>
          <a:xfrm>
            <a:off x="8788542" y="4191000"/>
            <a:ext cx="2623170"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916558" y="4191000"/>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Offline cache, staged edits</a:t>
            </a:r>
          </a:p>
        </p:txBody>
      </p:sp>
      <p:sp>
        <p:nvSpPr>
          <p:cNvPr id="55" name="Rectangle 54"/>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Lab</a:t>
            </a:r>
          </a:p>
        </p:txBody>
      </p:sp>
      <p:sp>
        <p:nvSpPr>
          <p:cNvPr id="57" name="Rectangle 56"/>
          <p:cNvSpPr/>
          <p:nvPr/>
        </p:nvSpPr>
        <p:spPr>
          <a:xfrm>
            <a:off x="354220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67021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Lab 8</a:t>
            </a:r>
          </a:p>
        </p:txBody>
      </p:sp>
      <p:sp>
        <p:nvSpPr>
          <p:cNvPr id="59" name="Rectangle 58"/>
          <p:cNvSpPr/>
          <p:nvPr/>
        </p:nvSpPr>
        <p:spPr>
          <a:xfrm>
            <a:off x="616537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9338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Lab 10</a:t>
            </a:r>
          </a:p>
        </p:txBody>
      </p:sp>
      <p:sp>
        <p:nvSpPr>
          <p:cNvPr id="61" name="Rectangle 60"/>
          <p:cNvSpPr/>
          <p:nvPr/>
        </p:nvSpPr>
        <p:spPr>
          <a:xfrm>
            <a:off x="8788542" y="4674108"/>
            <a:ext cx="2623170"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916558" y="4674108"/>
            <a:ext cx="2367138" cy="483108"/>
          </a:xfrm>
          <a:prstGeom prst="rect">
            <a:avLst/>
          </a:prstGeom>
          <a:noFill/>
        </p:spPr>
        <p:txBody>
          <a:bodyPr wrap="square" anchor="ctr">
            <a:spAutoFit/>
          </a:bodyPr>
          <a:lstStyle/>
          <a:p>
            <a:pPr algn="l">
              <a:spcAft>
                <a:spcPts val="400"/>
              </a:spcAft>
            </a:pPr>
            <a:r>
              <a:rPr sz="1150" b="0">
                <a:solidFill>
                  <a:srgbClr val="5B6372"/>
                </a:solidFill>
                <a:latin typeface="Arial"/>
              </a:rPr>
              <a:t>Lab 9</a:t>
            </a:r>
          </a:p>
        </p:txBody>
      </p:sp>
      <p:sp>
        <p:nvSpPr>
          <p:cNvPr id="63" name="Rectangle 62"/>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Reach for a variable only when a formula cannot express it directly. Power Fx recalculates automatically — an unnecessary variable is state you now have to keep correct yourself.</a:t>
            </a:r>
          </a:p>
        </p:txBody>
      </p:sp>
      <p:sp>
        <p:nvSpPr>
          <p:cNvPr id="66" name="TextBox 65"/>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67" name="TextBox 66"/>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68" name="TextBox 6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60</a:t>
            </a:r>
          </a:p>
        </p:txBody>
      </p:sp>
    </p:spTree>
  </p:cSld>
  <p:clrMapOvr>
    <a:masterClrMapping/>
  </p:clrMapOvr>
  <p:transition spd="fast" advClick="1">
    <p:fade/>
  </p:transition>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6 · NAVIGATION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Navigation Between Screens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Navigate(Screen2)</a:t>
            </a:r>
          </a:p>
          <a:p>
            <a:pPr algn="l">
              <a:spcAft>
                <a:spcPts val="300"/>
              </a:spcAft>
            </a:pPr>
            <a:r>
              <a:rPr sz="1100" b="0">
                <a:solidFill>
                  <a:srgbClr val="5B6372"/>
                </a:solidFill>
                <a:latin typeface="Arial"/>
              </a:rPr>
              <a:t>Go to another screen.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Navigate(Screen2, ScreenTransition.Cover)</a:t>
            </a:r>
          </a:p>
          <a:p>
            <a:pPr algn="l">
              <a:spcAft>
                <a:spcPts val="300"/>
              </a:spcAft>
            </a:pPr>
            <a:r>
              <a:rPr sz="1100" b="0">
                <a:solidFill>
                  <a:srgbClr val="5B6372"/>
                </a:solidFill>
                <a:latin typeface="Arial"/>
              </a:rPr>
              <a:t>Go, with a transition.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Navigate(Screen2, None, {locId: ThisItem.ID})</a:t>
            </a:r>
          </a:p>
          <a:p>
            <a:pPr algn="l">
              <a:spcAft>
                <a:spcPts val="300"/>
              </a:spcAft>
            </a:pPr>
            <a:r>
              <a:rPr sz="1100" b="0">
                <a:solidFill>
                  <a:srgbClr val="5B6372"/>
                </a:solidFill>
                <a:latin typeface="Arial"/>
              </a:rPr>
              <a:t>Go, passing context.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Back()</a:t>
            </a:r>
          </a:p>
          <a:p>
            <a:pPr algn="l">
              <a:spcAft>
                <a:spcPts val="300"/>
              </a:spcAft>
            </a:pPr>
            <a:r>
              <a:rPr sz="1100" b="0">
                <a:solidFill>
                  <a:srgbClr val="5B6372"/>
                </a:solidFill>
                <a:latin typeface="Arial"/>
              </a:rPr>
              <a:t>Return to the previous screen — remembers where you came from.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Gallery1.Selected</a:t>
            </a:r>
          </a:p>
          <a:p>
            <a:pPr algn="l">
              <a:spcAft>
                <a:spcPts val="300"/>
              </a:spcAft>
            </a:pPr>
            <a:r>
              <a:rPr sz="1100" b="0">
                <a:solidFill>
                  <a:srgbClr val="5B6372"/>
                </a:solidFill>
                <a:latin typeface="Arial"/>
              </a:rPr>
              <a:t>The record the user picked — how a detail screen knows what to show.</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NewForm(Form1); Navigate(EditScreen)</a:t>
            </a:r>
          </a:p>
          <a:p>
            <a:pPr algn="l">
              <a:spcAft>
                <a:spcPts val="300"/>
              </a:spcAft>
            </a:pPr>
            <a:r>
              <a:rPr sz="1100" b="0">
                <a:solidFill>
                  <a:srgbClr val="5B6372"/>
                </a:solidFill>
                <a:latin typeface="Arial"/>
              </a:rPr>
              <a:t>Open a blank form to create a record.</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61</a:t>
            </a:r>
          </a:p>
        </p:txBody>
      </p:sp>
    </p:spTree>
  </p:cSld>
  <p:clrMapOvr>
    <a:masterClrMapping/>
  </p:clrMapOvr>
  <p:transition spd="fast"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07</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How to Build the User Interface in a Canvas App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Themes · branding · fonts and icons · personalisation · responsive layout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7</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62</a:t>
            </a:r>
          </a:p>
        </p:txBody>
      </p:sp>
    </p:spTree>
  </p:cSld>
  <p:clrMapOvr>
    <a:masterClrMapping/>
  </p:clrMapOvr>
  <p:transition spd="fast" advClick="1">
    <p:fade/>
  </p:transition>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7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a UI People Can Actually Use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Theme first, then override</a:t>
            </a:r>
          </a:p>
          <a:p>
            <a:pPr algn="l">
              <a:spcAft>
                <a:spcPts val="300"/>
              </a:spcAft>
            </a:pPr>
            <a:r>
              <a:rPr sz="1200" b="0">
                <a:solidFill>
                  <a:srgbClr val="5B6372"/>
                </a:solidFill>
                <a:latin typeface="Arial"/>
              </a:rPr>
              <a:t>Settings › Theme restyles every control at once. Override individual controls afterwards.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Font</a:t>
            </a:r>
          </a:p>
          <a:p>
            <a:pPr algn="l">
              <a:spcAft>
                <a:spcPts val="300"/>
              </a:spcAft>
            </a:pPr>
            <a:r>
              <a:rPr sz="1200" b="0">
                <a:solidFill>
                  <a:srgbClr val="5B6372"/>
                </a:solidFill>
                <a:latin typeface="Arial"/>
              </a:rPr>
              <a:t>Available on any control that displays text — 14 built-in fonts, or type any font name.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Icons over labels</a:t>
            </a:r>
          </a:p>
          <a:p>
            <a:pPr algn="l">
              <a:spcAft>
                <a:spcPts val="300"/>
              </a:spcAft>
            </a:pPr>
            <a:r>
              <a:rPr sz="1200" b="0">
                <a:solidFill>
                  <a:srgbClr val="5B6372"/>
                </a:solidFill>
                <a:latin typeface="Arial"/>
              </a:rPr>
              <a:t>An icon needs no text and fits where a label will not — the floppy disk for Save, the arrow for Back.</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Colour with meaning</a:t>
            </a:r>
          </a:p>
          <a:p>
            <a:pPr algn="l">
              <a:spcAft>
                <a:spcPts val="300"/>
              </a:spcAft>
            </a:pPr>
            <a:r>
              <a:rPr sz="1200" b="0">
                <a:solidFill>
                  <a:srgbClr val="5B6372"/>
                </a:solidFill>
                <a:latin typeface="Arial"/>
              </a:rPr>
              <a:t>Use colour to signal state (Confirmed / Declined), not decoration.</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Personalise</a:t>
            </a:r>
          </a:p>
          <a:p>
            <a:pPr algn="l">
              <a:spcAft>
                <a:spcPts val="300"/>
              </a:spcAft>
            </a:pPr>
            <a:r>
              <a:rPr sz="1200" b="0">
                <a:solidFill>
                  <a:srgbClr val="5B6372"/>
                </a:solidFill>
                <a:latin typeface="Arial"/>
              </a:rPr>
              <a:t>User().FullName and Office365Users.UserPhotoV2() greet the signed-in person.</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Design for the target</a:t>
            </a:r>
          </a:p>
          <a:p>
            <a:pPr algn="l">
              <a:spcAft>
                <a:spcPts val="300"/>
              </a:spcAft>
            </a:pPr>
            <a:r>
              <a:rPr sz="1200" b="0">
                <a:solidFill>
                  <a:srgbClr val="5B6372"/>
                </a:solidFill>
                <a:latin typeface="Arial"/>
              </a:rPr>
              <a:t>Tablet and phone layouts differ. Set X/Y and Width as formulas so the layout holds.</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63</a:t>
            </a:r>
          </a:p>
        </p:txBody>
      </p:sp>
    </p:spTree>
  </p:cSld>
  <p:clrMapOvr>
    <a:masterClrMapping/>
  </p:clrMapOvr>
  <p:transition spd="fast" advClick="1">
    <p:fade/>
  </p:transition>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08</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Work with External Data in a Power Apps Canvas App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Connectors · SharePoint · collections · Patch · delegation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8</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64</a:t>
            </a:r>
          </a:p>
        </p:txBody>
      </p:sp>
    </p:spTree>
  </p:cSld>
  <p:clrMapOvr>
    <a:masterClrMapping/>
  </p:clrMapOvr>
  <p:transition spd="fast" advClick="1">
    <p:fade/>
  </p:transition>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8 · CONNECTORS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Connectors Are the Middleware (TSC A3)</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Excel Online (Business)</a:t>
            </a:r>
          </a:p>
          <a:p>
            <a:pPr algn="l">
              <a:spcAft>
                <a:spcPts val="300"/>
              </a:spcAft>
            </a:pPr>
            <a:r>
              <a:rPr sz="1200" b="0">
                <a:solidFill>
                  <a:srgbClr val="5B6372"/>
                </a:solidFill>
                <a:latin typeface="Arial"/>
              </a:rPr>
              <a:t>Binds to a NAMED TABLE inside a workbook in OneDrive. Lab 5.</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SharePoint</a:t>
            </a:r>
          </a:p>
          <a:p>
            <a:pPr algn="l">
              <a:spcAft>
                <a:spcPts val="300"/>
              </a:spcAft>
            </a:pPr>
            <a:r>
              <a:rPr sz="1200" b="0">
                <a:solidFill>
                  <a:srgbClr val="5B6372"/>
                </a:solidFill>
                <a:latin typeface="Arial"/>
              </a:rPr>
              <a:t>Lists behave like tables; choice columns need {Value: "…"}. Lab 9.</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Dataverse</a:t>
            </a:r>
          </a:p>
          <a:p>
            <a:pPr algn="l">
              <a:spcAft>
                <a:spcPts val="300"/>
              </a:spcAft>
            </a:pPr>
            <a:r>
              <a:rPr sz="1200" b="0">
                <a:solidFill>
                  <a:srgbClr val="5B6372"/>
                </a:solidFill>
                <a:latin typeface="Arial"/>
              </a:rPr>
              <a:t>The native store — relationships, choices, security roles. Labs 6, 7, 10.</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Office 365 Users</a:t>
            </a:r>
          </a:p>
          <a:p>
            <a:pPr algn="l">
              <a:spcAft>
                <a:spcPts val="300"/>
              </a:spcAft>
            </a:pPr>
            <a:r>
              <a:rPr sz="1200" b="0">
                <a:solidFill>
                  <a:srgbClr val="5B6372"/>
                </a:solidFill>
                <a:latin typeface="Arial"/>
              </a:rPr>
              <a:t>Profile, photo and manager of the signed-in user. Lab 8.</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SQL Server (premium)</a:t>
            </a:r>
          </a:p>
          <a:p>
            <a:pPr algn="l">
              <a:spcAft>
                <a:spcPts val="300"/>
              </a:spcAft>
            </a:pPr>
            <a:r>
              <a:rPr sz="1200" b="0">
                <a:solidFill>
                  <a:srgbClr val="5B6372"/>
                </a:solidFill>
                <a:latin typeface="Arial"/>
              </a:rPr>
              <a:t>Direct table access — check the licence before you design on it.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Custom connector / HTTP</a:t>
            </a:r>
          </a:p>
          <a:p>
            <a:pPr algn="l">
              <a:spcAft>
                <a:spcPts val="300"/>
              </a:spcAft>
            </a:pPr>
            <a:r>
              <a:rPr sz="1200" b="0">
                <a:solidFill>
                  <a:srgbClr val="5B6372"/>
                </a:solidFill>
                <a:latin typeface="Arial"/>
              </a:rPr>
              <a:t>When no standard connector exists — the TSC A4 API-level path.</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65</a:t>
            </a:r>
          </a:p>
        </p:txBody>
      </p:sp>
    </p:spTree>
  </p:cSld>
  <p:clrMapOvr>
    <a:masterClrMapping/>
  </p:clrMapOvr>
  <p:transition spd="fast" advClick="1">
    <p:fade/>
  </p:transition>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8 · TSC A7 · PERFORMANCE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Delegation — The Silent Failure You Must Recognise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elegation.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The blue warning. The formula cannot be delegated, so only the first 500 rows are processed — locally.</a:t>
            </a:r>
          </a:p>
        </p:txBody>
      </p:sp>
      <p:sp>
        <p:nvSpPr>
          <p:cNvPr id="13" name="Oval 12"/>
          <p:cNvSpPr/>
          <p:nvPr/>
        </p:nvSpPr>
        <p:spPr>
          <a:xfrm>
            <a:off x="8805672" y="3730752"/>
            <a:ext cx="274320" cy="27432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685032"/>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Raising the data row limit does NOT fix it. It only enlarges the local window. Fix the formula instead.</a:t>
            </a:r>
          </a:p>
        </p:txBody>
      </p:sp>
      <p:sp>
        <p:nvSpPr>
          <p:cNvPr id="16" name="Rectangle 15"/>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760720"/>
            <a:ext cx="100584" cy="56692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A non-delegable formula does not error. It silently returns wrong answers as soon as the table outgrows the cap — the classic TSC A7 performance issue.</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66</a:t>
            </a:r>
          </a:p>
        </p:txBody>
      </p:sp>
    </p:spTree>
  </p:cSld>
  <p:clrMapOvr>
    <a:masterClrMapping/>
  </p:clrMapOvr>
  <p:transition spd="fast" advClick="1">
    <p:fade/>
  </p:transition>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8 · WRITING DATA</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Writing Data — Patch, SubmitForm and Collections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37360"/>
            <a:ext cx="10634472" cy="420624"/>
          </a:xfrm>
          <a:prstGeom prst="rect">
            <a:avLst/>
          </a:prstGeom>
          <a:noFill/>
        </p:spPr>
        <p:txBody>
          <a:bodyPr wrap="square" anchor="t">
            <a:spAutoFit/>
          </a:bodyPr>
          <a:lstStyle/>
          <a:p>
            <a:pPr algn="l">
              <a:spcAft>
                <a:spcPts val="400"/>
              </a:spcAft>
            </a:pPr>
            <a:r>
              <a:rPr sz="1500" b="0">
                <a:solidFill>
                  <a:srgbClr val="5B6372"/>
                </a:solidFill>
                <a:latin typeface="Arial"/>
              </a:rPr>
              <a:t>Three ways to write. Choose by how much control you need over the record and the moment of the write.</a:t>
            </a:r>
          </a:p>
        </p:txBody>
      </p:sp>
      <p:sp>
        <p:nvSpPr>
          <p:cNvPr id="8" name="Rectangle 7"/>
          <p:cNvSpPr/>
          <p:nvPr/>
        </p:nvSpPr>
        <p:spPr>
          <a:xfrm>
            <a:off x="777240" y="2286000"/>
            <a:ext cx="5943600" cy="3794760"/>
          </a:xfrm>
          <a:prstGeom prst="rect">
            <a:avLst/>
          </a:prstGeom>
          <a:solidFill>
            <a:srgbClr val="0B1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395728"/>
            <a:ext cx="5541264" cy="3566160"/>
          </a:xfrm>
          <a:prstGeom prst="rect">
            <a:avLst/>
          </a:prstGeom>
          <a:noFill/>
        </p:spPr>
        <p:txBody>
          <a:bodyPr wrap="square">
            <a:spAutoFit/>
          </a:bodyPr>
          <a:lstStyle/>
          <a:p>
            <a:pPr>
              <a:spcAft>
                <a:spcPts val="200"/>
              </a:spcAft>
            </a:pPr>
            <a:r>
              <a:rPr sz="1100">
                <a:solidFill>
                  <a:srgbClr val="9CDCFE"/>
                </a:solidFill>
                <a:latin typeface="Consolas"/>
              </a:rPr>
              <a:t>// 1 — Patch: write specific fields</a:t>
            </a:r>
          </a:p>
          <a:p>
            <a:pPr>
              <a:spcAft>
                <a:spcPts val="200"/>
              </a:spcAft>
            </a:pPr>
            <a:r>
              <a:rPr sz="1100">
                <a:solidFill>
                  <a:srgbClr val="9CDCFE"/>
                </a:solidFill>
                <a:latin typeface="Consolas"/>
              </a:rPr>
              <a:t>Patch('Kennel Bookings',</a:t>
            </a:r>
          </a:p>
          <a:p>
            <a:pPr>
              <a:spcAft>
                <a:spcPts val="200"/>
              </a:spcAft>
            </a:pPr>
            <a:r>
              <a:rPr sz="1100">
                <a:solidFill>
                  <a:srgbClr val="9CDCFE"/>
                </a:solidFill>
                <a:latin typeface="Consolas"/>
              </a:rPr>
              <a:t>      ThisItem,</a:t>
            </a:r>
          </a:p>
          <a:p>
            <a:pPr>
              <a:spcAft>
                <a:spcPts val="200"/>
              </a:spcAft>
            </a:pPr>
            <a:r>
              <a:rPr sz="1100">
                <a:solidFill>
                  <a:srgbClr val="9CDCFE"/>
                </a:solidFill>
                <a:latin typeface="Consolas"/>
              </a:rPr>
              <a:t>      {Status: {Value: "Confirmed"}})</a:t>
            </a:r>
          </a:p>
          <a:p>
            <a:pPr>
              <a:spcAft>
                <a:spcPts val="200"/>
              </a:spcAft>
            </a:pPr>
            <a:r>
              <a:rPr sz="1100">
                <a:solidFill>
                  <a:srgbClr val="9CDCFE"/>
                </a:solidFill>
                <a:latin typeface="Consolas"/>
              </a:rPr>
              <a:t/>
            </a:r>
          </a:p>
          <a:p>
            <a:pPr>
              <a:spcAft>
                <a:spcPts val="200"/>
              </a:spcAft>
            </a:pPr>
            <a:r>
              <a:rPr sz="1100">
                <a:solidFill>
                  <a:srgbClr val="9CDCFE"/>
                </a:solidFill>
                <a:latin typeface="Consolas"/>
              </a:rPr>
              <a:t>// 2 — Patch: create a NEW record</a:t>
            </a:r>
          </a:p>
          <a:p>
            <a:pPr>
              <a:spcAft>
                <a:spcPts val="200"/>
              </a:spcAft>
            </a:pPr>
            <a:r>
              <a:rPr sz="1100">
                <a:solidFill>
                  <a:srgbClr val="9CDCFE"/>
                </a:solidFill>
                <a:latin typeface="Consolas"/>
              </a:rPr>
              <a:t>Patch('Booking Requests',</a:t>
            </a:r>
          </a:p>
          <a:p>
            <a:pPr>
              <a:spcAft>
                <a:spcPts val="200"/>
              </a:spcAft>
            </a:pPr>
            <a:r>
              <a:rPr sz="1100">
                <a:solidFill>
                  <a:srgbClr val="9CDCFE"/>
                </a:solidFill>
                <a:latin typeface="Consolas"/>
              </a:rPr>
              <a:t>      Defaults('Booking Requests'),</a:t>
            </a:r>
          </a:p>
          <a:p>
            <a:pPr>
              <a:spcAft>
                <a:spcPts val="200"/>
              </a:spcAft>
            </a:pPr>
            <a:r>
              <a:rPr sz="1100">
                <a:solidFill>
                  <a:srgbClr val="9CDCFE"/>
                </a:solidFill>
                <a:latin typeface="Consolas"/>
              </a:rPr>
              <a:t>      {'Pet Name': txtPet.Text,</a:t>
            </a:r>
          </a:p>
          <a:p>
            <a:pPr>
              <a:spcAft>
                <a:spcPts val="200"/>
              </a:spcAft>
            </a:pPr>
            <a:r>
              <a:rPr sz="1100">
                <a:solidFill>
                  <a:srgbClr val="9CDCFE"/>
                </a:solidFill>
                <a:latin typeface="Consolas"/>
              </a:rPr>
              <a:t>       'Owner Name': txtOwner.Text})</a:t>
            </a:r>
          </a:p>
          <a:p>
            <a:pPr>
              <a:spcAft>
                <a:spcPts val="200"/>
              </a:spcAft>
            </a:pPr>
            <a:r>
              <a:rPr sz="1100">
                <a:solidFill>
                  <a:srgbClr val="9CDCFE"/>
                </a:solidFill>
                <a:latin typeface="Consolas"/>
              </a:rPr>
              <a:t/>
            </a:r>
          </a:p>
          <a:p>
            <a:pPr>
              <a:spcAft>
                <a:spcPts val="200"/>
              </a:spcAft>
            </a:pPr>
            <a:r>
              <a:rPr sz="1100">
                <a:solidFill>
                  <a:srgbClr val="9CDCFE"/>
                </a:solidFill>
                <a:latin typeface="Consolas"/>
              </a:rPr>
              <a:t>// 3 — SubmitForm: commit a whole Form</a:t>
            </a:r>
          </a:p>
          <a:p>
            <a:pPr>
              <a:spcAft>
                <a:spcPts val="200"/>
              </a:spcAft>
            </a:pPr>
            <a:r>
              <a:rPr sz="1100">
                <a:solidFill>
                  <a:srgbClr val="9CDCFE"/>
                </a:solidFill>
                <a:latin typeface="Consolas"/>
              </a:rPr>
              <a:t>SubmitForm(Form2)</a:t>
            </a:r>
          </a:p>
          <a:p>
            <a:pPr>
              <a:spcAft>
                <a:spcPts val="200"/>
              </a:spcAft>
            </a:pPr>
            <a:r>
              <a:rPr sz="1100">
                <a:solidFill>
                  <a:srgbClr val="9CDCFE"/>
                </a:solidFill>
                <a:latin typeface="Consolas"/>
              </a:rPr>
              <a:t/>
            </a:r>
          </a:p>
          <a:p>
            <a:pPr>
              <a:spcAft>
                <a:spcPts val="200"/>
              </a:spcAft>
            </a:pPr>
            <a:r>
              <a:rPr sz="1100">
                <a:solidFill>
                  <a:srgbClr val="9CDCFE"/>
                </a:solidFill>
                <a:latin typeface="Consolas"/>
              </a:rPr>
              <a:t>// Load rows into memory (client-side)</a:t>
            </a:r>
          </a:p>
          <a:p>
            <a:pPr>
              <a:spcAft>
                <a:spcPts val="200"/>
              </a:spcAft>
            </a:pPr>
            <a:r>
              <a:rPr sz="1100">
                <a:solidFill>
                  <a:srgbClr val="9CDCFE"/>
                </a:solidFill>
                <a:latin typeface="Consolas"/>
              </a:rPr>
              <a:t>ClearCollect(colBookings,</a:t>
            </a:r>
          </a:p>
          <a:p>
            <a:pPr>
              <a:spcAft>
                <a:spcPts val="200"/>
              </a:spcAft>
            </a:pPr>
            <a:r>
              <a:rPr sz="1100">
                <a:solidFill>
                  <a:srgbClr val="9CDCFE"/>
                </a:solidFill>
                <a:latin typeface="Consolas"/>
              </a:rPr>
              <a:t>             'Kennel Bookings')</a:t>
            </a:r>
          </a:p>
        </p:txBody>
      </p:sp>
      <p:sp>
        <p:nvSpPr>
          <p:cNvPr id="10" name="Rectangle 9"/>
          <p:cNvSpPr/>
          <p:nvPr/>
        </p:nvSpPr>
        <p:spPr>
          <a:xfrm>
            <a:off x="6995160" y="228600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95160" y="2286000"/>
            <a:ext cx="82296"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32904" y="2377440"/>
            <a:ext cx="4005072" cy="292608"/>
          </a:xfrm>
          <a:prstGeom prst="rect">
            <a:avLst/>
          </a:prstGeom>
          <a:noFill/>
        </p:spPr>
        <p:txBody>
          <a:bodyPr wrap="square" anchor="t">
            <a:spAutoFit/>
          </a:bodyPr>
          <a:lstStyle/>
          <a:p>
            <a:pPr algn="l">
              <a:spcAft>
                <a:spcPts val="400"/>
              </a:spcAft>
            </a:pPr>
            <a:r>
              <a:rPr sz="1200" b="1">
                <a:solidFill>
                  <a:srgbClr val="1F6FEB"/>
                </a:solidFill>
                <a:latin typeface="Arial"/>
              </a:rPr>
              <a:t>Patch updates</a:t>
            </a:r>
          </a:p>
        </p:txBody>
      </p:sp>
      <p:sp>
        <p:nvSpPr>
          <p:cNvPr id="13" name="TextBox 12"/>
          <p:cNvSpPr txBox="1"/>
          <p:nvPr/>
        </p:nvSpPr>
        <p:spPr>
          <a:xfrm>
            <a:off x="7232904" y="267004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Give it the data source, the record and only the fields to change.</a:t>
            </a:r>
          </a:p>
        </p:txBody>
      </p:sp>
      <p:sp>
        <p:nvSpPr>
          <p:cNvPr id="14" name="Rectangle 13"/>
          <p:cNvSpPr/>
          <p:nvPr/>
        </p:nvSpPr>
        <p:spPr>
          <a:xfrm>
            <a:off x="6995160" y="324612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995160" y="3246120"/>
            <a:ext cx="82296"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32904" y="3337560"/>
            <a:ext cx="4005072" cy="292608"/>
          </a:xfrm>
          <a:prstGeom prst="rect">
            <a:avLst/>
          </a:prstGeom>
          <a:noFill/>
        </p:spPr>
        <p:txBody>
          <a:bodyPr wrap="square" anchor="t">
            <a:spAutoFit/>
          </a:bodyPr>
          <a:lstStyle/>
          <a:p>
            <a:pPr algn="l">
              <a:spcAft>
                <a:spcPts val="400"/>
              </a:spcAft>
            </a:pPr>
            <a:r>
              <a:rPr sz="1200" b="1">
                <a:solidFill>
                  <a:srgbClr val="10B981"/>
                </a:solidFill>
                <a:latin typeface="Arial"/>
              </a:rPr>
              <a:t>Defaults() creates</a:t>
            </a:r>
          </a:p>
        </p:txBody>
      </p:sp>
      <p:sp>
        <p:nvSpPr>
          <p:cNvPr id="17" name="TextBox 16"/>
          <p:cNvSpPr txBox="1"/>
          <p:nvPr/>
        </p:nvSpPr>
        <p:spPr>
          <a:xfrm>
            <a:off x="7232904" y="363016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Patching over Defaults() inserts a new row instead of updating one.</a:t>
            </a:r>
          </a:p>
        </p:txBody>
      </p:sp>
      <p:sp>
        <p:nvSpPr>
          <p:cNvPr id="18" name="Rectangle 17"/>
          <p:cNvSpPr/>
          <p:nvPr/>
        </p:nvSpPr>
        <p:spPr>
          <a:xfrm>
            <a:off x="6995160" y="420624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5160" y="4206240"/>
            <a:ext cx="82296"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32904" y="4297680"/>
            <a:ext cx="4005072" cy="292608"/>
          </a:xfrm>
          <a:prstGeom prst="rect">
            <a:avLst/>
          </a:prstGeom>
          <a:noFill/>
        </p:spPr>
        <p:txBody>
          <a:bodyPr wrap="square" anchor="t">
            <a:spAutoFit/>
          </a:bodyPr>
          <a:lstStyle/>
          <a:p>
            <a:pPr algn="l">
              <a:spcAft>
                <a:spcPts val="400"/>
              </a:spcAft>
            </a:pPr>
            <a:r>
              <a:rPr sz="1200" b="1">
                <a:solidFill>
                  <a:srgbClr val="7C3AED"/>
                </a:solidFill>
                <a:latin typeface="Arial"/>
              </a:rPr>
              <a:t>SubmitForm commits</a:t>
            </a:r>
          </a:p>
        </p:txBody>
      </p:sp>
      <p:sp>
        <p:nvSpPr>
          <p:cNvPr id="21" name="TextBox 20"/>
          <p:cNvSpPr txBox="1"/>
          <p:nvPr/>
        </p:nvSpPr>
        <p:spPr>
          <a:xfrm>
            <a:off x="7232904" y="459028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The Form validates required fields first, then writes — use OnSuccess to navigate.</a:t>
            </a:r>
          </a:p>
        </p:txBody>
      </p:sp>
      <p:sp>
        <p:nvSpPr>
          <p:cNvPr id="22" name="Rectangle 21"/>
          <p:cNvSpPr/>
          <p:nvPr/>
        </p:nvSpPr>
        <p:spPr>
          <a:xfrm>
            <a:off x="6995160" y="5166360"/>
            <a:ext cx="441655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5160" y="5166360"/>
            <a:ext cx="82296"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32904" y="5257800"/>
            <a:ext cx="4005072" cy="292608"/>
          </a:xfrm>
          <a:prstGeom prst="rect">
            <a:avLst/>
          </a:prstGeom>
          <a:noFill/>
        </p:spPr>
        <p:txBody>
          <a:bodyPr wrap="square" anchor="t">
            <a:spAutoFit/>
          </a:bodyPr>
          <a:lstStyle/>
          <a:p>
            <a:pPr algn="l">
              <a:spcAft>
                <a:spcPts val="400"/>
              </a:spcAft>
            </a:pPr>
            <a:r>
              <a:rPr sz="1200" b="1">
                <a:solidFill>
                  <a:srgbClr val="F59E0B"/>
                </a:solidFill>
                <a:latin typeface="Arial"/>
              </a:rPr>
              <a:t>ClearCollect caches</a:t>
            </a:r>
          </a:p>
        </p:txBody>
      </p:sp>
      <p:sp>
        <p:nvSpPr>
          <p:cNvPr id="25" name="TextBox 24"/>
          <p:cNvSpPr txBox="1"/>
          <p:nvPr/>
        </p:nvSpPr>
        <p:spPr>
          <a:xfrm>
            <a:off x="7232904" y="5550408"/>
            <a:ext cx="4005072" cy="475488"/>
          </a:xfrm>
          <a:prstGeom prst="rect">
            <a:avLst/>
          </a:prstGeom>
          <a:noFill/>
        </p:spPr>
        <p:txBody>
          <a:bodyPr wrap="square" anchor="t">
            <a:spAutoFit/>
          </a:bodyPr>
          <a:lstStyle/>
          <a:p>
            <a:pPr algn="l">
              <a:spcAft>
                <a:spcPts val="400"/>
              </a:spcAft>
            </a:pPr>
            <a:r>
              <a:rPr sz="1100" b="0">
                <a:solidFill>
                  <a:srgbClr val="161B26"/>
                </a:solidFill>
                <a:latin typeface="Arial"/>
              </a:rPr>
              <a:t>A collection is a client-side table. It does not write back until you Patch it.</a:t>
            </a:r>
          </a:p>
        </p:txBody>
      </p:sp>
      <p:sp>
        <p:nvSpPr>
          <p:cNvPr id="26" name="TextBox 25"/>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7" name="TextBox 26"/>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8" name="TextBox 2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67</a:t>
            </a:r>
          </a:p>
        </p:txBody>
      </p:sp>
    </p:spTree>
  </p:cSld>
  <p:clrMapOvr>
    <a:masterClrMapping/>
  </p:clrMapOvr>
  <p:transition spd="fast" advClick="1">
    <p:fade/>
  </p:transition>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09</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Write Data in a Power Apps Canvas App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Form controls · SubmitForm · validation · errors · LastSubmit</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9</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68</a:t>
            </a:r>
          </a:p>
        </p:txBody>
      </p:sp>
    </p:spTree>
  </p:cSld>
  <p:clrMapOvr>
    <a:masterClrMapping/>
  </p:clrMapOvr>
  <p:transition spd="fast" advClick="1">
    <p:fade/>
  </p:transition>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9 · FORMS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Form Control — Modes and What Each One Does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Mode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Set by</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the user sees</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Commit with</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FormMode.View</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ViewForm(Form1)</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Read-only display of the record</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 (nothing to commit)</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FormMode.Edit</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EditForm(Form1)</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Editable fields for an EXISTING record</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SubmitForm(Form1)</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FormMode.New</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NewForm(Form1)</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Blank fields for a NEW record</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SubmitForm(Form1)</a:t>
            </a:r>
          </a:p>
        </p:txBody>
      </p:sp>
      <p:sp>
        <p:nvSpPr>
          <p:cNvPr id="39" name="Rectangle 38"/>
          <p:cNvSpPr/>
          <p:nvPr/>
        </p:nvSpPr>
        <p:spPr>
          <a:xfrm>
            <a:off x="777240" y="4599432"/>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77240" y="4599432"/>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51560" y="4709160"/>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A Form's Item property says WHICH record; its Mode says what the user may do with it. Set Mode with the function, then let OnSuccess navigate away and OnFailure show Form1.Error.</a:t>
            </a:r>
          </a:p>
        </p:txBody>
      </p:sp>
      <p:sp>
        <p:nvSpPr>
          <p:cNvPr id="42" name="TextBox 4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43" name="TextBox 4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44" name="TextBox 4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69</a:t>
            </a:r>
          </a:p>
        </p:txBody>
      </p:sp>
    </p:spTree>
  </p:cSld>
  <p:clrMapOvr>
    <a:masterClrMapping/>
  </p:clrMapOvr>
  <p:transition spd="fast" advClick="1">
    <p:fade/>
  </p:transition>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9 ·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Verifying a Write Actually Happened (TSC A5)</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Form1.Error</a:t>
            </a:r>
          </a:p>
          <a:p>
            <a:pPr algn="l">
              <a:spcAft>
                <a:spcPts val="300"/>
              </a:spcAft>
            </a:pPr>
            <a:r>
              <a:rPr sz="1200" b="0">
                <a:solidFill>
                  <a:srgbClr val="5B6372"/>
                </a:solidFill>
                <a:latin typeface="Arial"/>
              </a:rPr>
              <a:t>The error message text from the last failed submit — put it in a Label.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Form1.LastSubmit</a:t>
            </a:r>
          </a:p>
          <a:p>
            <a:pPr algn="l">
              <a:spcAft>
                <a:spcPts val="300"/>
              </a:spcAft>
            </a:pPr>
            <a:r>
              <a:rPr sz="1200" b="0">
                <a:solidFill>
                  <a:srgbClr val="5B6372"/>
                </a:solidFill>
                <a:latin typeface="Arial"/>
              </a:rPr>
              <a:t>The whole record as written, including the server-generated ID.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OnSuccess</a:t>
            </a:r>
          </a:p>
          <a:p>
            <a:pPr algn="l">
              <a:spcAft>
                <a:spcPts val="300"/>
              </a:spcAft>
            </a:pPr>
            <a:r>
              <a:rPr sz="1200" b="0">
                <a:solidFill>
                  <a:srgbClr val="5B6372"/>
                </a:solidFill>
                <a:latin typeface="Arial"/>
              </a:rPr>
              <a:t>Fires only when the write succeeded — the right place to Back() or Notify().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OnFailure</a:t>
            </a:r>
          </a:p>
          <a:p>
            <a:pPr algn="l">
              <a:spcAft>
                <a:spcPts val="300"/>
              </a:spcAft>
            </a:pPr>
            <a:r>
              <a:rPr sz="1200" b="0">
                <a:solidFill>
                  <a:srgbClr val="5B6372"/>
                </a:solidFill>
                <a:latin typeface="Arial"/>
              </a:rPr>
              <a:t>Fires when it did not — show the error rather than failing silently.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Check the source</a:t>
            </a:r>
          </a:p>
          <a:p>
            <a:pPr algn="l">
              <a:spcAft>
                <a:spcPts val="300"/>
              </a:spcAft>
            </a:pPr>
            <a:r>
              <a:rPr sz="1200" b="0">
                <a:solidFill>
                  <a:srgbClr val="5B6372"/>
                </a:solidFill>
                <a:latin typeface="Arial"/>
              </a:rPr>
              <a:t>Open the Dataverse table or SharePoint list and confirm the row changed.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Required columns</a:t>
            </a:r>
          </a:p>
          <a:p>
            <a:pPr algn="l">
              <a:spcAft>
                <a:spcPts val="300"/>
              </a:spcAft>
            </a:pPr>
            <a:r>
              <a:rPr sz="1200" b="0">
                <a:solidFill>
                  <a:srgbClr val="5B6372"/>
                </a:solidFill>
                <a:latin typeface="Arial"/>
              </a:rPr>
              <a:t>A Business-required column blocks the submit until it has a value.</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70</a:t>
            </a:r>
          </a:p>
        </p:txBody>
      </p:sp>
    </p:spTree>
  </p:cSld>
  <p:clrMapOvr>
    <a:masterClrMapping/>
  </p:clrMapOvr>
  <p:transition spd="fast" advClick="1">
    <p:fade/>
  </p:transition>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10</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Publish, Share and Maintain a Canvas App</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Publishing · sharing and permissions · versions · export · PCF components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10</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71</a:t>
            </a:r>
          </a:p>
        </p:txBody>
      </p:sp>
    </p:spTree>
  </p:cSld>
  <p:clrMapOvr>
    <a:masterClrMapping/>
  </p:clrMapOvr>
  <p:transition spd="fast" advClick="1">
    <p:fade/>
  </p:transition>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10 · LIFECYCLE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From Maker to Governed Asset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Save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new version is created</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Publish</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that version goes live</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Share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grant Can use / Co-owner</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Data permission</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share the SOURCE too</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Monitor &amp; restore</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versions, Monitor, export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SHARING THE APP IS NOT SHARING THE DATA</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 user with Can use on the app but no Dataverse security role opens the app and sees an error. This is the most common support call after a launch — and Lab 12 makes you reproduce it deliberately.</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10 · TSC A4 / A8</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Extending the Platform with a Code Component (PCF)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cf_harness.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The rendered control in the local test harness — npm start watch, before any tenant is involved.</a:t>
            </a:r>
          </a:p>
        </p:txBody>
      </p:sp>
      <p:sp>
        <p:nvSpPr>
          <p:cNvPr id="13" name="Oval 12"/>
          <p:cNvSpPr/>
          <p:nvPr/>
        </p:nvSpPr>
        <p:spPr>
          <a:xfrm>
            <a:off x="8805672" y="3730752"/>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685032"/>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The bound property declared in the manifest. Its type must match the column you bind it to.</a:t>
            </a:r>
          </a:p>
        </p:txBody>
      </p:sp>
      <p:sp>
        <p:nvSpPr>
          <p:cNvPr id="16" name="Rectangle 15"/>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760720"/>
            <a:ext cx="100584"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The Power Apps Component Framework is the API-level extension point: TypeScript in, a solution package out, usable in canvas and model-driven apps. Built in Lab 11.</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73</a:t>
            </a:r>
          </a:p>
        </p:txBody>
      </p:sp>
    </p:spTree>
  </p:cSld>
  <p:clrMapOvr>
    <a:masterClrMapping/>
  </p:clrMapOvr>
  <p:transition spd="fast" advClick="1">
    <p:fade/>
  </p:transition>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Hands-On Labs — Create and Manage Canvas Apps with Power Apps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5–7</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a Canvas App from Excel Data</a:t>
            </a:r>
          </a:p>
          <a:p>
            <a:pPr>
              <a:spcAft>
                <a:spcPts val="900"/>
              </a:spcAft>
            </a:pPr>
            <a:r>
              <a:rPr sz="1400" b="0">
                <a:solidFill>
                  <a:srgbClr val="161B26"/>
                </a:solidFill>
                <a:latin typeface="Arial"/>
              </a:rPr>
              <a:t>•  Build the Dataverse Data Model</a:t>
            </a:r>
          </a:p>
          <a:p>
            <a:pPr>
              <a:spcAft>
                <a:spcPts val="900"/>
              </a:spcAft>
            </a:pPr>
            <a:r>
              <a:rPr sz="1400" b="0">
                <a:solidFill>
                  <a:srgbClr val="161B26"/>
                </a:solidFill>
                <a:latin typeface="Arial"/>
              </a:rPr>
              <a:t>•  Create a Canvas App over Dataverse</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8–10</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Build and Theme the User Interface</a:t>
            </a:r>
          </a:p>
          <a:p>
            <a:pPr>
              <a:spcAft>
                <a:spcPts val="900"/>
              </a:spcAft>
            </a:pPr>
            <a:r>
              <a:rPr sz="1400" b="0">
                <a:solidFill>
                  <a:srgbClr val="161B26"/>
                </a:solidFill>
                <a:latin typeface="Arial"/>
              </a:rPr>
              <a:t>•  Work with External Data — SharePoint, Collections and Patch</a:t>
            </a:r>
          </a:p>
          <a:p>
            <a:pPr>
              <a:spcAft>
                <a:spcPts val="900"/>
              </a:spcAft>
            </a:pPr>
            <a:r>
              <a:rPr sz="1400" b="0">
                <a:solidFill>
                  <a:srgbClr val="161B26"/>
                </a:solidFill>
                <a:latin typeface="Arial"/>
              </a:rPr>
              <a:t>•  Write Data with Forms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11–12</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Extend the App with a Code Component (PCF)</a:t>
            </a:r>
          </a:p>
          <a:p>
            <a:pPr>
              <a:spcAft>
                <a:spcPts val="900"/>
              </a:spcAft>
            </a:pPr>
            <a:r>
              <a:rPr sz="1400" b="0">
                <a:solidFill>
                  <a:srgbClr val="161B26"/>
                </a:solidFill>
                <a:latin typeface="Arial"/>
              </a:rPr>
              <a:t>•  Publish, Share and Maintain the App</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74</a:t>
            </a:r>
          </a:p>
        </p:txBody>
      </p:sp>
    </p:spTree>
  </p:cSld>
  <p:clrMapOvr>
    <a:masterClrMapping/>
  </p:clrMapOvr>
  <p:transition spd="fast" advClick="1">
    <p:fade/>
  </p:transition>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a Canvas App from Excel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 Utilise a connector as middleware to integrate Excel data into an application.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Upload an Excel workbook to OneDrive for Business, connect Power Apps to its table through the Excel Online (Business) connector, and generate a three-screen canvas app from that data.</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three-screen canvas app (browse, detail, edit) over an Excel table in OneDrive.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Excel Online (Business), OneDrive for Business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app previews with data from Excel, and an edit made in the app appears in the Excel workbook in OneDrive.</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75</a:t>
            </a:r>
          </a:p>
        </p:txBody>
      </p:sp>
    </p:spTree>
  </p:cSld>
  <p:clrMapOvr>
    <a:masterClrMapping/>
  </p:clrMapOvr>
  <p:transition spd="fast" advClick="1">
    <p:fade/>
  </p:transition>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Upload to OneDrive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named Excel table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Start from data</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Excel connector</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Select the table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inside the workbook</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Generate three screens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browse, detail, edit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Edit and verify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write reaches Excel</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 Utilise a connector as middleware to integrate Excel data into an application.</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a Canvas App from Excel Data</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app previews with data from Excel, and an edit made in the app appears in the Excel workbook in OneDrive.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labs/lab-05/README.md.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77</a:t>
            </a:r>
          </a:p>
        </p:txBody>
      </p:sp>
    </p:spTree>
  </p:cSld>
  <p:clrMapOvr>
    <a:masterClrMapping/>
  </p:clrMapOvr>
  <p:transition spd="fast" advClick="1">
    <p:fade/>
  </p:transition>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the Dataverse Data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A1/A3 — Design tables, columns and a relationship as the integration point for apps and flows.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a Booking Request table in Dataverse with typed columns, then create a second table and join them with a lookup column so one row can reference another.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Two related Dataverse tables with a lookup relationship and seeded rows.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Microsoft Dataverse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Booking Request shows the imported rows, the Status choice renders as a dropdown, and the Kennel lookup resolves to a Kennel row.</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78</a:t>
            </a:r>
          </a:p>
        </p:txBody>
      </p:sp>
    </p:spTree>
  </p:cSld>
  <p:clrMapOvr>
    <a:masterClrMapping/>
  </p:clrMapOvr>
  <p:transition spd="fast" advClick="1">
    <p:fade/>
  </p:transition>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table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primary column first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typed columns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text, date, currency</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a Choice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an option set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a Lookup</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this IS the relationship</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Import the rows</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from mock-data</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A1/A3 — Design tables, columns and a relationship as the integration point for apps and flows.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79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the Dataverse Data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Booking Request shows the imported rows, the Status choice renders as a dropdown, and the Kennel lookup resolves to a Kennel row.</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labs/lab-06/README.md.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80</a:t>
            </a:r>
          </a:p>
        </p:txBody>
      </p:sp>
    </p:spTree>
  </p:cSld>
  <p:clrMapOvr>
    <a:masterClrMapping/>
  </p:clrMapOvr>
  <p:transition spd="fast" advClick="1">
    <p:fade/>
  </p:transition>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a Canvas App over Dataverse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 Bind a hand-built canvas app to Dataverse and format the data it displays.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a canvas app from blank, add Dataverse as a data source, lay out the main screen and add a gallery bound to the Booking Request table with formatted fields.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canvas app with a formatted, sorted gallery over the Booking Request table.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Microsoft Dataverse, Power Fx</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gallery lists the Dataverse rows sorted by drop-off date, with dates and currency correctly formatted.</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81</a:t>
            </a:r>
          </a:p>
        </p:txBody>
      </p:sp>
    </p:spTree>
  </p:cSld>
  <p:clrMapOvr>
    <a:masterClrMapping/>
  </p:clrMapOvr>
  <p:transition spd="fast" advClick="1">
    <p:fade/>
  </p:transition>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Blank canvas app</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tablet format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Dataverse</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data source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Insert a gallery</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bind Items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Sort and map fields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title and subtitle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Format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dates and currency</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 Bind a hand-built canvas app to Dataverse and format the data it displays.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82</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a Canvas App over Dataverse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gallery lists the Dataverse rows sorted by drop-off date, with dates and currency correctly formatted.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labs/lab-07/README.md.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83</a:t>
            </a:r>
          </a:p>
        </p:txBody>
      </p:sp>
    </p:spTree>
  </p:cSld>
  <p:clrMapOvr>
    <a:masterClrMapping/>
  </p:clrMapOvr>
  <p:transition spd="fast" advClick="1">
    <p:fade/>
  </p:transition>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and Theme the User Interface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A3/A6 — Build a consistent, branded UI and verify it renders correctly across screens.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Apply a theme to the app, brand individual controls, and personalise the screen with the signed-in user's details from the Office 365 Users connector.</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themed, branded canvas app that greets the signed-in user by name.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Power Fx, Office 365 Users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app opens themed and branded, and the header greets the signed-in user by name with their profile photo.</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84</a:t>
            </a:r>
          </a:p>
        </p:txBody>
      </p:sp>
    </p:spTree>
  </p:cSld>
  <p:clrMapOvr>
    <a:masterClrMapping/>
  </p:clrMapOvr>
  <p:transition spd="fast" advClick="1">
    <p:fade/>
  </p:transition>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Apply a theme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every control restyles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Override the header</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fill, font, colour</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an icon</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brand colour</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Office 365 Users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connector</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Personalise</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greet the signed-in user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A3/A6 — Build a consistent, branded UI and verify it renders correctly across screens.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and Theme the User Interface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app opens themed and branded, and the header greets the signed-in user by name with their profile photo.</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labs/lab-08/README.md.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86</a:t>
            </a:r>
          </a:p>
        </p:txBody>
      </p:sp>
    </p:spTree>
  </p:cSld>
  <p:clrMapOvr>
    <a:masterClrMapping/>
  </p:clrMapOvr>
  <p:transition spd="fast" advClick="1">
    <p:fade/>
  </p:transition>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Work with External Data — SharePoint, Collections and Patch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A3/A4 — Integrate a second data source and write to it through API-level functions.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a SharePoint list, add it to the app as a second data source, load data into an in-memory collection, and use Patch to write status changes back to the list.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canvas app reading and writing both Dataverse and a SharePoint list, using a collection and Patch.</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SharePoint Online, Power Fx, Office 365 Users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SharePoint list shows the status values changed by the Confirm and Decline buttons, and colBookings appears under Variables &gt; Collections.</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87</a:t>
            </a:r>
          </a:p>
        </p:txBody>
      </p:sp>
    </p:spTree>
  </p:cSld>
  <p:clrMapOvr>
    <a:masterClrMapping/>
  </p:clrMapOvr>
  <p:transition spd="fast" advClick="1">
    <p:fade/>
  </p:transition>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SharePoint list</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second source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it to the app</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 Add data</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Gallery over the list</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SortByColumns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Collect in memory</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ClearCollect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Patch the status</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write back</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A3/A4 — Integrate a second data source and write to it through API-level functions.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Work with External Data — SharePoint, Collections and Patch</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SharePoint list shows the status values changed by the Confirm and Decline buttons, and colBookings appears under Variables &gt; Collections.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labs/lab-09/README.md.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89</a:t>
            </a:r>
          </a:p>
        </p:txBody>
      </p:sp>
    </p:spTree>
  </p:cSld>
  <p:clrMapOvr>
    <a:masterClrMapping/>
  </p:clrMapOvr>
  <p:transition spd="fast" advClick="1">
    <p:fade/>
  </p:transition>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Data with 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A3/A5 — Use Form controls to display, edit and create records, and verify each write.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Add detail and edit screens, wire navigation between them, then use Display and Edit forms with SubmitForm and NewForm to read, update and create Dataverse records.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three-screen app with working display, edit, create and delete behaviour over Dataverse.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Microsoft Dataverse, Power Fx</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record created in the app appears in Dataverse, an edit updates the same row, and Delete removes it — verified in the table's Data tab.</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90</a:t>
            </a:r>
          </a:p>
        </p:txBody>
      </p:sp>
    </p:spTree>
  </p:cSld>
  <p:clrMapOvr>
    <a:masterClrMapping/>
  </p:clrMapOvr>
  <p:transition spd="fast" advClick="1">
    <p:fade/>
  </p:transition>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screens</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detail and edit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Wire navigation</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Navigate and Back</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Display form</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one record, read-only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Edit form</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SubmitForm on save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and delete</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NewForm and Remove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A3/A5 — Use Form controls to display, edit and create records, and verify each write.</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Write Data with Forms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 record created in the app appears in Dataverse, an edit updates the same row, and Delete removes it — verified in the table's Data tab.</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labs/lab-10/README.md.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92</a:t>
            </a:r>
          </a:p>
        </p:txBody>
      </p:sp>
    </p:spTree>
  </p:cSld>
  <p:clrMapOvr>
    <a:masterClrMapping/>
  </p:clrMapOvr>
  <p:transition spd="fast" advClick="1">
    <p:fade/>
  </p:transition>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Extend the App with a Code Component (PCF)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A4/A8 — Support API-level integration by building a custom control and modifying the platform's UI layer.</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Use the Power Apps Component Framework to build, test and package a custom code component, then import it into the environment and place it on a canvas app screen.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packaged PCF code component imported as a solution and used inside the canvas app.</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Platform CLI, Node.js, TypeScript, Power Apps Component Framework, Dataverse solutions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npm start watch renders the control in the harness, the solution imports without error, and the component can be inserted onto a canvas app screen.</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93</a:t>
            </a:r>
          </a:p>
        </p:txBody>
      </p:sp>
    </p:spTree>
  </p:cSld>
  <p:clrMapOvr>
    <a:masterClrMapping/>
  </p:clrMapOvr>
  <p:transition spd="fast" advClick="1">
    <p:fade/>
  </p:transition>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Check the toolchain</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pac, Node, .NET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Scaffold the control</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pcf init</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Edit manifest and code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bound property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Run the harness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npm start watch</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Package and import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managed solution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A4/A8 — Support API-level integration by building a custom control and modifying the platform's UI layer.</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Extend the App with a Code Component (PCF)</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npm start watch renders the control in the harness, the solution imports without error, and the component can be inserted onto a canvas app screen.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labs/lab-11/README.md.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95</a:t>
            </a:r>
          </a:p>
        </p:txBody>
      </p:sp>
    </p:spTree>
  </p:cSld>
  <p:clrMapOvr>
    <a:masterClrMapping/>
  </p:clrMapOvr>
  <p:transition spd="fast" advClick="1">
    <p:fade/>
  </p:transition>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LU2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Publish, Share and Maintain the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A6/A8 — Verify the app functions for other users and manage its versions and permissions.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Publish the canvas app, share it with colleagues at the right permission level, review and restore versions, and export the app package for another environment.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published, shared and exported canvas app with a documented version history.</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Microsoft Entra ID, Dataverse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published app opens from its own URL for a second signed-in user, the version history shows a restore, and the exported .zip downloads.</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96</a:t>
            </a:r>
          </a:p>
        </p:txBody>
      </p:sp>
    </p:spTree>
  </p:cSld>
  <p:clrMapOvr>
    <a:masterClrMapping/>
  </p:clrMapOvr>
  <p:transition spd="fast" advClick="1">
    <p:fade/>
  </p:transition>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Publish</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this version goes live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Share</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Can use, not Co-owner</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Note the data warning</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source is separate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Versions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review and restore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Export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portable package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A6/A8 — Verify the app functions for other users and manage its versions and permissions.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Publish, Share and Maintain the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published app opens from its own URL for a second signed-in user, the version history shows a restore, and the exported .zip downloads.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labs/lab-12/README.md.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98</a:t>
            </a:r>
          </a:p>
        </p:txBody>
      </p:sp>
    </p:spTree>
  </p:cSld>
  <p:clrMapOvr>
    <a:masterClrMapping/>
  </p:clrMapOvr>
  <p:transition spd="fast" advClick="1">
    <p:fade/>
  </p:transition>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RECAP · YOU CAN 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Recap — Create and Manage Canvas Apps with Power Apps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5 — Create a Canvas App from Excel Data</a:t>
            </a:r>
          </a:p>
          <a:p>
            <a:pPr algn="l">
              <a:spcAft>
                <a:spcPts val="300"/>
              </a:spcAft>
            </a:pPr>
            <a:r>
              <a:rPr sz="1000" b="0">
                <a:solidFill>
                  <a:srgbClr val="5B6372"/>
                </a:solidFill>
                <a:latin typeface="Arial"/>
              </a:rPr>
              <a:t>A3 — Utilise a connector as middleware to integrate Excel data into an application.</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6 — Build the Dataverse Data Model</a:t>
            </a:r>
          </a:p>
          <a:p>
            <a:pPr algn="l">
              <a:spcAft>
                <a:spcPts val="300"/>
              </a:spcAft>
            </a:pPr>
            <a:r>
              <a:rPr sz="1000" b="0">
                <a:solidFill>
                  <a:srgbClr val="5B6372"/>
                </a:solidFill>
                <a:latin typeface="Arial"/>
              </a:rPr>
              <a:t>A1/A3 — Design tables, columns and a relationship as the integration point for apps and flows.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7 — Create a Canvas App over Dataverse</a:t>
            </a:r>
          </a:p>
          <a:p>
            <a:pPr algn="l">
              <a:spcAft>
                <a:spcPts val="300"/>
              </a:spcAft>
            </a:pPr>
            <a:r>
              <a:rPr sz="1000" b="0">
                <a:solidFill>
                  <a:srgbClr val="5B6372"/>
                </a:solidFill>
                <a:latin typeface="Arial"/>
              </a:rPr>
              <a:t>A3 — Bind a hand-built canvas app to Dataverse and format the data it displays.</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8 — Build and Theme the User Interface</a:t>
            </a:r>
          </a:p>
          <a:p>
            <a:pPr algn="l">
              <a:spcAft>
                <a:spcPts val="300"/>
              </a:spcAft>
            </a:pPr>
            <a:r>
              <a:rPr sz="1000" b="0">
                <a:solidFill>
                  <a:srgbClr val="5B6372"/>
                </a:solidFill>
                <a:latin typeface="Arial"/>
              </a:rPr>
              <a:t>A3/A6 — Build a consistent, branded UI and verify it renders correctly across screens.</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99</a:t>
            </a:r>
          </a:p>
        </p:txBody>
      </p:sp>
    </p:spTree>
  </p:cSld>
  <p:clrMapOvr>
    <a:masterClrMapping/>
  </p:clrMapOvr>
  <p:transition spd="fast" advClick="1">
    <p:fade/>
  </p:transition>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RECAP · YOU CAN 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Recap — Create and Manage Canvas Apps with Power Apps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9 — Work with External Data — SharePoint, Collections and Patch</a:t>
            </a:r>
          </a:p>
          <a:p>
            <a:pPr algn="l">
              <a:spcAft>
                <a:spcPts val="300"/>
              </a:spcAft>
            </a:pPr>
            <a:r>
              <a:rPr sz="1000" b="0">
                <a:solidFill>
                  <a:srgbClr val="5B6372"/>
                </a:solidFill>
                <a:latin typeface="Arial"/>
              </a:rPr>
              <a:t>A3/A4 — Integrate a second data source and write to it through API-level functions.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10 — Write Data with Forms</a:t>
            </a:r>
          </a:p>
          <a:p>
            <a:pPr algn="l">
              <a:spcAft>
                <a:spcPts val="300"/>
              </a:spcAft>
            </a:pPr>
            <a:r>
              <a:rPr sz="1000" b="0">
                <a:solidFill>
                  <a:srgbClr val="5B6372"/>
                </a:solidFill>
                <a:latin typeface="Arial"/>
              </a:rPr>
              <a:t>A3/A5 — Use Form controls to display, edit and create records, and verify each write.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11 — Extend the App with a Code Component (PCF)</a:t>
            </a:r>
          </a:p>
          <a:p>
            <a:pPr algn="l">
              <a:spcAft>
                <a:spcPts val="300"/>
              </a:spcAft>
            </a:pPr>
            <a:r>
              <a:rPr sz="1000" b="0">
                <a:solidFill>
                  <a:srgbClr val="5B6372"/>
                </a:solidFill>
                <a:latin typeface="Arial"/>
              </a:rPr>
              <a:t>A4/A8 — Support API-level integration by building a custom control and modifying the platform's UI layer.</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12 — Publish, Share and Maintain the App</a:t>
            </a:r>
          </a:p>
          <a:p>
            <a:pPr algn="l">
              <a:spcAft>
                <a:spcPts val="300"/>
              </a:spcAft>
            </a:pPr>
            <a:r>
              <a:rPr sz="1000" b="0">
                <a:solidFill>
                  <a:srgbClr val="5B6372"/>
                </a:solidFill>
                <a:latin typeface="Arial"/>
              </a:rPr>
              <a:t>A6/A8 — Verify the app functions for other users and manage its versions and permissions.</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100</a:t>
            </a:r>
          </a:p>
        </p:txBody>
      </p:sp>
    </p:spTree>
  </p:cSld>
  <p:clrMapOvr>
    <a:masterClrMapping/>
  </p:clrMapOvr>
  <p:transition spd="fast" advClick="1">
    <p:fade/>
  </p:transition>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Automated Processes with Power Automate and Copilot Studio Agents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Topics 11–14 · Labs 13–20</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3</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101</a:t>
            </a:r>
          </a:p>
        </p:txBody>
      </p:sp>
    </p:spTree>
  </p:cSld>
  <p:clrMapOvr>
    <a:masterClrMapping/>
  </p:clrMapOvr>
  <p:transition spd="fast" advClick="1">
    <p:fade/>
  </p:transition>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11</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 Started with Power Automate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Flow anatomy · triggers · actions · dynamic content · run history</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11</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102</a:t>
            </a:r>
          </a:p>
        </p:txBody>
      </p:sp>
    </p:spTree>
  </p:cSld>
  <p:clrMapOvr>
    <a:masterClrMapping/>
  </p:clrMapOvr>
  <p:transition spd="fast" advClick="1">
    <p:fade/>
  </p:transition>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11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Every Flow Is the Same Four Parts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7906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67906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TRIGGER</a:t>
            </a:r>
          </a:p>
        </p:txBody>
      </p:sp>
      <p:sp>
        <p:nvSpPr>
          <p:cNvPr id="12" name="TextBox 11"/>
          <p:cNvSpPr txBox="1"/>
          <p:nvPr/>
        </p:nvSpPr>
        <p:spPr>
          <a:xfrm>
            <a:off x="85039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what starts it</a:t>
            </a:r>
          </a:p>
        </p:txBody>
      </p:sp>
      <p:cxnSp>
        <p:nvCxnSpPr>
          <p:cNvPr id="13" name="Connector 12"/>
          <p:cNvCxnSpPr/>
          <p:nvPr/>
        </p:nvCxnSpPr>
        <p:spPr>
          <a:xfrm>
            <a:off x="320268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53187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53187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43369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369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65988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ACTION</a:t>
            </a:r>
          </a:p>
        </p:txBody>
      </p:sp>
      <p:sp>
        <p:nvSpPr>
          <p:cNvPr id="19" name="TextBox 18"/>
          <p:cNvSpPr txBox="1"/>
          <p:nvPr/>
        </p:nvSpPr>
        <p:spPr>
          <a:xfrm>
            <a:off x="360502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do the work</a:t>
            </a:r>
          </a:p>
        </p:txBody>
      </p:sp>
      <p:cxnSp>
        <p:nvCxnSpPr>
          <p:cNvPr id="20" name="Connector 19"/>
          <p:cNvCxnSpPr/>
          <p:nvPr/>
        </p:nvCxnSpPr>
        <p:spPr>
          <a:xfrm>
            <a:off x="595731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28650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8650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18832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8832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641451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ACTION</a:t>
            </a:r>
          </a:p>
        </p:txBody>
      </p:sp>
      <p:sp>
        <p:nvSpPr>
          <p:cNvPr id="26" name="TextBox 25"/>
          <p:cNvSpPr txBox="1"/>
          <p:nvPr/>
        </p:nvSpPr>
        <p:spPr>
          <a:xfrm>
            <a:off x="635965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do more work</a:t>
            </a:r>
          </a:p>
        </p:txBody>
      </p:sp>
      <p:cxnSp>
        <p:nvCxnSpPr>
          <p:cNvPr id="27" name="Connector 26"/>
          <p:cNvCxnSpPr/>
          <p:nvPr/>
        </p:nvCxnSpPr>
        <p:spPr>
          <a:xfrm>
            <a:off x="8711946"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041130" y="2148840"/>
            <a:ext cx="2370582"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041130" y="2148840"/>
            <a:ext cx="2370582"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942957"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42957"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9169146" y="3081528"/>
            <a:ext cx="2114550" cy="786384"/>
          </a:xfrm>
          <a:prstGeom prst="rect">
            <a:avLst/>
          </a:prstGeom>
          <a:noFill/>
        </p:spPr>
        <p:txBody>
          <a:bodyPr wrap="square" anchor="ctr">
            <a:spAutoFit/>
          </a:bodyPr>
          <a:lstStyle/>
          <a:p>
            <a:pPr algn="ctr">
              <a:spcAft>
                <a:spcPts val="0"/>
              </a:spcAft>
            </a:pPr>
            <a:r>
              <a:rPr sz="1300" b="1">
                <a:solidFill>
                  <a:srgbClr val="161B26"/>
                </a:solidFill>
                <a:latin typeface="Arial"/>
              </a:rPr>
              <a:t>OUTPUT</a:t>
            </a:r>
          </a:p>
        </p:txBody>
      </p:sp>
      <p:sp>
        <p:nvSpPr>
          <p:cNvPr id="33" name="TextBox 32"/>
          <p:cNvSpPr txBox="1"/>
          <p:nvPr/>
        </p:nvSpPr>
        <p:spPr>
          <a:xfrm>
            <a:off x="9114282" y="3675888"/>
            <a:ext cx="2224278" cy="512064"/>
          </a:xfrm>
          <a:prstGeom prst="rect">
            <a:avLst/>
          </a:prstGeom>
          <a:noFill/>
        </p:spPr>
        <p:txBody>
          <a:bodyPr wrap="square" anchor="ctr">
            <a:spAutoFit/>
          </a:bodyPr>
          <a:lstStyle/>
          <a:p>
            <a:pPr algn="ctr">
              <a:spcAft>
                <a:spcPts val="0"/>
              </a:spcAft>
            </a:pPr>
            <a:r>
              <a:rPr sz="900" b="0">
                <a:solidFill>
                  <a:srgbClr val="5B6372"/>
                </a:solidFill>
                <a:latin typeface="Arial"/>
              </a:rPr>
              <a:t>notify or return</a:t>
            </a:r>
          </a:p>
        </p:txBody>
      </p:sp>
      <p:sp>
        <p:nvSpPr>
          <p:cNvPr id="34" name="Rectangle 33"/>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LEARN IT ONCE</a:t>
            </a:r>
          </a:p>
        </p:txBody>
      </p:sp>
      <p:sp>
        <p:nvSpPr>
          <p:cNvPr id="37" name="TextBox 36"/>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Every flow in Labs 13–20 is this shape. Only the trigger and the actions change. A flow has exactly ONE trigger — change it and you have a different flow, even if the actions are identical.</a:t>
            </a:r>
          </a:p>
        </p:txBody>
      </p:sp>
      <p:sp>
        <p:nvSpPr>
          <p:cNvPr id="75" name="TextBox 7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76" name="TextBox 7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77" name="TextBox 7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11 · TRIGGERS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Four Trigger Families — Who Is Allowed to Start the Process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Family</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What starts it</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Example trigger</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Used in</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Manual</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 person presses Run</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Manually trigger a flow · button in Teams</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Lab 15</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Scheduled</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 clock reaches a time</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Recurrence — set the TIME ZONE</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Lab 15</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Automated</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An event happens in a system</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When a row is added · when an item is created</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Labs 13, 14, 16</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Request</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Something calls in from outside</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HTTP request received · when an agent calls the workflow</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Labs 18, 19</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The trigger you choose is a statement about who or what may start this process. A Recurrence left on UTC runs at the wrong hour in Singapore — set the time zone explicitly.</a:t>
            </a:r>
          </a:p>
        </p:txBody>
      </p:sp>
      <p:sp>
        <p:nvSpPr>
          <p:cNvPr id="50" name="TextBox 49"/>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51" name="TextBox 50"/>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104</a:t>
            </a:r>
          </a:p>
        </p:txBody>
      </p:sp>
    </p:spTree>
  </p:cSld>
  <p:clrMapOvr>
    <a:masterClrMapping/>
  </p:clrMapOvr>
  <p:transition spd="fast" advClick="1">
    <p:fade/>
  </p:transition>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11 · THE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Power Automate Designer</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low_designer.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832104"/>
          </a:xfrm>
          <a:prstGeom prst="rect">
            <a:avLst/>
          </a:prstGeom>
          <a:noFill/>
        </p:spPr>
        <p:txBody>
          <a:bodyPr wrap="square" anchor="t">
            <a:spAutoFit/>
          </a:bodyPr>
          <a:lstStyle/>
          <a:p>
            <a:pPr algn="l">
              <a:spcAft>
                <a:spcPts val="400"/>
              </a:spcAft>
            </a:pPr>
            <a:r>
              <a:rPr sz="1050" b="0">
                <a:solidFill>
                  <a:srgbClr val="161B26"/>
                </a:solidFill>
                <a:latin typeface="Arial"/>
              </a:rPr>
              <a:t>The trigger's own settings — which table, which change type, what scope.</a:t>
            </a:r>
          </a:p>
        </p:txBody>
      </p:sp>
      <p:sp>
        <p:nvSpPr>
          <p:cNvPr id="13" name="Oval 12"/>
          <p:cNvSpPr/>
          <p:nvPr/>
        </p:nvSpPr>
        <p:spPr>
          <a:xfrm>
            <a:off x="8805672" y="2843784"/>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2843784"/>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2798064"/>
            <a:ext cx="2057400" cy="832104"/>
          </a:xfrm>
          <a:prstGeom prst="rect">
            <a:avLst/>
          </a:prstGeom>
          <a:noFill/>
        </p:spPr>
        <p:txBody>
          <a:bodyPr wrap="square" anchor="t">
            <a:spAutoFit/>
          </a:bodyPr>
          <a:lstStyle/>
          <a:p>
            <a:pPr algn="l">
              <a:spcAft>
                <a:spcPts val="400"/>
              </a:spcAft>
            </a:pPr>
            <a:r>
              <a:rPr sz="1050" b="0">
                <a:solidFill>
                  <a:srgbClr val="161B26"/>
                </a:solidFill>
                <a:latin typeface="Arial"/>
              </a:rPr>
              <a:t>An action. Each one runs after the one above it.</a:t>
            </a:r>
          </a:p>
        </p:txBody>
      </p:sp>
      <p:sp>
        <p:nvSpPr>
          <p:cNvPr id="16" name="Oval 15"/>
          <p:cNvSpPr/>
          <p:nvPr/>
        </p:nvSpPr>
        <p:spPr>
          <a:xfrm>
            <a:off x="8805672" y="3730752"/>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18" name="TextBox 17"/>
          <p:cNvSpPr txBox="1"/>
          <p:nvPr/>
        </p:nvSpPr>
        <p:spPr>
          <a:xfrm>
            <a:off x="9171432" y="3685032"/>
            <a:ext cx="2057400" cy="832104"/>
          </a:xfrm>
          <a:prstGeom prst="rect">
            <a:avLst/>
          </a:prstGeom>
          <a:noFill/>
        </p:spPr>
        <p:txBody>
          <a:bodyPr wrap="square" anchor="t">
            <a:spAutoFit/>
          </a:bodyPr>
          <a:lstStyle/>
          <a:p>
            <a:pPr algn="l">
              <a:spcAft>
                <a:spcPts val="400"/>
              </a:spcAft>
            </a:pPr>
            <a:r>
              <a:rPr sz="1050" b="0">
                <a:solidFill>
                  <a:srgbClr val="161B26"/>
                </a:solidFill>
                <a:latin typeface="Arial"/>
              </a:rPr>
              <a:t>A Condition branches the run on a value produced earlier.</a:t>
            </a:r>
          </a:p>
        </p:txBody>
      </p:sp>
      <p:sp>
        <p:nvSpPr>
          <p:cNvPr id="19" name="Oval 18"/>
          <p:cNvSpPr/>
          <p:nvPr/>
        </p:nvSpPr>
        <p:spPr>
          <a:xfrm>
            <a:off x="8805672" y="4617720"/>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05672" y="4617720"/>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4</a:t>
            </a:r>
          </a:p>
        </p:txBody>
      </p:sp>
      <p:sp>
        <p:nvSpPr>
          <p:cNvPr id="21" name="TextBox 20"/>
          <p:cNvSpPr txBox="1"/>
          <p:nvPr/>
        </p:nvSpPr>
        <p:spPr>
          <a:xfrm>
            <a:off x="9171432" y="4572000"/>
            <a:ext cx="2057400" cy="832104"/>
          </a:xfrm>
          <a:prstGeom prst="rect">
            <a:avLst/>
          </a:prstGeom>
          <a:noFill/>
        </p:spPr>
        <p:txBody>
          <a:bodyPr wrap="square" anchor="t">
            <a:spAutoFit/>
          </a:bodyPr>
          <a:lstStyle/>
          <a:p>
            <a:pPr algn="l">
              <a:spcAft>
                <a:spcPts val="400"/>
              </a:spcAft>
            </a:pPr>
            <a:r>
              <a:rPr sz="1050" b="0">
                <a:solidFill>
                  <a:srgbClr val="161B26"/>
                </a:solidFill>
                <a:latin typeface="Arial"/>
              </a:rPr>
              <a:t>Dynamic content — insert an earlier step's OUTPUT as a token. Never type the value.</a:t>
            </a:r>
          </a:p>
        </p:txBody>
      </p:sp>
      <p:sp>
        <p:nvSpPr>
          <p:cNvPr id="22" name="Rectangle 21"/>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760720"/>
            <a:ext cx="100584"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Applied in Labs 13–16. The left panel is the single most important habit in the course: insert, never type.</a:t>
            </a:r>
          </a:p>
        </p:txBody>
      </p:sp>
      <p:sp>
        <p:nvSpPr>
          <p:cNvPr id="25" name="TextBox 2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6" name="TextBox 2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7" name="TextBox 2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105</a:t>
            </a:r>
          </a:p>
        </p:txBody>
      </p:sp>
    </p:spTree>
  </p:cSld>
  <p:clrMapOvr>
    <a:masterClrMapping/>
  </p:clrMapOvr>
  <p:transition spd="fast" advClick="1">
    <p:fade/>
  </p:transition>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F59E0B"/>
                </a:solidFill>
                <a:latin typeface="Arial"/>
              </a:rPr>
              <a:t>TOPIC 11 · THE HABIT</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A typed value is a constant that will be wrong tomorrow.</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Dynamic content inserts the actual output of an earlier step at run time. Typing the same text produces a flow that works once, for one record, and silently sends the wrong data forever after.</a:t>
            </a:r>
          </a:p>
        </p:txBody>
      </p:sp>
      <p:sp>
        <p:nvSpPr>
          <p:cNvPr id="7" name="TextBox 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8" name="TextBox 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106</a:t>
            </a:r>
          </a:p>
        </p:txBody>
      </p:sp>
    </p:spTree>
  </p:cSld>
  <p:clrMapOvr>
    <a:masterClrMapping/>
  </p:clrMapOvr>
  <p:transition spd="fast" advClick="1">
    <p:fade/>
  </p:transition>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11 · VERIFICATION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Reading Run History — How You Test a Flow (TSC A5 / A6)</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the run</a:t>
            </a:r>
          </a:p>
          <a:p>
            <a:pPr algn="l">
              <a:spcAft>
                <a:spcPts val="300"/>
              </a:spcAft>
            </a:pPr>
            <a:r>
              <a:rPr sz="1200" b="0">
                <a:solidFill>
                  <a:srgbClr val="5B6372"/>
                </a:solidFill>
                <a:latin typeface="Arial"/>
              </a:rPr>
              <a:t>My flows › the flow › Run history › the run you care about.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Read the trigger</a:t>
            </a:r>
          </a:p>
          <a:p>
            <a:pPr algn="l">
              <a:spcAft>
                <a:spcPts val="300"/>
              </a:spcAft>
            </a:pPr>
            <a:r>
              <a:rPr sz="1200" b="0">
                <a:solidFill>
                  <a:srgbClr val="5B6372"/>
                </a:solidFill>
                <a:latin typeface="Arial"/>
              </a:rPr>
              <a:t>What actually fired it, and what values it carried in.</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Expand each action</a:t>
            </a:r>
          </a:p>
          <a:p>
            <a:pPr algn="l">
              <a:spcAft>
                <a:spcPts val="300"/>
              </a:spcAft>
            </a:pPr>
            <a:r>
              <a:rPr sz="1200" b="0">
                <a:solidFill>
                  <a:srgbClr val="5B6372"/>
                </a:solidFill>
                <a:latin typeface="Arial"/>
              </a:rPr>
              <a:t>Inputs = what it was given. Outputs = what it produced.</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Find the first failure</a:t>
            </a:r>
          </a:p>
          <a:p>
            <a:pPr algn="l">
              <a:spcAft>
                <a:spcPts val="300"/>
              </a:spcAft>
            </a:pPr>
            <a:r>
              <a:rPr sz="1200" b="0">
                <a:solidFill>
                  <a:srgbClr val="5B6372"/>
                </a:solidFill>
                <a:latin typeface="Arial"/>
              </a:rPr>
              <a:t>Everything after it is a consequence, not a cause.</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Read the error text</a:t>
            </a:r>
          </a:p>
          <a:p>
            <a:pPr algn="l">
              <a:spcAft>
                <a:spcPts val="300"/>
              </a:spcAft>
            </a:pPr>
            <a:r>
              <a:rPr sz="1200" b="0">
                <a:solidFill>
                  <a:srgbClr val="5B6372"/>
                </a:solidFill>
                <a:latin typeface="Arial"/>
              </a:rPr>
              <a:t>404 = not found. 403 = permission. 429 = throttled.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Fix, then Resubmit</a:t>
            </a:r>
          </a:p>
          <a:p>
            <a:pPr algn="l">
              <a:spcAft>
                <a:spcPts val="300"/>
              </a:spcAft>
            </a:pPr>
            <a:r>
              <a:rPr sz="1200" b="0">
                <a:solidFill>
                  <a:srgbClr val="5B6372"/>
                </a:solidFill>
                <a:latin typeface="Arial"/>
              </a:rPr>
              <a:t>Resubmit re-runs the SAME trigger data — no need to recreate the event.</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107</a:t>
            </a:r>
          </a:p>
        </p:txBody>
      </p:sp>
    </p:spTree>
  </p:cSld>
  <p:clrMapOvr>
    <a:masterClrMapping/>
  </p:clrMapOvr>
  <p:transition spd="fast" advClick="1">
    <p:fade/>
  </p:transition>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11 · TSC A5 · TESTING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Run History Is the Evidence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un_history.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A failed run. Status and duration are the first signal something is wrong.</a:t>
            </a:r>
          </a:p>
        </p:txBody>
      </p:sp>
      <p:sp>
        <p:nvSpPr>
          <p:cNvPr id="13" name="Oval 12"/>
          <p:cNvSpPr/>
          <p:nvPr/>
        </p:nvSpPr>
        <p:spPr>
          <a:xfrm>
            <a:off x="8805672" y="3730752"/>
            <a:ext cx="274320" cy="27432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685032"/>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The failed action, its error, and Resubmit — the fix-and-retest loop.</a:t>
            </a:r>
          </a:p>
        </p:txBody>
      </p:sp>
      <p:sp>
        <p:nvSpPr>
          <p:cNvPr id="16" name="Rectangle 15"/>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760720"/>
            <a:ext cx="100584" cy="5669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This screen is your TSC A5/A6 evidence: it shows the connection between disparate programs, and whether it functioned.</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108</a:t>
            </a:r>
          </a:p>
        </p:txBody>
      </p:sp>
    </p:spTree>
  </p:cSld>
  <p:clrMapOvr>
    <a:masterClrMapping/>
  </p:clrMapOvr>
  <p:transition spd="fast" advClick="1">
    <p:fade/>
  </p:transition>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12</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Build Approval Flows with Power Automate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Approvals · outcome branching · business process flows · human in the loop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12</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109</a:t>
            </a:r>
          </a:p>
        </p:txBody>
      </p:sp>
    </p:spTree>
  </p:cSld>
  <p:clrMapOvr>
    <a:masterClrMapping/>
  </p:clrMapOvr>
  <p:transition spd="fast" advClick="1">
    <p:fade/>
  </p:transition>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12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An Approval Pauses the Flow for a Person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Row created</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business event</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Start and WAIT</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flow suspends</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Human decides</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approve or reject</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Condition</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branch on Outcome</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Update + notify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record and the requester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'START AND WAIT' IS 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flow genuinely suspends — for minutes or days — and resumes on the human's answer. This is how you put a person where the consequence lands.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12 · HUMAN IN THE LOOP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Approval Card — Route It to Teams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ams_approval.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3493008"/>
          </a:xfrm>
          <a:prstGeom prst="rect">
            <a:avLst/>
          </a:prstGeom>
          <a:noFill/>
        </p:spPr>
        <p:txBody>
          <a:bodyPr wrap="square" anchor="t">
            <a:spAutoFit/>
          </a:bodyPr>
          <a:lstStyle/>
          <a:p>
            <a:pPr algn="l">
              <a:spcAft>
                <a:spcPts val="400"/>
              </a:spcAft>
            </a:pPr>
            <a:r>
              <a:rPr sz="1050" b="0">
                <a:solidFill>
                  <a:srgbClr val="161B26"/>
                </a:solidFill>
                <a:latin typeface="Arial"/>
              </a:rPr>
              <a:t>Approve and Reject are actionable IN the card. The flow resumes the moment one is pressed.</a:t>
            </a:r>
          </a:p>
        </p:txBody>
      </p:sp>
      <p:sp>
        <p:nvSpPr>
          <p:cNvPr id="13" name="Rectangle 12"/>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5760720"/>
            <a:ext cx="100584"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Verified on a live tenant: an approval sent to Outlook is not actionable in the Copilot Studio designer — the recipient can read it but cannot respond, and the flow waits forever. Send approvals to Teams.</a:t>
            </a:r>
          </a:p>
        </p:txBody>
      </p:sp>
      <p:sp>
        <p:nvSpPr>
          <p:cNvPr id="16" name="TextBox 15"/>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7" name="TextBox 16"/>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8" name="TextBox 1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111</a:t>
            </a:r>
          </a:p>
        </p:txBody>
      </p:sp>
    </p:spTree>
  </p:cSld>
  <p:clrMapOvr>
    <a:masterClrMapping/>
  </p:clrMapOvr>
  <p:transition spd="fast" advClick="1">
    <p:fade/>
  </p:transition>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12 · APPROVALS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Approval Types — Choose by How the Decision Is Made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Type</a:t>
            </a:r>
          </a:p>
        </p:txBody>
      </p:sp>
      <p:sp>
        <p:nvSpPr>
          <p:cNvPr id="9" name="Rectangle 8"/>
          <p:cNvSpPr/>
          <p:nvPr/>
        </p:nvSpPr>
        <p:spPr>
          <a:xfrm>
            <a:off x="3542202" y="1783080"/>
            <a:ext cx="2623170"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Who must respond</a:t>
            </a:r>
          </a:p>
        </p:txBody>
      </p:sp>
      <p:sp>
        <p:nvSpPr>
          <p:cNvPr id="11" name="Rectangle 10"/>
          <p:cNvSpPr/>
          <p:nvPr/>
        </p:nvSpPr>
        <p:spPr>
          <a:xfrm>
            <a:off x="6165372" y="1783080"/>
            <a:ext cx="2623170"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9338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Outcome returned</a:t>
            </a:r>
          </a:p>
        </p:txBody>
      </p:sp>
      <p:sp>
        <p:nvSpPr>
          <p:cNvPr id="13" name="Rectangle 12"/>
          <p:cNvSpPr/>
          <p:nvPr/>
        </p:nvSpPr>
        <p:spPr>
          <a:xfrm>
            <a:off x="8788542" y="1783080"/>
            <a:ext cx="2623170"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6558" y="1783080"/>
            <a:ext cx="2367138" cy="475488"/>
          </a:xfrm>
          <a:prstGeom prst="rect">
            <a:avLst/>
          </a:prstGeom>
          <a:noFill/>
        </p:spPr>
        <p:txBody>
          <a:bodyPr wrap="square" anchor="ctr">
            <a:spAutoFit/>
          </a:bodyPr>
          <a:lstStyle/>
          <a:p>
            <a:pPr algn="l">
              <a:spcAft>
                <a:spcPts val="400"/>
              </a:spcAft>
            </a:pPr>
            <a:r>
              <a:rPr sz="1300" b="1">
                <a:solidFill>
                  <a:srgbClr val="FFFFFF"/>
                </a:solidFill>
                <a:latin typeface="Arial"/>
              </a:rPr>
              <a:t>Use when</a:t>
            </a:r>
          </a:p>
        </p:txBody>
      </p:sp>
      <p:sp>
        <p:nvSpPr>
          <p:cNvPr id="15" name="Rectangle 14"/>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Approve/Reject – First to respond</a:t>
            </a:r>
          </a:p>
        </p:txBody>
      </p:sp>
      <p:sp>
        <p:nvSpPr>
          <p:cNvPr id="17" name="Rectangle 16"/>
          <p:cNvSpPr/>
          <p:nvPr/>
        </p:nvSpPr>
        <p:spPr>
          <a:xfrm>
            <a:off x="354220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7021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Any ONE of the assignees</a:t>
            </a:r>
          </a:p>
        </p:txBody>
      </p:sp>
      <p:sp>
        <p:nvSpPr>
          <p:cNvPr id="19" name="Rectangle 18"/>
          <p:cNvSpPr/>
          <p:nvPr/>
        </p:nvSpPr>
        <p:spPr>
          <a:xfrm>
            <a:off x="616537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9338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Approve or Reject</a:t>
            </a:r>
          </a:p>
        </p:txBody>
      </p:sp>
      <p:sp>
        <p:nvSpPr>
          <p:cNvPr id="21" name="Rectangle 20"/>
          <p:cNvSpPr/>
          <p:nvPr/>
        </p:nvSpPr>
        <p:spPr>
          <a:xfrm>
            <a:off x="8788542" y="2258568"/>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16558" y="2258568"/>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Speed matters; any manager may decide</a:t>
            </a:r>
          </a:p>
        </p:txBody>
      </p:sp>
      <p:sp>
        <p:nvSpPr>
          <p:cNvPr id="23" name="Rectangle 22"/>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Approve/Reject – Everyone must approve</a:t>
            </a:r>
          </a:p>
        </p:txBody>
      </p:sp>
      <p:sp>
        <p:nvSpPr>
          <p:cNvPr id="25" name="Rectangle 24"/>
          <p:cNvSpPr/>
          <p:nvPr/>
        </p:nvSpPr>
        <p:spPr>
          <a:xfrm>
            <a:off x="354220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7021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ALL assignees</a:t>
            </a:r>
          </a:p>
        </p:txBody>
      </p:sp>
      <p:sp>
        <p:nvSpPr>
          <p:cNvPr id="27" name="Rectangle 26"/>
          <p:cNvSpPr/>
          <p:nvPr/>
        </p:nvSpPr>
        <p:spPr>
          <a:xfrm>
            <a:off x="616537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9338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Approve only if all approve</a:t>
            </a:r>
          </a:p>
        </p:txBody>
      </p:sp>
      <p:sp>
        <p:nvSpPr>
          <p:cNvPr id="29" name="Rectangle 28"/>
          <p:cNvSpPr/>
          <p:nvPr/>
        </p:nvSpPr>
        <p:spPr>
          <a:xfrm>
            <a:off x="8788542" y="2971800"/>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16558" y="2971800"/>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Spend or risk needs unanimous sign-off</a:t>
            </a:r>
          </a:p>
        </p:txBody>
      </p:sp>
      <p:sp>
        <p:nvSpPr>
          <p:cNvPr id="31" name="Rectangle 30"/>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Custom Responses – Wait for one</a:t>
            </a:r>
          </a:p>
        </p:txBody>
      </p:sp>
      <p:sp>
        <p:nvSpPr>
          <p:cNvPr id="33" name="Rectangle 32"/>
          <p:cNvSpPr/>
          <p:nvPr/>
        </p:nvSpPr>
        <p:spPr>
          <a:xfrm>
            <a:off x="354220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Any one assignee</a:t>
            </a:r>
          </a:p>
        </p:txBody>
      </p:sp>
      <p:sp>
        <p:nvSpPr>
          <p:cNvPr id="35" name="Rectangle 34"/>
          <p:cNvSpPr/>
          <p:nvPr/>
        </p:nvSpPr>
        <p:spPr>
          <a:xfrm>
            <a:off x="616537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9338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Your own option text</a:t>
            </a:r>
          </a:p>
        </p:txBody>
      </p:sp>
      <p:sp>
        <p:nvSpPr>
          <p:cNvPr id="37" name="Rectangle 36"/>
          <p:cNvSpPr/>
          <p:nvPr/>
        </p:nvSpPr>
        <p:spPr>
          <a:xfrm>
            <a:off x="8788542" y="3685032"/>
            <a:ext cx="2623170"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916558" y="3685032"/>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The decision is not binary</a:t>
            </a:r>
          </a:p>
        </p:txBody>
      </p:sp>
      <p:sp>
        <p:nvSpPr>
          <p:cNvPr id="39" name="Rectangle 38"/>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Custom Responses – Wait for all</a:t>
            </a:r>
          </a:p>
        </p:txBody>
      </p:sp>
      <p:sp>
        <p:nvSpPr>
          <p:cNvPr id="41" name="Rectangle 40"/>
          <p:cNvSpPr/>
          <p:nvPr/>
        </p:nvSpPr>
        <p:spPr>
          <a:xfrm>
            <a:off x="354220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67021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All assignees</a:t>
            </a:r>
          </a:p>
        </p:txBody>
      </p:sp>
      <p:sp>
        <p:nvSpPr>
          <p:cNvPr id="43" name="Rectangle 42"/>
          <p:cNvSpPr/>
          <p:nvPr/>
        </p:nvSpPr>
        <p:spPr>
          <a:xfrm>
            <a:off x="616537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338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All the responses</a:t>
            </a:r>
          </a:p>
        </p:txBody>
      </p:sp>
      <p:sp>
        <p:nvSpPr>
          <p:cNvPr id="45" name="Rectangle 44"/>
          <p:cNvSpPr/>
          <p:nvPr/>
        </p:nvSpPr>
        <p:spPr>
          <a:xfrm>
            <a:off x="8788542" y="4398264"/>
            <a:ext cx="2623170"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916558" y="4398264"/>
            <a:ext cx="2367138" cy="713232"/>
          </a:xfrm>
          <a:prstGeom prst="rect">
            <a:avLst/>
          </a:prstGeom>
          <a:noFill/>
        </p:spPr>
        <p:txBody>
          <a:bodyPr wrap="square" anchor="ctr">
            <a:spAutoFit/>
          </a:bodyPr>
          <a:lstStyle/>
          <a:p>
            <a:pPr algn="l">
              <a:spcAft>
                <a:spcPts val="400"/>
              </a:spcAft>
            </a:pPr>
            <a:r>
              <a:rPr sz="1150" b="0">
                <a:solidFill>
                  <a:srgbClr val="5B6372"/>
                </a:solidFill>
                <a:latin typeface="Arial"/>
              </a:rPr>
              <a:t>Multi-party sign-off with reasons</a:t>
            </a:r>
          </a:p>
        </p:txBody>
      </p:sp>
      <p:sp>
        <p:nvSpPr>
          <p:cNvPr id="47" name="Rectangle 4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The Outcome value is a STRING you compare in a Condition — 'Approve', not 'Approved'. Getting this wrong sends every request down the reject branch, and the flow still reports Succeeded.</a:t>
            </a:r>
          </a:p>
        </p:txBody>
      </p:sp>
      <p:sp>
        <p:nvSpPr>
          <p:cNvPr id="50" name="TextBox 49"/>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51" name="TextBox 50"/>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52" name="TextBox 5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112</a:t>
            </a:r>
          </a:p>
        </p:txBody>
      </p:sp>
    </p:spTree>
  </p:cSld>
  <p:clrMapOvr>
    <a:masterClrMapping/>
  </p:clrMapOvr>
  <p:transition spd="fast" advClick="1">
    <p:fade/>
  </p:transition>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13</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Build Flows to Manage User Information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Trigger filters · user context · run-time input · calendar and location</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13</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113</a:t>
            </a:r>
          </a:p>
        </p:txBody>
      </p:sp>
    </p:spTree>
  </p:cSld>
  <p:clrMapOvr>
    <a:masterClrMapping/>
  </p:clrMapOvr>
  <p:transition spd="fast" advClick="1">
    <p:fade/>
  </p:transition>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13 · TSC A7 · EFFICIENCY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Trigger Filter or Condition — Where Should the Test Live?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Should the flow RUN
at all for this
change?</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075688"/>
            <a:ext cx="5303520" cy="475488"/>
          </a:xfrm>
          <a:prstGeom prst="rect">
            <a:avLst/>
          </a:prstGeom>
          <a:noFill/>
        </p:spPr>
        <p:txBody>
          <a:bodyPr wrap="square" anchor="t">
            <a:spAutoFit/>
          </a:bodyPr>
          <a:lstStyle/>
          <a:p>
            <a:pPr algn="l">
              <a:spcAft>
                <a:spcPts val="400"/>
              </a:spcAft>
            </a:pPr>
            <a:r>
              <a:rPr sz="1500" b="1">
                <a:solidFill>
                  <a:srgbClr val="10B981"/>
                </a:solidFill>
                <a:latin typeface="Arial"/>
              </a:rPr>
              <a:t>NO — use a TRIGGER FILTER</a:t>
            </a:r>
          </a:p>
        </p:txBody>
      </p:sp>
      <p:sp>
        <p:nvSpPr>
          <p:cNvPr id="11" name="TextBox 10"/>
          <p:cNvSpPr txBox="1"/>
          <p:nvPr/>
        </p:nvSpPr>
        <p:spPr>
          <a:xfrm>
            <a:off x="5852160" y="2587752"/>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Select columns + Filter rows on the trigger. The flow never starts, so it costs nothing and the run history stays readable.</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087367"/>
            <a:ext cx="5303520" cy="475488"/>
          </a:xfrm>
          <a:prstGeom prst="rect">
            <a:avLst/>
          </a:prstGeom>
          <a:noFill/>
        </p:spPr>
        <p:txBody>
          <a:bodyPr wrap="square" anchor="t">
            <a:spAutoFit/>
          </a:bodyPr>
          <a:lstStyle/>
          <a:p>
            <a:pPr algn="l">
              <a:spcAft>
                <a:spcPts val="400"/>
              </a:spcAft>
            </a:pPr>
            <a:r>
              <a:rPr sz="1500" b="1">
                <a:solidFill>
                  <a:srgbClr val="F59E0B"/>
                </a:solidFill>
                <a:latin typeface="Arial"/>
              </a:rPr>
              <a:t>YES, but branch — use a CONDITION</a:t>
            </a:r>
          </a:p>
        </p:txBody>
      </p:sp>
      <p:sp>
        <p:nvSpPr>
          <p:cNvPr id="16" name="TextBox 15"/>
          <p:cNvSpPr txBox="1"/>
          <p:nvPr/>
        </p:nvSpPr>
        <p:spPr>
          <a:xfrm>
            <a:off x="5852160" y="4599431"/>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The flow runs, then chooses a path. Every evaluation is a real run you will see in the history.</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Lab 16 measures this: the same edits before and after filtering, with the run counts compared. Filters use the SCHEMA name (statuscode), never the display name.</a:t>
            </a:r>
          </a:p>
        </p:txBody>
      </p:sp>
      <p:sp>
        <p:nvSpPr>
          <p:cNvPr id="20" name="TextBox 19"/>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1" name="TextBox 20"/>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114</a:t>
            </a:r>
          </a:p>
        </p:txBody>
      </p:sp>
    </p:spTree>
  </p:cSld>
  <p:clrMapOvr>
    <a:masterClrMapping/>
  </p:clrMapOvr>
  <p:transition spd="fast" advClick="1">
    <p:fade/>
  </p:transition>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13 · INPUTS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Getting the Right Values Into a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Trigger inputs</a:t>
            </a:r>
          </a:p>
          <a:p>
            <a:pPr algn="l">
              <a:spcAft>
                <a:spcPts val="300"/>
              </a:spcAft>
            </a:pPr>
            <a:r>
              <a:rPr sz="1200" b="0">
                <a:solidFill>
                  <a:srgbClr val="5B6372"/>
                </a:solidFill>
                <a:latin typeface="Arial"/>
              </a:rPr>
              <a:t>Ask the person at run time — Text, Number, Date, File, Email.</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Office 365 Users</a:t>
            </a:r>
          </a:p>
          <a:p>
            <a:pPr algn="l">
              <a:spcAft>
                <a:spcPts val="300"/>
              </a:spcAft>
            </a:pPr>
            <a:r>
              <a:rPr sz="1200" b="0">
                <a:solidFill>
                  <a:srgbClr val="5B6372"/>
                </a:solidFill>
                <a:latin typeface="Arial"/>
              </a:rPr>
              <a:t>Get my profile, Get manager — resolve the requester's chain of command.</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Dynamic content</a:t>
            </a:r>
          </a:p>
          <a:p>
            <a:pPr algn="l">
              <a:spcAft>
                <a:spcPts val="300"/>
              </a:spcAft>
            </a:pPr>
            <a:r>
              <a:rPr sz="1200" b="0">
                <a:solidFill>
                  <a:srgbClr val="5B6372"/>
                </a:solidFill>
                <a:latin typeface="Arial"/>
              </a:rPr>
              <a:t>Any earlier step's output, inserted as a token.</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Expressions</a:t>
            </a:r>
          </a:p>
          <a:p>
            <a:pPr algn="l">
              <a:spcAft>
                <a:spcPts val="300"/>
              </a:spcAft>
            </a:pPr>
            <a:r>
              <a:rPr sz="1200" b="0">
                <a:solidFill>
                  <a:srgbClr val="5B6372"/>
                </a:solidFill>
                <a:latin typeface="Arial"/>
              </a:rPr>
              <a:t>utcNow(), formatDateTime(), addDays() — for values nothing produced.</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Variables</a:t>
            </a:r>
          </a:p>
          <a:p>
            <a:pPr algn="l">
              <a:spcAft>
                <a:spcPts val="300"/>
              </a:spcAft>
            </a:pPr>
            <a:r>
              <a:rPr sz="1200" b="0">
                <a:solidFill>
                  <a:srgbClr val="5B6372"/>
                </a:solidFill>
                <a:latin typeface="Arial"/>
              </a:rPr>
              <a:t>Initialize once, Set or Append inside a loop.</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Parse JSON</a:t>
            </a:r>
          </a:p>
          <a:p>
            <a:pPr algn="l">
              <a:spcAft>
                <a:spcPts val="300"/>
              </a:spcAft>
            </a:pPr>
            <a:r>
              <a:rPr sz="1200" b="0">
                <a:solidFill>
                  <a:srgbClr val="5B6372"/>
                </a:solidFill>
                <a:latin typeface="Arial"/>
              </a:rPr>
              <a:t>Turn a JSON string into fields — but see structured output in Topic 14.</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115</a:t>
            </a:r>
          </a:p>
        </p:txBody>
      </p:sp>
    </p:spTree>
  </p:cSld>
  <p:clrMapOvr>
    <a:masterClrMapping/>
  </p:clrMapOvr>
  <p:transition spd="fast" advClick="1">
    <p:fade/>
  </p:transition>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Power Automate, Copilot Studio Agents and Deep Integration</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The new Copilot Studio · workflow vs agent · agent anatomy · tools · what is enforced</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14</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116</a:t>
            </a:r>
          </a:p>
        </p:txBody>
      </p:sp>
    </p:spTree>
  </p:cSld>
  <p:clrMapOvr>
    <a:masterClrMapping/>
  </p:clrMapOvr>
  <p:transition spd="fast" advClick="1">
    <p:fade/>
  </p:transition>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14 · CONCEPT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Workflow or Agent — They Fail Differently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WORKFLOW — Power Automate</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AGENT — Copilot Studio</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The path</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You decide it in advance</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It chooses at run time</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Same input twice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Always the same output</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May give a different answer</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Capability</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Only what you built</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Can combine what it was given in new ways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How it fails</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Loudly, at a named step</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Quietly, with a confident wrong answer</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How you test it</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Check the result</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Try to BREAK it</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In this course</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Labs 13–16</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Labs 17–20</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Use a workflow where the rule is known. Use an agent where the language varies. Most real systems need both — and the seam between them is where the design work is.</a:t>
            </a:r>
          </a:p>
        </p:txBody>
      </p:sp>
      <p:sp>
        <p:nvSpPr>
          <p:cNvPr id="52" name="TextBox 5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53" name="TextBox 5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117</a:t>
            </a:r>
          </a:p>
        </p:txBody>
      </p:sp>
    </p:spTree>
  </p:cSld>
  <p:clrMapOvr>
    <a:masterClrMapping/>
  </p:clrMapOvr>
  <p:transition spd="fast" advClick="1">
    <p:fade/>
  </p:transition>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14 · THE ARCHITECTURE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New Copilot Studio — a Model Inside a Harness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1883664"/>
          </a:xfrm>
          <a:prstGeom prst="rect">
            <a:avLst/>
          </a:prstGeom>
          <a:noFill/>
        </p:spPr>
        <p:txBody>
          <a:bodyPr wrap="square" anchor="ctr">
            <a:spAutoFit/>
          </a:bodyPr>
          <a:lstStyle/>
          <a:p>
            <a:pPr algn="l">
              <a:spcAft>
                <a:spcPts val="300"/>
              </a:spcAft>
            </a:pPr>
            <a:r>
              <a:rPr sz="1700" b="1">
                <a:solidFill>
                  <a:srgbClr val="161B26"/>
                </a:solidFill>
                <a:latin typeface="Arial"/>
              </a:rPr>
              <a:t>The AI model — the brain</a:t>
            </a:r>
          </a:p>
          <a:p>
            <a:pPr algn="l">
              <a:spcAft>
                <a:spcPts val="300"/>
              </a:spcAft>
            </a:pPr>
            <a:r>
              <a:rPr sz="1300" b="0">
                <a:solidFill>
                  <a:srgbClr val="5B6372"/>
                </a:solidFill>
                <a:latin typeface="Arial"/>
              </a:rPr>
              <a:t>The reasoning engine. It understands language, spots patterns and decides what to do next. Chosen per agent from the Model dropdown — GPT-5.x or Claude.</a:t>
            </a:r>
          </a:p>
        </p:txBody>
      </p:sp>
      <p:sp>
        <p:nvSpPr>
          <p:cNvPr id="12" name="Rectangle 11"/>
          <p:cNvSpPr/>
          <p:nvPr/>
        </p:nvSpPr>
        <p:spPr>
          <a:xfrm>
            <a:off x="777240" y="4087368"/>
            <a:ext cx="10634472"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087368"/>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4846320"/>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4215384"/>
            <a:ext cx="9427464" cy="1883664"/>
          </a:xfrm>
          <a:prstGeom prst="rect">
            <a:avLst/>
          </a:prstGeom>
          <a:noFill/>
        </p:spPr>
        <p:txBody>
          <a:bodyPr wrap="square" anchor="ctr">
            <a:spAutoFit/>
          </a:bodyPr>
          <a:lstStyle/>
          <a:p>
            <a:pPr algn="l">
              <a:spcAft>
                <a:spcPts val="300"/>
              </a:spcAft>
            </a:pPr>
            <a:r>
              <a:rPr sz="1700" b="1">
                <a:solidFill>
                  <a:srgbClr val="161B26"/>
                </a:solidFill>
                <a:latin typeface="Arial"/>
              </a:rPr>
              <a:t>The harness — around it</a:t>
            </a:r>
          </a:p>
          <a:p>
            <a:pPr algn="l">
              <a:spcAft>
                <a:spcPts val="300"/>
              </a:spcAft>
            </a:pPr>
            <a:r>
              <a:rPr sz="1300" b="0">
                <a:solidFill>
                  <a:srgbClr val="5B6372"/>
                </a:solidFill>
                <a:latin typeface="Arial"/>
              </a:rPr>
              <a:t>The orchestration layer the model works inside: context, tools, governance, workflows and security. Model-agnostic — it turns reasoning into governed work.</a:t>
            </a:r>
          </a:p>
        </p:txBody>
      </p:sp>
      <p:sp>
        <p:nvSpPr>
          <p:cNvPr id="17" name="TextBox 1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8" name="TextBox 1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9" name="TextBox 1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118</a:t>
            </a:r>
          </a:p>
        </p:txBody>
      </p:sp>
    </p:spTree>
  </p:cSld>
  <p:clrMapOvr>
    <a:masterClrMapping/>
  </p:clrMapOvr>
  <p:transition spd="fast" advClick="1">
    <p:fade/>
  </p:transition>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14 · AGENT ANATOMY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Anatomy of an Agent — Five Parts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INSTRUCTIONS</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who it is, always on</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SKILLS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procedures on demand</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KNOWLEDGE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documents it may read</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TOOLS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flows it can call</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CONNECTED AGENTS</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hand off to a specialist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BUILT IN LABS 17–20</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Lab 17 builds instructions and knowledge. Lab 18 adds a tool. Lab 19 puts an Agent node inside a flow. Lab 20 adds a connected agent and a human gate.</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119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13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13438"/>
                </a:solidFill>
                <a:latin typeface="Arial"/>
              </a:rPr>
              <a:t>TOPIC 14 · THE SPINE OF LAB 17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Which Parts of an Agent Hold — and Which Do Not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D13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Part</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What it is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Enforced?</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Instructions</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Who the agent is; always in force</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 probabilistic</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Skill</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named procedure for a matching topic</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 the model decides it applies</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Knowledge</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Documents the agent may read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PARTLY — it cannot read what it lacks</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Tool (agent flow)</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flow that acts outside the conversation</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YES — the flow's own logic runs</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Connected agent</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 separate agent with its own knowledge</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YES — the knowledge boundary is real</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D13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D13438"/>
                </a:solidFill>
                <a:latin typeface="Arial"/>
              </a:rPr>
              <a:t>WHEN IT MATTERS  </a:t>
            </a:r>
            <a:r>
              <a:rPr sz="1200" b="0">
                <a:solidFill>
                  <a:srgbClr val="161B26"/>
                </a:solidFill>
                <a:latin typeface="Arial"/>
              </a:rPr>
              <a:t>A control the model cannot reach beats a rule you asked it to follow. So: a tool the agent does NOT have is a control — and the schema beats the prompt, because a field that exists will eventually be filled.</a:t>
            </a:r>
          </a:p>
        </p:txBody>
      </p:sp>
      <p:sp>
        <p:nvSpPr>
          <p:cNvPr id="46" name="TextBox 45"/>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47" name="TextBox 46"/>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120</a:t>
            </a:r>
          </a:p>
        </p:txBody>
      </p:sp>
    </p:spTree>
  </p:cSld>
  <p:clrMapOvr>
    <a:masterClrMapping/>
  </p:clrMapOvr>
  <p:transition spd="fast" advClick="1">
    <p:fade/>
  </p:transition>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14 · THE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New Agent Designer — Everything on One Rail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gent_designer.png"/>
          <p:cNvPicPr>
            <a:picLocks noChangeAspect="1"/>
          </p:cNvPicPr>
          <p:nvPr/>
        </p:nvPicPr>
        <p:blipFill>
          <a:blip r:embed="rId2"/>
          <a:stretch>
            <a:fillRect/>
          </a:stretch>
        </p:blipFill>
        <p:spPr>
          <a:xfrm>
            <a:off x="777240" y="1967103"/>
            <a:ext cx="7635240" cy="3435858"/>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536448"/>
          </a:xfrm>
          <a:prstGeom prst="rect">
            <a:avLst/>
          </a:prstGeom>
          <a:noFill/>
        </p:spPr>
        <p:txBody>
          <a:bodyPr wrap="square" anchor="t">
            <a:spAutoFit/>
          </a:bodyPr>
          <a:lstStyle/>
          <a:p>
            <a:pPr algn="l">
              <a:spcAft>
                <a:spcPts val="400"/>
              </a:spcAft>
            </a:pPr>
            <a:r>
              <a:rPr sz="950" b="0">
                <a:solidFill>
                  <a:srgbClr val="161B26"/>
                </a:solidFill>
                <a:latin typeface="Arial"/>
              </a:rPr>
              <a:t>Four tabs: Build, Preview, Evaluate, Monitor — author, probe, score, then watch it live.</a:t>
            </a:r>
          </a:p>
        </p:txBody>
      </p:sp>
      <p:sp>
        <p:nvSpPr>
          <p:cNvPr id="13" name="Oval 12"/>
          <p:cNvSpPr/>
          <p:nvPr/>
        </p:nvSpPr>
        <p:spPr>
          <a:xfrm>
            <a:off x="8805672" y="2548128"/>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2548128"/>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2502408"/>
            <a:ext cx="2057400" cy="536448"/>
          </a:xfrm>
          <a:prstGeom prst="rect">
            <a:avLst/>
          </a:prstGeom>
          <a:noFill/>
        </p:spPr>
        <p:txBody>
          <a:bodyPr wrap="square" anchor="t">
            <a:spAutoFit/>
          </a:bodyPr>
          <a:lstStyle/>
          <a:p>
            <a:pPr algn="l">
              <a:spcAft>
                <a:spcPts val="400"/>
              </a:spcAft>
            </a:pPr>
            <a:r>
              <a:rPr sz="950" b="0">
                <a:solidFill>
                  <a:srgbClr val="161B26"/>
                </a:solidFill>
                <a:latin typeface="Arial"/>
              </a:rPr>
              <a:t>Instructions, Skills, Knowledge, Tools, Connected agents and Memory, all on one rail.</a:t>
            </a:r>
          </a:p>
        </p:txBody>
      </p:sp>
      <p:sp>
        <p:nvSpPr>
          <p:cNvPr id="16" name="Oval 15"/>
          <p:cNvSpPr/>
          <p:nvPr/>
        </p:nvSpPr>
        <p:spPr>
          <a:xfrm>
            <a:off x="8805672" y="3139440"/>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05672" y="3139440"/>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18" name="TextBox 17"/>
          <p:cNvSpPr txBox="1"/>
          <p:nvPr/>
        </p:nvSpPr>
        <p:spPr>
          <a:xfrm>
            <a:off x="9171432" y="3093720"/>
            <a:ext cx="2057400" cy="536448"/>
          </a:xfrm>
          <a:prstGeom prst="rect">
            <a:avLst/>
          </a:prstGeom>
          <a:noFill/>
        </p:spPr>
        <p:txBody>
          <a:bodyPr wrap="square" anchor="t">
            <a:spAutoFit/>
          </a:bodyPr>
          <a:lstStyle/>
          <a:p>
            <a:pPr algn="l">
              <a:spcAft>
                <a:spcPts val="400"/>
              </a:spcAft>
            </a:pPr>
            <a:r>
              <a:rPr sz="950" b="0">
                <a:solidFill>
                  <a:srgbClr val="161B26"/>
                </a:solidFill>
                <a:latin typeface="Arial"/>
              </a:rPr>
              <a:t>The instructions box is a RICH-TEXT editor. Never paste @{...} into it.</a:t>
            </a:r>
          </a:p>
        </p:txBody>
      </p:sp>
      <p:sp>
        <p:nvSpPr>
          <p:cNvPr id="19" name="Oval 18"/>
          <p:cNvSpPr/>
          <p:nvPr/>
        </p:nvSpPr>
        <p:spPr>
          <a:xfrm>
            <a:off x="8805672" y="3730752"/>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4</a:t>
            </a:r>
          </a:p>
        </p:txBody>
      </p:sp>
      <p:sp>
        <p:nvSpPr>
          <p:cNvPr id="21" name="TextBox 20"/>
          <p:cNvSpPr txBox="1"/>
          <p:nvPr/>
        </p:nvSpPr>
        <p:spPr>
          <a:xfrm>
            <a:off x="9171432" y="3685032"/>
            <a:ext cx="2057400" cy="536448"/>
          </a:xfrm>
          <a:prstGeom prst="rect">
            <a:avLst/>
          </a:prstGeom>
          <a:noFill/>
        </p:spPr>
        <p:txBody>
          <a:bodyPr wrap="square" anchor="t">
            <a:spAutoFit/>
          </a:bodyPr>
          <a:lstStyle/>
          <a:p>
            <a:pPr algn="l">
              <a:spcAft>
                <a:spcPts val="400"/>
              </a:spcAft>
            </a:pPr>
            <a:r>
              <a:rPr sz="950" b="0">
                <a:solidFill>
                  <a:srgbClr val="161B26"/>
                </a:solidFill>
                <a:latin typeface="Arial"/>
              </a:rPr>
              <a:t>The model is chosen per agent; the harness stays the same.</a:t>
            </a:r>
          </a:p>
        </p:txBody>
      </p:sp>
      <p:sp>
        <p:nvSpPr>
          <p:cNvPr id="22" name="Oval 21"/>
          <p:cNvSpPr/>
          <p:nvPr/>
        </p:nvSpPr>
        <p:spPr>
          <a:xfrm>
            <a:off x="8805672" y="4322064"/>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805672" y="4322064"/>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5</a:t>
            </a:r>
          </a:p>
        </p:txBody>
      </p:sp>
      <p:sp>
        <p:nvSpPr>
          <p:cNvPr id="24" name="TextBox 23"/>
          <p:cNvSpPr txBox="1"/>
          <p:nvPr/>
        </p:nvSpPr>
        <p:spPr>
          <a:xfrm>
            <a:off x="9171432" y="4276344"/>
            <a:ext cx="2057400" cy="536448"/>
          </a:xfrm>
          <a:prstGeom prst="rect">
            <a:avLst/>
          </a:prstGeom>
          <a:noFill/>
        </p:spPr>
        <p:txBody>
          <a:bodyPr wrap="square" anchor="t">
            <a:spAutoFit/>
          </a:bodyPr>
          <a:lstStyle/>
          <a:p>
            <a:pPr algn="l">
              <a:spcAft>
                <a:spcPts val="400"/>
              </a:spcAft>
            </a:pPr>
            <a:r>
              <a:rPr sz="950" b="0">
                <a:solidFill>
                  <a:srgbClr val="161B26"/>
                </a:solidFill>
                <a:latin typeface="Arial"/>
              </a:rPr>
              <a:t>'Search all websites' is ON by default. Remove it, or open-web facts reach your user.</a:t>
            </a:r>
          </a:p>
        </p:txBody>
      </p:sp>
      <p:sp>
        <p:nvSpPr>
          <p:cNvPr id="25" name="Oval 24"/>
          <p:cNvSpPr/>
          <p:nvPr/>
        </p:nvSpPr>
        <p:spPr>
          <a:xfrm>
            <a:off x="8805672" y="4913376"/>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491337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6</a:t>
            </a:r>
          </a:p>
        </p:txBody>
      </p:sp>
      <p:sp>
        <p:nvSpPr>
          <p:cNvPr id="27" name="TextBox 26"/>
          <p:cNvSpPr txBox="1"/>
          <p:nvPr/>
        </p:nvSpPr>
        <p:spPr>
          <a:xfrm>
            <a:off x="9171432" y="4867656"/>
            <a:ext cx="2057400" cy="536448"/>
          </a:xfrm>
          <a:prstGeom prst="rect">
            <a:avLst/>
          </a:prstGeom>
          <a:noFill/>
        </p:spPr>
        <p:txBody>
          <a:bodyPr wrap="square" anchor="t">
            <a:spAutoFit/>
          </a:bodyPr>
          <a:lstStyle/>
          <a:p>
            <a:pPr algn="l">
              <a:spcAft>
                <a:spcPts val="400"/>
              </a:spcAft>
            </a:pPr>
            <a:r>
              <a:rPr sz="950" b="0">
                <a:solidFill>
                  <a:srgbClr val="161B26"/>
                </a:solidFill>
                <a:latin typeface="Arial"/>
              </a:rPr>
              <a:t>Turn general knowledge OFF, or the model answers from training data and you cannot tell which answers those were.</a:t>
            </a:r>
          </a:p>
        </p:txBody>
      </p:sp>
      <p:sp>
        <p:nvSpPr>
          <p:cNvPr id="28" name="Rectangle 27"/>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77240" y="5760720"/>
            <a:ext cx="100584"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Grounding is not only about giving the agent facts. It is about taking away every other source of them. Built in Lab 17.</a:t>
            </a:r>
          </a:p>
        </p:txBody>
      </p:sp>
      <p:sp>
        <p:nvSpPr>
          <p:cNvPr id="31" name="TextBox 30"/>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2" name="TextBox 31"/>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3" name="TextBox 32"/>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121</a:t>
            </a:r>
          </a:p>
        </p:txBody>
      </p:sp>
    </p:spTree>
  </p:cSld>
  <p:clrMapOvr>
    <a:masterClrMapping/>
  </p:clrMapOvr>
  <p:transition spd="fast" advClick="1">
    <p:fade/>
  </p:transition>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14 · INSTRUCTIONS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Writing Instructions That Constrain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1 · Identity</a:t>
            </a:r>
          </a:p>
          <a:p>
            <a:pPr algn="l">
              <a:spcAft>
                <a:spcPts val="300"/>
              </a:spcAft>
            </a:pPr>
            <a:r>
              <a:rPr sz="1100" b="0">
                <a:solidFill>
                  <a:srgbClr val="5B6372"/>
                </a:solidFill>
                <a:latin typeface="Arial"/>
              </a:rPr>
              <a:t>"You are an HR policy information assistant." One role, one line.</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2 · Source rule</a:t>
            </a:r>
          </a:p>
          <a:p>
            <a:pPr algn="l">
              <a:spcAft>
                <a:spcPts val="300"/>
              </a:spcAft>
            </a:pPr>
            <a:r>
              <a:rPr sz="1100" b="0">
                <a:solidFill>
                  <a:srgbClr val="5B6372"/>
                </a:solidFill>
                <a:latin typeface="Arial"/>
              </a:rPr>
              <a:t>"Answer using only the approved SharePoint HR policy source."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3 · Refusals</a:t>
            </a:r>
          </a:p>
          <a:p>
            <a:pPr algn="l">
              <a:spcAft>
                <a:spcPts val="300"/>
              </a:spcAft>
            </a:pPr>
            <a:r>
              <a:rPr sz="1100" b="0">
                <a:solidFill>
                  <a:srgbClr val="5B6372"/>
                </a:solidFill>
                <a:latin typeface="Arial"/>
              </a:rPr>
              <a:t>"Do not expose, request or infer personal employee records." Prohibitions, not preferences.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4 · Escalation</a:t>
            </a:r>
          </a:p>
          <a:p>
            <a:pPr algn="l">
              <a:spcAft>
                <a:spcPts val="300"/>
              </a:spcAft>
            </a:pPr>
            <a:r>
              <a:rPr sz="1100" b="0">
                <a:solidFill>
                  <a:srgbClr val="5B6372"/>
                </a:solidFill>
                <a:latin typeface="Arial"/>
              </a:rPr>
              <a:t>"When the source is insufficient, say so and direct the user to HR."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5 · No citation markers</a:t>
            </a:r>
          </a:p>
          <a:p>
            <a:pPr algn="l">
              <a:spcAft>
                <a:spcPts val="300"/>
              </a:spcAft>
            </a:pPr>
            <a:r>
              <a:rPr sz="1100" b="0">
                <a:solidFill>
                  <a:srgbClr val="5B6372"/>
                </a:solidFill>
                <a:latin typeface="Arial"/>
              </a:rPr>
              <a:t>Grounding appends [doc:turn1doc11] and [1] tags the model did not write. Ban them explicitly.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6 · Build with the ⚡ picker</a:t>
            </a:r>
          </a:p>
          <a:p>
            <a:pPr algn="l">
              <a:spcAft>
                <a:spcPts val="300"/>
              </a:spcAft>
            </a:pPr>
            <a:r>
              <a:rPr sz="1100" b="0">
                <a:solidFill>
                  <a:srgbClr val="5B6372"/>
                </a:solidFill>
                <a:latin typeface="Arial"/>
              </a:rPr>
              <a:t>The editor escapes underscores, and a missing node resolves to EMPTY rather than erroring.</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122</a:t>
            </a:r>
          </a:p>
        </p:txBody>
      </p:sp>
    </p:spTree>
  </p:cSld>
  <p:clrMapOvr>
    <a:masterClrMapping/>
  </p:clrMapOvr>
  <p:transition spd="fast" advClick="1">
    <p:fade/>
  </p:transition>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14 · TOOLS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Tools — Where the Agent Stops and the Flow Starts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User asks</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 natural language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Agent decides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tool applies · PROBABILISTIC</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Flow runs</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800" b="0">
                <a:solidFill>
                  <a:srgbClr val="5B6372"/>
                </a:solidFill>
                <a:latin typeface="Arial"/>
              </a:rPr>
              <a:t>validate, write, notify · ENFORCED</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Respond to the agent</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typed result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Answer in chat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what the user sees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SEAM IS THE DESIGN</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The agent may call the wrong tool, or the right one with wrong values. Whatever it believed, the flow's own validation still runs. Put the consequence inside the flow — Lab 18.</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14 · CALLING AN AGENT FROM A FLOW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Agent Node Inside a Flow — and Structured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gent_node.png"/>
          <p:cNvPicPr>
            <a:picLocks noChangeAspect="1"/>
          </p:cNvPicPr>
          <p:nvPr/>
        </p:nvPicPr>
        <p:blipFill>
          <a:blip r:embed="rId2"/>
          <a:stretch>
            <a:fillRect/>
          </a:stretch>
        </p:blipFill>
        <p:spPr>
          <a:xfrm>
            <a:off x="777240" y="1783080"/>
            <a:ext cx="5635413"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The Agent node. Its Configure tab has NO user-message field — Instructions is the only per-call input.</a:t>
            </a:r>
          </a:p>
        </p:txBody>
      </p:sp>
      <p:sp>
        <p:nvSpPr>
          <p:cNvPr id="13" name="Oval 12"/>
          <p:cNvSpPr/>
          <p:nvPr/>
        </p:nvSpPr>
        <p:spPr>
          <a:xfrm>
            <a:off x="8805672" y="3730752"/>
            <a:ext cx="274320" cy="27432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685032"/>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Output › Custom structured output. Define the schema, then reference fields directly and DELETE any Parse JSON node.</a:t>
            </a:r>
          </a:p>
        </p:txBody>
      </p:sp>
      <p:sp>
        <p:nvSpPr>
          <p:cNvPr id="16" name="Rectangle 15"/>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760720"/>
            <a:ext cx="100584" cy="5669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With Text response you are asking the model for JSON and hoping. With Custom structured output the fields are typed — body('Agent')?['structuredOutput/category']. Built in Lab 19.</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124</a:t>
            </a:r>
          </a:p>
        </p:txBody>
      </p:sp>
    </p:spTree>
  </p:cSld>
  <p:clrMapOvr>
    <a:masterClrMapping/>
  </p:clrMapOvr>
  <p:transition spd="fast" advClick="1">
    <p:fade/>
  </p:transition>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14 · DESIGN DECISION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Structured Output or Parse JSON?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anything
DOWNSTREAM need
individual FIELDS from
the agent's answer?</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075688"/>
            <a:ext cx="5303520" cy="475488"/>
          </a:xfrm>
          <a:prstGeom prst="rect">
            <a:avLst/>
          </a:prstGeom>
          <a:noFill/>
        </p:spPr>
        <p:txBody>
          <a:bodyPr wrap="square" anchor="t">
            <a:spAutoFit/>
          </a:bodyPr>
          <a:lstStyle/>
          <a:p>
            <a:pPr algn="l">
              <a:spcAft>
                <a:spcPts val="400"/>
              </a:spcAft>
            </a:pPr>
            <a:r>
              <a:rPr sz="1500" b="1">
                <a:solidFill>
                  <a:srgbClr val="10B981"/>
                </a:solidFill>
                <a:latin typeface="Arial"/>
              </a:rPr>
              <a:t>YES — Custom structured output</a:t>
            </a:r>
          </a:p>
        </p:txBody>
      </p:sp>
      <p:sp>
        <p:nvSpPr>
          <p:cNvPr id="11" name="TextBox 10"/>
          <p:cNvSpPr txBox="1"/>
          <p:nvPr/>
        </p:nvSpPr>
        <p:spPr>
          <a:xfrm>
            <a:off x="5852160" y="2587752"/>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Define the schema on the Agent node. Reference fields with the slash syntax. Delete the Parse JSON node entirely.</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087367"/>
            <a:ext cx="5303520" cy="475488"/>
          </a:xfrm>
          <a:prstGeom prst="rect">
            <a:avLst/>
          </a:prstGeom>
          <a:noFill/>
        </p:spPr>
        <p:txBody>
          <a:bodyPr wrap="square" anchor="t">
            <a:spAutoFit/>
          </a:bodyPr>
          <a:lstStyle/>
          <a:p>
            <a:pPr algn="l">
              <a:spcAft>
                <a:spcPts val="400"/>
              </a:spcAft>
            </a:pPr>
            <a:r>
              <a:rPr sz="1500" b="1">
                <a:solidFill>
                  <a:srgbClr val="F59E0B"/>
                </a:solidFill>
                <a:latin typeface="Arial"/>
              </a:rPr>
              <a:t>NO — Text response is fine</a:t>
            </a:r>
          </a:p>
        </p:txBody>
      </p:sp>
      <p:sp>
        <p:nvSpPr>
          <p:cNvPr id="16" name="TextBox 15"/>
          <p:cNvSpPr txBox="1"/>
          <p:nvPr/>
        </p:nvSpPr>
        <p:spPr>
          <a:xfrm>
            <a:off x="5852160" y="4599431"/>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The answer goes straight into an email body or a chat reply. Nothing branches on it.</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With Text response the model will eventually wrap its answer in ```json fences or open with 'Here is the JSON', and Parse JSON fails with "Error parsing NaN value. Path '', line 1, position 1" — position 1 means the first character was not {.</a:t>
            </a:r>
          </a:p>
        </p:txBody>
      </p:sp>
      <p:sp>
        <p:nvSpPr>
          <p:cNvPr id="20" name="TextBox 19"/>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1" name="TextBox 20"/>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125</a:t>
            </a:r>
          </a:p>
        </p:txBody>
      </p:sp>
    </p:spTree>
  </p:cSld>
  <p:clrMapOvr>
    <a:masterClrMapping/>
  </p:clrMapOvr>
  <p:transition spd="fast" advClick="1">
    <p:fade/>
  </p:transition>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Hands-On Labs — Create and Manage Automated Processes with Power Automate and Copilot Studio Agents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13–15</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Cloud Flows — Template, Copilot and Blank</a:t>
            </a:r>
          </a:p>
          <a:p>
            <a:pPr>
              <a:spcAft>
                <a:spcPts val="900"/>
              </a:spcAft>
            </a:pPr>
            <a:r>
              <a:rPr sz="1400" b="0">
                <a:solidFill>
                  <a:srgbClr val="161B26"/>
                </a:solidFill>
                <a:latin typeface="Arial"/>
              </a:rPr>
              <a:t>•  Build an Approval Flow with a Human in the Loop</a:t>
            </a:r>
          </a:p>
          <a:p>
            <a:pPr>
              <a:spcAft>
                <a:spcPts val="900"/>
              </a:spcAft>
            </a:pPr>
            <a:r>
              <a:rPr sz="1400" b="0">
                <a:solidFill>
                  <a:srgbClr val="161B26"/>
                </a:solidFill>
                <a:latin typeface="Arial"/>
              </a:rPr>
              <a:t>•  Button Flows and Scheduled Flows</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16–18</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Trigger Filters and Cross-Source Integration</a:t>
            </a:r>
          </a:p>
          <a:p>
            <a:pPr>
              <a:spcAft>
                <a:spcPts val="900"/>
              </a:spcAft>
            </a:pPr>
            <a:r>
              <a:rPr sz="1400" b="0">
                <a:solidFill>
                  <a:srgbClr val="161B26"/>
                </a:solidFill>
                <a:latin typeface="Arial"/>
              </a:rPr>
              <a:t>•  Build Your First Copilot Studio Agent</a:t>
            </a:r>
          </a:p>
          <a:p>
            <a:pPr>
              <a:spcAft>
                <a:spcPts val="900"/>
              </a:spcAft>
            </a:pPr>
            <a:r>
              <a:rPr sz="1400" b="0">
                <a:solidFill>
                  <a:srgbClr val="161B26"/>
                </a:solidFill>
                <a:latin typeface="Arial"/>
              </a:rPr>
              <a:t>•  Give the Agent a Tool — Calling a Workflow from an Agent</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19–20</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Call an Agent from a Workflow with Structured Output</a:t>
            </a:r>
          </a:p>
          <a:p>
            <a:pPr>
              <a:spcAft>
                <a:spcPts val="900"/>
              </a:spcAft>
            </a:pPr>
            <a:r>
              <a:rPr sz="1400" b="0">
                <a:solidFill>
                  <a:srgbClr val="161B26"/>
                </a:solidFill>
                <a:latin typeface="Arial"/>
              </a:rPr>
              <a:t>•  Multi-Agent Handoff and a Human Review Gate</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126</a:t>
            </a:r>
          </a:p>
        </p:txBody>
      </p:sp>
    </p:spTree>
  </p:cSld>
  <p:clrMapOvr>
    <a:masterClrMapping/>
  </p:clrMapOvr>
  <p:transition spd="fast" advClick="1">
    <p:fade/>
  </p:transition>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Cloud Flows — Template, Copilot and Blank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A3/A5 — Build flows three ways and verify each run against its trigger and actions.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one flow from a template, one with Copilot and one from blank, so the trigger-actions-outputs anatomy is visible from three directions, then read the run history of each.</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Three working cloud flows plus a read of their run history.</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Outlook, SharePoint, Copilot for Power Automate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three flows show a Succeeded run, and you can name the trigger and each action's output that supplied a value in the email.</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127</a:t>
            </a:r>
          </a:p>
        </p:txBody>
      </p:sp>
    </p:spTree>
  </p:cSld>
  <p:clrMapOvr>
    <a:masterClrMapping/>
  </p:clrMapOvr>
  <p:transition spd="fast" advClick="1">
    <p:fade/>
  </p:transition>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From a template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and run it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With Copilot</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from a description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From blank</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choose the trigger</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Dynamic content</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insert, never type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Compare run histories</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all three flows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A3/A5 — Build flows three ways and verify each run against its trigger and actions.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Cloud Flows — Template, Copilot and Blank</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All three flows show a Succeeded run, and you can name the trigger and each action's output that supplied a value in the email.</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labs/lab-13/README.md.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129</a:t>
            </a:r>
          </a:p>
        </p:txBody>
      </p:sp>
    </p:spTree>
  </p:cSld>
  <p:clrMapOvr>
    <a:masterClrMapping/>
  </p:clrMapOvr>
  <p:transition spd="fast" advClick="1">
    <p:fade/>
  </p:transition>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an Approval Flow with a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A3/A5 — Pause an automated process for a human decision and branch on the outcome.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a flow that starts when a booking request row is created, sends an approval to a manager, waits for the response, and updates the record's status based on the outcome.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approval flow that writes Confirmed or Declined back to Dataverse based on a human decision.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Approvals, Dataverse, Outlook, Microsoft Teams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Approving the request sets the Dataverse row's Status to Confirmed and the requester receives the notification email; rejecting sets Declined.</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130</a:t>
            </a:r>
          </a:p>
        </p:txBody>
      </p:sp>
    </p:spTree>
  </p:cSld>
  <p:clrMapOvr>
    <a:masterClrMapping/>
  </p:clrMapOvr>
  <p:transition spd="fast" advClick="1">
    <p:fade/>
  </p:transition>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Automated trigger</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row is added</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Send for approval</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flow suspends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Human decides</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 Teams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Condition on Outcome</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branch the run</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Update and notify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status and email</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A3/A5 — Pause an automated process for a human decision and branch on the outcome.</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an Approval Flow with a Human in the Loop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Approving the request sets the Dataverse row's Status to Confirmed and the requester receives the notification email; rejecting sets Declined.</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labs/lab-14/README.md.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132</a:t>
            </a:r>
          </a:p>
        </p:txBody>
      </p:sp>
    </p:spTree>
  </p:cSld>
  <p:clrMapOvr>
    <a:masterClrMapping/>
  </p:clrMapOvr>
  <p:transition spd="fast" advClick="1">
    <p:fade/>
  </p:transition>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Button Flows and Scheduled 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 Use manual and scheduled triggers, and collect user input at run time.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an instant (button) flow that prompts the user for input and creates a record, then build a scheduled flow that queries rows on a recurrence and emails an HTML summary table.</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instant flow with user input and a recurring digest flow that emails a formatted table.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Dataverse, Outlook</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button flow creates a Dataverse row from the values you typed, and the scheduled flow's test run emails a formatted HTML table of pending bookings.</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133</a:t>
            </a:r>
          </a:p>
        </p:txBody>
      </p:sp>
    </p:spTree>
  </p:cSld>
  <p:clrMapOvr>
    <a:masterClrMapping/>
  </p:clrMapOvr>
  <p:transition spd="fast" advClick="1">
    <p:fade/>
  </p:transition>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Instant trigger</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person presses Run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Collect user input</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three parameters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Write the row</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to Dataverse</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Recurrence</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set the time zone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Query and email</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an HTML table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 Use manual and scheduled triggers, and collect user input at run time.</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Button Flows and Scheduled Flows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button flow creates a Dataverse row from the values you typed, and the scheduled flow's test run emails a formatted HTML table of pending bookings.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labs/lab-15/README.md.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135</a:t>
            </a:r>
          </a:p>
        </p:txBody>
      </p:sp>
    </p:spTree>
  </p:cSld>
  <p:clrMapOvr>
    <a:masterClrMapping/>
  </p:clrMapOvr>
  <p:transition spd="fast" advClick="1">
    <p:fade/>
  </p:transition>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Trigger Filters and Cross-Source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A5/A7 — Stop unnecessary runs with trigger filters and highlight performance issues.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Add column and row filters to an automated trigger so the flow only runs when it must, then integrate SharePoint, Dataverse and Excel in one flow and compare run counts before and after filtering.</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filtered automated flow plus a run-count comparison showing the performance improvement.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Automate, Dataverse, SharePoint, Excel Online (Business)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After filtering, edits to non-Status columns produce no runs, and a single Confirmed change writes to all three data sources in one Succeeded run.</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136</a:t>
            </a:r>
          </a:p>
        </p:txBody>
      </p:sp>
    </p:spTree>
  </p:cSld>
  <p:clrMapOvr>
    <a:masterClrMapping/>
  </p:clrMapOvr>
  <p:transition spd="fast" advClick="1">
    <p:fade/>
  </p:transition>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Find the schema name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not the display name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Baseline the runs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before filtering</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Select columns</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only Status fires it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Filter rows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only Confirmed</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Write to three sources</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one business event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A5/A7 — Stop unnecessary runs with trigger filters and highlight performance issues.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Trigger Filters and Cross-Source Integration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After filtering, edits to non-Status columns produce no runs, and a single Confirmed change writes to all three data sources in one Succeeded run.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labs/lab-16/README.md.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138</a:t>
            </a:r>
          </a:p>
        </p:txBody>
      </p:sp>
    </p:spTree>
  </p:cSld>
  <p:clrMapOvr>
    <a:masterClrMapping/>
  </p:clrMapOvr>
  <p:transition spd="fast" advClick="1">
    <p:fade/>
  </p:transition>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Your First Copilot Studio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17</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A1/A3 — Build a conversational agent with instructions and knowledge as a new integration surface.</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In the new Copilot Studio agent designer, create an agent, choose its model, write constraining instructions, attach a SharePoint knowledge source and remove every other source of facts, then probe it for hallucination.</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grounded Copilot Studio agent that answers only from your documents and refuses otherwise.</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Copilot Studio (new agent designer), SharePoint, Dataverse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agent answers the in-scope questions from the documents and explicitly declines the out-of-scope ones instead of inventing an answer.</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139</a:t>
            </a:r>
          </a:p>
        </p:txBody>
      </p:sp>
    </p:spTree>
  </p:cSld>
  <p:clrMapOvr>
    <a:masterClrMapping/>
  </p:clrMapOvr>
  <p:transition spd="fast" advClick="1">
    <p:fade/>
  </p:transition>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17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the agent</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name and model</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Write instructions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identity and refusals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Attach knowledge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wait for Ready</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Remove other sources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web and general</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Probe it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try to make it invent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A1/A3 — Build a conversational agent with instructions and knowledge as a new integration surface.</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17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Your First Copilot Studio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agent answers the in-scope questions from the documents and explicitly declines the out-of-scope ones instead of inventing an answer.</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labs/lab-17/README.md.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141</a:t>
            </a:r>
          </a:p>
        </p:txBody>
      </p:sp>
    </p:spTree>
  </p:cSld>
  <p:clrMapOvr>
    <a:masterClrMapping/>
  </p:clrMapOvr>
  <p:transition spd="fast" advClick="1">
    <p:fade/>
  </p:transition>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Give the Agent a Tool — Calling a Workflow from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18</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 — Expose a deterministic flow to an agent as a callable tool with typed inputs and outputs.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an agent flow that validates and writes a booking, then register it as a tool on the agent so the conversation can act on the outside world while the enforced logic stays in the flow.</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An agent that calls a Power Automate flow as a tool and returns the flow's result in chat.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Copilot Studio agent flows, Power Automate, Dataverse, Microsoft Teams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valid request creates a Dataverse row and returns the confirmation in chat; the 60-night request is refused by the flow's own Condition.</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142</a:t>
            </a:r>
          </a:p>
        </p:txBody>
      </p:sp>
    </p:spTree>
  </p:cSld>
  <p:clrMapOvr>
    <a:masterClrMapping/>
  </p:clrMapOvr>
  <p:transition spd="fast" advClick="1">
    <p:fade/>
  </p:transition>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18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New agent flow</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tool</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Typed inputs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from the conversation</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Validate</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enforced, unlike a prompt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Write and respond</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back to the agent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Probe the boundary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flow refuses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A4 — Expose a deterministic flow to an agent as a callable tool with typed inputs and outputs.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143</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18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Give the Agent a Tool — Calling a Workflow from an Agent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 valid request creates a Dataverse row and returns the confirmation in chat; the 60-night request is refused by the flow's own Condition.</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labs/lab-18/README.md.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144</a:t>
            </a:r>
          </a:p>
        </p:txBody>
      </p:sp>
    </p:spTree>
  </p:cSld>
  <p:clrMapOvr>
    <a:masterClrMapping/>
  </p:clrMapOvr>
  <p:transition spd="fast" advClick="1">
    <p:fade/>
  </p:transition>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Call an Agent from a Workflow with Structured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19</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A4/A5 — Use an Agent node inside a flow and consume its typed fields downstream.</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a Power Automate flow containing an Agent node that classifies an incoming request, configure Custom structured output so the result is typed JSON, and branch the flow on the returned fields.</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flow whose Agent node returns structured JSON that the following actions branch on.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Copilot Studio workflow designer, Agent node, Dataverse, Outlook</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Agent node's Run Details shows the three schema fields populated, and the Switch routes the run to the case matching the returned category.</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145</a:t>
            </a:r>
          </a:p>
        </p:txBody>
      </p:sp>
    </p:spTree>
  </p:cSld>
  <p:clrMapOvr>
    <a:masterClrMapping/>
  </p:clrMapOvr>
  <p:transition spd="fast" advClick="1">
    <p:fade/>
  </p:transition>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19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an Agent node</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inside the flow</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Instructions only</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no message field</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Structured output</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define the schema</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Delete Parse JSON</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reference fields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Switch on a field</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route the run</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A4/A5 — Use an Agent node inside a flow and consume its typed fields downstream.</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146</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19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Call an Agent from a Workflow with Structured Output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Agent node's Run Details shows the three schema fields populated, and the Switch routes the run to the case matching the returned category.</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labs/lab-19/README.md.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147</a:t>
            </a:r>
          </a:p>
        </p:txBody>
      </p:sp>
    </p:spTree>
  </p:cSld>
  <p:clrMapOvr>
    <a:masterClrMapping/>
  </p:clrMapOvr>
  <p:transition spd="fast" advClick="1">
    <p:fade/>
  </p:transition>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LU3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Multi-Agent Handoff and a Human Review Gate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20</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A5/A7 — Compose connected agents and place a human where the consequence lands.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Connect a second specialist agent so one conversation can hand off to another with its own knowledge, then add a Request human assistance gate so a consequential action cannot proceed without approval.</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two-agent system with a working handoff and a human review gate that blocks the run.</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Copilot Studio (connected agents), agent flows, Microsoft Teams approvals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claims question is answered by the connected agent, and a rejected booking leaves no Dataverse row while an approved one does.</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148</a:t>
            </a:r>
          </a:p>
        </p:txBody>
      </p:sp>
    </p:spTree>
  </p:cSld>
  <p:clrMapOvr>
    <a:masterClrMapping/>
  </p:clrMapOvr>
  <p:transition spd="fast" advClick="1">
    <p:fade/>
  </p:transition>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20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Second agent</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its own knowledge</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Connect it</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describe the handoff</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Test the handoff</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two question types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Human review gate</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route to Teams</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Reject then approve</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compare the runs</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A5/A7 — Compose connected agents and place a human where the consequence lands.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149</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20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Multi-Agent Handoff and a Human Review Gate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claims question is answered by the connected agent, and a rejected booking leaves no Dataverse row while an approved one does.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labs/lab-20/README.md.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150</a:t>
            </a:r>
          </a:p>
        </p:txBody>
      </p:sp>
    </p:spTree>
  </p:cSld>
  <p:clrMapOvr>
    <a:masterClrMapping/>
  </p:clrMapOvr>
  <p:transition spd="fast" advClick="1">
    <p:fade/>
  </p:transition>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RECAP · YOU CAN 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Recap — Create and Manage Automated Processes with Power Automate and Copilot Studio Agents (1/2)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13 — Create Cloud Flows — Template, Copilot and Blank</a:t>
            </a:r>
          </a:p>
          <a:p>
            <a:pPr algn="l">
              <a:spcAft>
                <a:spcPts val="300"/>
              </a:spcAft>
            </a:pPr>
            <a:r>
              <a:rPr sz="1000" b="0">
                <a:solidFill>
                  <a:srgbClr val="5B6372"/>
                </a:solidFill>
                <a:latin typeface="Arial"/>
              </a:rPr>
              <a:t>A3/A5 — Build flows three ways and verify each run against its trigger and actions.</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14 — Build an Approval Flow with a Human in the Loop</a:t>
            </a:r>
          </a:p>
          <a:p>
            <a:pPr algn="l">
              <a:spcAft>
                <a:spcPts val="300"/>
              </a:spcAft>
            </a:pPr>
            <a:r>
              <a:rPr sz="1000" b="0">
                <a:solidFill>
                  <a:srgbClr val="5B6372"/>
                </a:solidFill>
                <a:latin typeface="Arial"/>
              </a:rPr>
              <a:t>A3/A5 — Pause an automated process for a human decision and branch on the outcome.</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15 — Button Flows and Scheduled Flows</a:t>
            </a:r>
          </a:p>
          <a:p>
            <a:pPr algn="l">
              <a:spcAft>
                <a:spcPts val="300"/>
              </a:spcAft>
            </a:pPr>
            <a:r>
              <a:rPr sz="1000" b="0">
                <a:solidFill>
                  <a:srgbClr val="5B6372"/>
                </a:solidFill>
                <a:latin typeface="Arial"/>
              </a:rPr>
              <a:t>A3 — Use manual and scheduled triggers, and collect user input at run time.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16 — Trigger Filters and Cross-Source Integration</a:t>
            </a:r>
          </a:p>
          <a:p>
            <a:pPr algn="l">
              <a:spcAft>
                <a:spcPts val="300"/>
              </a:spcAft>
            </a:pPr>
            <a:r>
              <a:rPr sz="1000" b="0">
                <a:solidFill>
                  <a:srgbClr val="5B6372"/>
                </a:solidFill>
                <a:latin typeface="Arial"/>
              </a:rPr>
              <a:t>A5/A7 — Stop unnecessary runs with trigger filters and highlight performance issues.</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151</a:t>
            </a:r>
          </a:p>
        </p:txBody>
      </p:sp>
    </p:spTree>
  </p:cSld>
  <p:clrMapOvr>
    <a:masterClrMapping/>
  </p:clrMapOvr>
  <p:transition spd="fast" advClick="1">
    <p:fade/>
  </p:transition>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RECAP · YOU CAN 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000" b="1">
                <a:solidFill>
                  <a:srgbClr val="161B26"/>
                </a:solidFill>
                <a:latin typeface="Arial"/>
              </a:rPr>
              <a:t>Recap — Create and Manage Automated Processes with Power Automate and Copilot Studio Agents (2/2)</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17 — Build Your First Copilot Studio Agent</a:t>
            </a:r>
          </a:p>
          <a:p>
            <a:pPr algn="l">
              <a:spcAft>
                <a:spcPts val="300"/>
              </a:spcAft>
            </a:pPr>
            <a:r>
              <a:rPr sz="1000" b="0">
                <a:solidFill>
                  <a:srgbClr val="5B6372"/>
                </a:solidFill>
                <a:latin typeface="Arial"/>
              </a:rPr>
              <a:t>A1/A3 — Build a conversational agent with instructions and knowledge as a new integration surface.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18 — Give the Agent a Tool — Calling a Workflow from an Agent</a:t>
            </a:r>
          </a:p>
          <a:p>
            <a:pPr algn="l">
              <a:spcAft>
                <a:spcPts val="300"/>
              </a:spcAft>
            </a:pPr>
            <a:r>
              <a:rPr sz="1000" b="0">
                <a:solidFill>
                  <a:srgbClr val="5B6372"/>
                </a:solidFill>
                <a:latin typeface="Arial"/>
              </a:rPr>
              <a:t>A4 — Expose a deterministic flow to an agent as a callable tool with typed inputs and outputs.</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19 — Call an Agent from a Workflow with Structured Output</a:t>
            </a:r>
          </a:p>
          <a:p>
            <a:pPr algn="l">
              <a:spcAft>
                <a:spcPts val="300"/>
              </a:spcAft>
            </a:pPr>
            <a:r>
              <a:rPr sz="1000" b="0">
                <a:solidFill>
                  <a:srgbClr val="5B6372"/>
                </a:solidFill>
                <a:latin typeface="Arial"/>
              </a:rPr>
              <a:t>A4/A5 — Use an Agent node inside a flow and consume its typed fields downstream.</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400" b="1">
                <a:solidFill>
                  <a:srgbClr val="161B26"/>
                </a:solidFill>
                <a:latin typeface="Arial"/>
              </a:rPr>
              <a:t>Lab 20 — Multi-Agent Handoff and a Human Review Gate</a:t>
            </a:r>
          </a:p>
          <a:p>
            <a:pPr algn="l">
              <a:spcAft>
                <a:spcPts val="300"/>
              </a:spcAft>
            </a:pPr>
            <a:r>
              <a:rPr sz="1000" b="0">
                <a:solidFill>
                  <a:srgbClr val="5B6372"/>
                </a:solidFill>
                <a:latin typeface="Arial"/>
              </a:rPr>
              <a:t>A5/A7 — Compose connected agents and place a human where the consequence lands.</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152</a:t>
            </a:r>
          </a:p>
        </p:txBody>
      </p:sp>
    </p:spTree>
  </p:cSld>
  <p:clrMapOvr>
    <a:masterClrMapping/>
  </p:clrMapOvr>
  <p:transition spd="fast" advClick="1">
    <p:fade/>
  </p:transition>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LU4</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Model-Driven Apps with Power Apps and Dataverse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Topics 15–19 · Labs 21–26</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4</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153</a:t>
            </a:r>
          </a:p>
        </p:txBody>
      </p:sp>
    </p:spTree>
  </p:cSld>
  <p:clrMapOvr>
    <a:masterClrMapping/>
  </p:clrMapOvr>
  <p:transition spd="fast" advClick="1">
    <p:fade/>
  </p:transition>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15</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Create Tables in Dataverse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Table characteristics · properties · columns · relationships · keys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15</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154</a:t>
            </a:r>
          </a:p>
        </p:txBody>
      </p:sp>
    </p:spTree>
  </p:cSld>
  <p:clrMapOvr>
    <a:masterClrMapping/>
  </p:clrMapOvr>
  <p:transition spd="fast" advClick="1">
    <p:fade/>
  </p:transition>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15 · THE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Dataverse Table Is More Than Rows and Columns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ataverse_table.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A Choice column stores a value from a defined option set — in a formula it is Status.Value.</a:t>
            </a:r>
          </a:p>
        </p:txBody>
      </p:sp>
      <p:sp>
        <p:nvSpPr>
          <p:cNvPr id="13" name="Oval 12"/>
          <p:cNvSpPr/>
          <p:nvPr/>
        </p:nvSpPr>
        <p:spPr>
          <a:xfrm>
            <a:off x="8805672" y="3730752"/>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730752"/>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685032"/>
            <a:ext cx="2057400" cy="1719072"/>
          </a:xfrm>
          <a:prstGeom prst="rect">
            <a:avLst/>
          </a:prstGeom>
          <a:noFill/>
        </p:spPr>
        <p:txBody>
          <a:bodyPr wrap="square" anchor="t">
            <a:spAutoFit/>
          </a:bodyPr>
          <a:lstStyle/>
          <a:p>
            <a:pPr algn="l">
              <a:spcAft>
                <a:spcPts val="400"/>
              </a:spcAft>
            </a:pPr>
            <a:r>
              <a:rPr sz="1050" b="0">
                <a:solidFill>
                  <a:srgbClr val="161B26"/>
                </a:solidFill>
                <a:latin typeface="Arial"/>
              </a:rPr>
              <a:t>A Lookup column IS the relationship. Adding it creates a many-to-one link to the other table.</a:t>
            </a:r>
          </a:p>
        </p:txBody>
      </p:sp>
      <p:sp>
        <p:nvSpPr>
          <p:cNvPr id="16" name="Rectangle 15"/>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77240" y="5760720"/>
            <a:ext cx="100584"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Note the Name column: tic_kennelid. That schema name — not the display name — is what trigger filters, Filter Query expressions and Power Fx must use.</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155</a:t>
            </a:r>
          </a:p>
        </p:txBody>
      </p:sp>
    </p:spTree>
  </p:cSld>
  <p:clrMapOvr>
    <a:masterClrMapping/>
  </p:clrMapOvr>
  <p:transition spd="fast" advClick="1">
    <p:fade/>
  </p:transition>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15 · TABLE ANATOMY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Parts of a Dataverse Table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Rows</a:t>
            </a:r>
          </a:p>
          <a:p>
            <a:pPr algn="l">
              <a:spcAft>
                <a:spcPts val="300"/>
              </a:spcAft>
            </a:pPr>
            <a:r>
              <a:rPr sz="1200" b="0">
                <a:solidFill>
                  <a:srgbClr val="5B6372"/>
                </a:solidFill>
                <a:latin typeface="Arial"/>
              </a:rPr>
              <a:t>Individual records — one booking, one property, one pet.</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Columns</a:t>
            </a:r>
          </a:p>
          <a:p>
            <a:pPr algn="l">
              <a:spcAft>
                <a:spcPts val="300"/>
              </a:spcAft>
            </a:pPr>
            <a:r>
              <a:rPr sz="1200" b="0">
                <a:solidFill>
                  <a:srgbClr val="5B6372"/>
                </a:solidFill>
                <a:latin typeface="Arial"/>
              </a:rPr>
              <a:t>The metadata on each record, each with a data type.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Relationships</a:t>
            </a:r>
          </a:p>
          <a:p>
            <a:pPr algn="l">
              <a:spcAft>
                <a:spcPts val="300"/>
              </a:spcAft>
            </a:pPr>
            <a:r>
              <a:rPr sz="1200" b="0">
                <a:solidFill>
                  <a:srgbClr val="5B6372"/>
                </a:solidFill>
                <a:latin typeface="Arial"/>
              </a:rPr>
              <a:t>Connections between tables — one-to-many, many-to-one, many-to-many.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Keys</a:t>
            </a:r>
          </a:p>
          <a:p>
            <a:pPr algn="l">
              <a:spcAft>
                <a:spcPts val="300"/>
              </a:spcAft>
            </a:pPr>
            <a:r>
              <a:rPr sz="1200" b="0">
                <a:solidFill>
                  <a:srgbClr val="5B6372"/>
                </a:solidFill>
                <a:latin typeface="Arial"/>
              </a:rPr>
              <a:t>Unique identifiers; the primary key is a GUID the platform generates.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Primary column</a:t>
            </a:r>
          </a:p>
          <a:p>
            <a:pPr algn="l">
              <a:spcAft>
                <a:spcPts val="300"/>
              </a:spcAft>
            </a:pPr>
            <a:r>
              <a:rPr sz="1200" b="0">
                <a:solidFill>
                  <a:srgbClr val="5B6372"/>
                </a:solidFill>
                <a:latin typeface="Arial"/>
              </a:rPr>
              <a:t>The single text column that names the row across the product.</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Views &amp; forms</a:t>
            </a:r>
          </a:p>
          <a:p>
            <a:pPr algn="l">
              <a:spcAft>
                <a:spcPts val="300"/>
              </a:spcAft>
            </a:pPr>
            <a:r>
              <a:rPr sz="1200" b="0">
                <a:solidFill>
                  <a:srgbClr val="5B6372"/>
                </a:solidFill>
                <a:latin typeface="Arial"/>
              </a:rPr>
              <a:t>Saved queries and layouts that belong to the table itself.</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156</a:t>
            </a:r>
          </a:p>
        </p:txBody>
      </p:sp>
    </p:spTree>
  </p:cSld>
  <p:clrMapOvr>
    <a:masterClrMapping/>
  </p:clrMapOvr>
  <p:transition spd="fast" advClick="1">
    <p:fade/>
  </p:transition>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15 · DATA TYPES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Choosing the Right Column Data Type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Data 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Stores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Watch out for</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Single line of text</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Short text up to 4,000 characters</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Not for anything you will do maths on</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Choice</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One value from a defined option set</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In formulas it is Status.Value, not Status</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Lookup</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reference to a row in another table</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This IS the relationship — it cannot be added later for free</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Currency</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Money, with a currency and exchange rate</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Creates a hidden base-currency column too</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Date and time / Date only</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moment, or a calendar date</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Time-zone behaviour differs between the two</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Whole number / Decimal</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Counts and measurements</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Decimal for money is a trap — use Currency</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1F6FEB"/>
                </a:solidFill>
                <a:latin typeface="Arial"/>
              </a:rPr>
              <a:t>WHEN IT MATTERS  </a:t>
            </a:r>
            <a:r>
              <a:rPr sz="1200" b="0">
                <a:solidFill>
                  <a:srgbClr val="161B26"/>
                </a:solidFill>
                <a:latin typeface="Arial"/>
              </a:rPr>
              <a:t>Changing a column's data type after rows exist is often impossible — you create a new column and migrate. Model deliberately in Lab 21 before you build the app in Lab 22.</a:t>
            </a:r>
          </a:p>
        </p:txBody>
      </p:sp>
      <p:sp>
        <p:nvSpPr>
          <p:cNvPr id="52" name="TextBox 5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53" name="TextBox 5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157</a:t>
            </a:r>
          </a:p>
        </p:txBody>
      </p:sp>
    </p:spTree>
  </p:cSld>
  <p:clrMapOvr>
    <a:masterClrMapping/>
  </p:clrMapOvr>
  <p:transition spd="fast" advClick="1">
    <p:fade/>
  </p:transition>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16</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Get Started with Model-Driven Apps in Power Apps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Components · the app designer · site map · running the app</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16</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158</a:t>
            </a:r>
          </a:p>
        </p:txBody>
      </p:sp>
    </p:spTree>
  </p:cSld>
  <p:clrMapOvr>
    <a:masterClrMapping/>
  </p:clrMapOvr>
  <p:transition spd="fast" advClick="1">
    <p:fade/>
  </p:transition>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16 · THE INTERFACE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 Model-Driven App Is Generated from the Data Model</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odel_driven.png"/>
          <p:cNvPicPr>
            <a:picLocks noChangeAspect="1"/>
          </p:cNvPicPr>
          <p:nvPr/>
        </p:nvPicPr>
        <p:blipFill>
          <a:blip r:embed="rId2"/>
          <a:stretch>
            <a:fillRect/>
          </a:stretch>
        </p:blipFill>
        <p:spPr>
          <a:xfrm>
            <a:off x="777240" y="1783080"/>
            <a:ext cx="6762496" cy="3803904"/>
          </a:xfrm>
          <a:prstGeom prst="rect">
            <a:avLst/>
          </a:prstGeom>
        </p:spPr>
      </p:pic>
      <p:sp>
        <p:nvSpPr>
          <p:cNvPr id="8" name="Rectangle 7"/>
          <p:cNvSpPr/>
          <p:nvPr/>
        </p:nvSpPr>
        <p:spPr>
          <a:xfrm>
            <a:off x="8641080" y="1783080"/>
            <a:ext cx="2770632" cy="380390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41080" y="1783080"/>
            <a:ext cx="2770632"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805672" y="1956816"/>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05672" y="1956816"/>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1</a:t>
            </a:r>
          </a:p>
        </p:txBody>
      </p:sp>
      <p:sp>
        <p:nvSpPr>
          <p:cNvPr id="12" name="TextBox 11"/>
          <p:cNvSpPr txBox="1"/>
          <p:nvPr/>
        </p:nvSpPr>
        <p:spPr>
          <a:xfrm>
            <a:off x="9171432" y="1911096"/>
            <a:ext cx="2057400" cy="1127760"/>
          </a:xfrm>
          <a:prstGeom prst="rect">
            <a:avLst/>
          </a:prstGeom>
          <a:noFill/>
        </p:spPr>
        <p:txBody>
          <a:bodyPr wrap="square" anchor="t">
            <a:spAutoFit/>
          </a:bodyPr>
          <a:lstStyle/>
          <a:p>
            <a:pPr algn="l">
              <a:spcAft>
                <a:spcPts val="400"/>
              </a:spcAft>
            </a:pPr>
            <a:r>
              <a:rPr sz="1050" b="0">
                <a:solidFill>
                  <a:srgbClr val="161B26"/>
                </a:solidFill>
                <a:latin typeface="Arial"/>
              </a:rPr>
              <a:t>The site map — the navigation you configure from the tables in the app.</a:t>
            </a:r>
          </a:p>
        </p:txBody>
      </p:sp>
      <p:sp>
        <p:nvSpPr>
          <p:cNvPr id="13" name="Oval 12"/>
          <p:cNvSpPr/>
          <p:nvPr/>
        </p:nvSpPr>
        <p:spPr>
          <a:xfrm>
            <a:off x="8805672" y="3139440"/>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05672" y="3139440"/>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2</a:t>
            </a:r>
          </a:p>
        </p:txBody>
      </p:sp>
      <p:sp>
        <p:nvSpPr>
          <p:cNvPr id="15" name="TextBox 14"/>
          <p:cNvSpPr txBox="1"/>
          <p:nvPr/>
        </p:nvSpPr>
        <p:spPr>
          <a:xfrm>
            <a:off x="9171432" y="3093720"/>
            <a:ext cx="2057400" cy="1127760"/>
          </a:xfrm>
          <a:prstGeom prst="rect">
            <a:avLst/>
          </a:prstGeom>
          <a:noFill/>
        </p:spPr>
        <p:txBody>
          <a:bodyPr wrap="square" anchor="t">
            <a:spAutoFit/>
          </a:bodyPr>
          <a:lstStyle/>
          <a:p>
            <a:pPr algn="l">
              <a:spcAft>
                <a:spcPts val="400"/>
              </a:spcAft>
            </a:pPr>
            <a:r>
              <a:rPr sz="1050" b="0">
                <a:solidFill>
                  <a:srgbClr val="161B26"/>
                </a:solidFill>
                <a:latin typeface="Arial"/>
              </a:rPr>
              <a:t>The view selector. Views are saved queries that belong to the table.</a:t>
            </a:r>
          </a:p>
        </p:txBody>
      </p:sp>
      <p:sp>
        <p:nvSpPr>
          <p:cNvPr id="16" name="Oval 15"/>
          <p:cNvSpPr/>
          <p:nvPr/>
        </p:nvSpPr>
        <p:spPr>
          <a:xfrm>
            <a:off x="8805672" y="4322064"/>
            <a:ext cx="274320" cy="27432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05672" y="4322064"/>
            <a:ext cx="274320" cy="274320"/>
          </a:xfrm>
          <a:prstGeom prst="rect">
            <a:avLst/>
          </a:prstGeom>
          <a:noFill/>
        </p:spPr>
        <p:txBody>
          <a:bodyPr wrap="square" anchor="ctr">
            <a:spAutoFit/>
          </a:bodyPr>
          <a:lstStyle/>
          <a:p>
            <a:pPr algn="ctr">
              <a:spcAft>
                <a:spcPts val="400"/>
              </a:spcAft>
            </a:pPr>
            <a:r>
              <a:rPr sz="1000" b="1">
                <a:solidFill>
                  <a:srgbClr val="FFFFFF"/>
                </a:solidFill>
                <a:latin typeface="Arial"/>
              </a:rPr>
              <a:t>3</a:t>
            </a:r>
          </a:p>
        </p:txBody>
      </p:sp>
      <p:sp>
        <p:nvSpPr>
          <p:cNvPr id="18" name="TextBox 17"/>
          <p:cNvSpPr txBox="1"/>
          <p:nvPr/>
        </p:nvSpPr>
        <p:spPr>
          <a:xfrm>
            <a:off x="9171432" y="4276344"/>
            <a:ext cx="2057400" cy="1127760"/>
          </a:xfrm>
          <a:prstGeom prst="rect">
            <a:avLst/>
          </a:prstGeom>
          <a:noFill/>
        </p:spPr>
        <p:txBody>
          <a:bodyPr wrap="square" anchor="t">
            <a:spAutoFit/>
          </a:bodyPr>
          <a:lstStyle/>
          <a:p>
            <a:pPr algn="l">
              <a:spcAft>
                <a:spcPts val="400"/>
              </a:spcAft>
            </a:pPr>
            <a:r>
              <a:rPr sz="1050" b="0">
                <a:solidFill>
                  <a:srgbClr val="161B26"/>
                </a:solidFill>
                <a:latin typeface="Arial"/>
              </a:rPr>
              <a:t>A chart, driven by the same Dataverse rows, with no code.</a:t>
            </a:r>
          </a:p>
        </p:txBody>
      </p:sp>
      <p:sp>
        <p:nvSpPr>
          <p:cNvPr id="19" name="Rectangle 18"/>
          <p:cNvSpPr/>
          <p:nvPr/>
        </p:nvSpPr>
        <p:spPr>
          <a:xfrm>
            <a:off x="777240" y="5760720"/>
            <a:ext cx="10634472" cy="56692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77240" y="5760720"/>
            <a:ext cx="100584" cy="5669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5760720"/>
            <a:ext cx="10149840" cy="566928"/>
          </a:xfrm>
          <a:prstGeom prst="rect">
            <a:avLst/>
          </a:prstGeom>
          <a:noFill/>
        </p:spPr>
        <p:txBody>
          <a:bodyPr wrap="square" anchor="ctr">
            <a:spAutoFit/>
          </a:bodyPr>
          <a:lstStyle/>
          <a:p>
            <a:pPr algn="l">
              <a:spcAft>
                <a:spcPts val="400"/>
              </a:spcAft>
            </a:pPr>
            <a:r>
              <a:rPr sz="1050" b="0">
                <a:solidFill>
                  <a:srgbClr val="161B26"/>
                </a:solidFill>
                <a:latin typeface="Arial"/>
              </a:rPr>
              <a:t>You did not draw this screen. You chose the tables, and the platform generated the grid, the forms, the commands and the search. Built in Labs 21–24.</a:t>
            </a:r>
          </a:p>
        </p:txBody>
      </p:sp>
      <p:sp>
        <p:nvSpPr>
          <p:cNvPr id="22" name="TextBox 2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3" name="TextBox 2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4" name="TextBox 2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159</a:t>
            </a:r>
          </a:p>
        </p:txBody>
      </p:sp>
    </p:spTree>
  </p:cSld>
  <p:clrMapOvr>
    <a:masterClrMapping/>
  </p:clrMapOvr>
  <p:transition spd="fast" advClick="1">
    <p:fade/>
  </p:transition>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16 · THE SEQUENCE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Building a Model-Driven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Model the data</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tables, columns, relationships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pages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table view + form</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Configure navigation</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site map</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Publish</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make it live</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Play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run it as a user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THE DATA MODEL COMES FIRST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In a canvas app you can design the screen before you know the data. In a model-driven app you cannot — the app IS the data model, surfaced.</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17</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Configure Forms, Charts and Dashboards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Form types · form elements · views · charts · dashboards</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17</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161</a:t>
            </a:r>
          </a:p>
        </p:txBody>
      </p:sp>
    </p:spTree>
  </p:cSld>
  <p:clrMapOvr>
    <a:masterClrMapping/>
  </p:clrMapOvr>
  <p:transition spd="fast" advClick="1">
    <p:fade/>
  </p:transition>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17 · FORMS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Four Form Types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Form type</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Where it appears</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Shows</a:t>
            </a:r>
          </a:p>
        </p:txBody>
      </p:sp>
      <p:sp>
        <p:nvSpPr>
          <p:cNvPr id="13" name="Rectangle 12"/>
          <p:cNvSpPr/>
          <p:nvPr/>
        </p:nvSpPr>
        <p:spPr>
          <a:xfrm>
            <a:off x="777240" y="2258568"/>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Main</a:t>
            </a:r>
          </a:p>
        </p:txBody>
      </p:sp>
      <p:sp>
        <p:nvSpPr>
          <p:cNvPr id="15" name="Rectangle 14"/>
          <p:cNvSpPr/>
          <p:nvPr/>
        </p:nvSpPr>
        <p:spPr>
          <a:xfrm>
            <a:off x="3542202"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record's own page</a:t>
            </a:r>
          </a:p>
        </p:txBody>
      </p:sp>
      <p:sp>
        <p:nvSpPr>
          <p:cNvPr id="17" name="Rectangle 16"/>
          <p:cNvSpPr/>
          <p:nvPr/>
        </p:nvSpPr>
        <p:spPr>
          <a:xfrm>
            <a:off x="7476957" y="2258568"/>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The full record, in tabs and sections</a:t>
            </a:r>
          </a:p>
        </p:txBody>
      </p:sp>
      <p:sp>
        <p:nvSpPr>
          <p:cNvPr id="19" name="Rectangle 18"/>
          <p:cNvSpPr/>
          <p:nvPr/>
        </p:nvSpPr>
        <p:spPr>
          <a:xfrm>
            <a:off x="777240" y="2971800"/>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971800"/>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Quick View</a:t>
            </a:r>
          </a:p>
        </p:txBody>
      </p:sp>
      <p:sp>
        <p:nvSpPr>
          <p:cNvPr id="21" name="Rectangle 20"/>
          <p:cNvSpPr/>
          <p:nvPr/>
        </p:nvSpPr>
        <p:spPr>
          <a:xfrm>
            <a:off x="3542202"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Embedded in ANOTHER record's form</a:t>
            </a:r>
          </a:p>
        </p:txBody>
      </p:sp>
      <p:sp>
        <p:nvSpPr>
          <p:cNvPr id="23" name="Rectangle 22"/>
          <p:cNvSpPr/>
          <p:nvPr/>
        </p:nvSpPr>
        <p:spPr>
          <a:xfrm>
            <a:off x="7476957" y="2971800"/>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971800"/>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Read-only fields from a related row</a:t>
            </a:r>
          </a:p>
        </p:txBody>
      </p:sp>
      <p:sp>
        <p:nvSpPr>
          <p:cNvPr id="25" name="Rectangle 24"/>
          <p:cNvSpPr/>
          <p:nvPr/>
        </p:nvSpPr>
        <p:spPr>
          <a:xfrm>
            <a:off x="777240" y="3685032"/>
            <a:ext cx="2764962"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685032"/>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Quick Create</a:t>
            </a:r>
          </a:p>
        </p:txBody>
      </p:sp>
      <p:sp>
        <p:nvSpPr>
          <p:cNvPr id="27" name="Rectangle 26"/>
          <p:cNvSpPr/>
          <p:nvPr/>
        </p:nvSpPr>
        <p:spPr>
          <a:xfrm>
            <a:off x="3542202"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fly-out from + New</a:t>
            </a:r>
          </a:p>
        </p:txBody>
      </p:sp>
      <p:sp>
        <p:nvSpPr>
          <p:cNvPr id="29" name="Rectangle 28"/>
          <p:cNvSpPr/>
          <p:nvPr/>
        </p:nvSpPr>
        <p:spPr>
          <a:xfrm>
            <a:off x="7476957" y="3685032"/>
            <a:ext cx="3934755" cy="713232"/>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685032"/>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short form for fast data entry</a:t>
            </a:r>
          </a:p>
        </p:txBody>
      </p:sp>
      <p:sp>
        <p:nvSpPr>
          <p:cNvPr id="31" name="Rectangle 30"/>
          <p:cNvSpPr/>
          <p:nvPr/>
        </p:nvSpPr>
        <p:spPr>
          <a:xfrm>
            <a:off x="777240" y="4398264"/>
            <a:ext cx="2764962"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4398264"/>
            <a:ext cx="2508930" cy="713232"/>
          </a:xfrm>
          <a:prstGeom prst="rect">
            <a:avLst/>
          </a:prstGeom>
          <a:noFill/>
        </p:spPr>
        <p:txBody>
          <a:bodyPr wrap="square" anchor="ctr">
            <a:spAutoFit/>
          </a:bodyPr>
          <a:lstStyle/>
          <a:p>
            <a:pPr algn="l">
              <a:spcAft>
                <a:spcPts val="400"/>
              </a:spcAft>
            </a:pPr>
            <a:r>
              <a:rPr sz="1150" b="1">
                <a:solidFill>
                  <a:srgbClr val="161B26"/>
                </a:solidFill>
                <a:latin typeface="Arial"/>
              </a:rPr>
              <a:t>Card</a:t>
            </a:r>
          </a:p>
        </p:txBody>
      </p:sp>
      <p:sp>
        <p:nvSpPr>
          <p:cNvPr id="33" name="Rectangle 32"/>
          <p:cNvSpPr/>
          <p:nvPr/>
        </p:nvSpPr>
        <p:spPr>
          <a:xfrm>
            <a:off x="3542202"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In a view on a mobile layout</a:t>
            </a:r>
          </a:p>
        </p:txBody>
      </p:sp>
      <p:sp>
        <p:nvSpPr>
          <p:cNvPr id="35" name="Rectangle 34"/>
          <p:cNvSpPr/>
          <p:nvPr/>
        </p:nvSpPr>
        <p:spPr>
          <a:xfrm>
            <a:off x="7476957" y="4398264"/>
            <a:ext cx="3934755" cy="71323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4398264"/>
            <a:ext cx="3678723" cy="713232"/>
          </a:xfrm>
          <a:prstGeom prst="rect">
            <a:avLst/>
          </a:prstGeom>
          <a:noFill/>
        </p:spPr>
        <p:txBody>
          <a:bodyPr wrap="square" anchor="ctr">
            <a:spAutoFit/>
          </a:bodyPr>
          <a:lstStyle/>
          <a:p>
            <a:pPr algn="l">
              <a:spcAft>
                <a:spcPts val="400"/>
              </a:spcAft>
            </a:pPr>
            <a:r>
              <a:rPr sz="1150" b="0">
                <a:solidFill>
                  <a:srgbClr val="5B6372"/>
                </a:solidFill>
                <a:latin typeface="Arial"/>
              </a:rPr>
              <a:t>A few fields, compactly</a:t>
            </a:r>
          </a:p>
        </p:txBody>
      </p:sp>
      <p:sp>
        <p:nvSpPr>
          <p:cNvPr id="37" name="Rectangle 36"/>
          <p:cNvSpPr/>
          <p:nvPr/>
        </p:nvSpPr>
        <p:spPr>
          <a:xfrm>
            <a:off x="777240" y="531266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77240" y="5312664"/>
            <a:ext cx="100584" cy="8412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51560" y="5422392"/>
            <a:ext cx="10085832" cy="603504"/>
          </a:xfrm>
          <a:prstGeom prst="rect">
            <a:avLst/>
          </a:prstGeom>
          <a:noFill/>
        </p:spPr>
        <p:txBody>
          <a:bodyPr wrap="square" anchor="t">
            <a:spAutoFit/>
          </a:bodyPr>
          <a:lstStyle/>
          <a:p>
            <a:pPr algn="l">
              <a:spcAft>
                <a:spcPts val="400"/>
              </a:spcAft>
            </a:pPr>
            <a:r>
              <a:rPr sz="1100" b="1">
                <a:solidFill>
                  <a:srgbClr val="7C3AED"/>
                </a:solidFill>
                <a:latin typeface="Arial"/>
              </a:rPr>
              <a:t>WHEN IT MATTERS  </a:t>
            </a:r>
            <a:r>
              <a:rPr sz="1200" b="0">
                <a:solidFill>
                  <a:srgbClr val="161B26"/>
                </a:solidFill>
                <a:latin typeface="Arial"/>
              </a:rPr>
              <a:t>The Quick View form is how the Property record shows its agent's phone and email without the user navigating away — configured in Lab 23.</a:t>
            </a:r>
          </a:p>
        </p:txBody>
      </p:sp>
      <p:sp>
        <p:nvSpPr>
          <p:cNvPr id="40" name="TextBox 39"/>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41" name="TextBox 40"/>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42" name="TextBox 4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162</a:t>
            </a:r>
          </a:p>
        </p:txBody>
      </p:sp>
    </p:spTree>
  </p:cSld>
  <p:clrMapOvr>
    <a:masterClrMapping/>
  </p:clrMapOvr>
  <p:transition spd="fast" advClick="1">
    <p:fade/>
  </p:transition>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17 · VISUALISATION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Views, Charts and Dashboards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Public view</a:t>
            </a:r>
          </a:p>
          <a:p>
            <a:pPr algn="l">
              <a:spcAft>
                <a:spcPts val="300"/>
              </a:spcAft>
            </a:pPr>
            <a:r>
              <a:rPr sz="1200" b="0">
                <a:solidFill>
                  <a:srgbClr val="5B6372"/>
                </a:solidFill>
                <a:latin typeface="Arial"/>
              </a:rPr>
              <a:t>A saved query everyone can select — filter, sort and columns.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Personal view</a:t>
            </a:r>
          </a:p>
          <a:p>
            <a:pPr algn="l">
              <a:spcAft>
                <a:spcPts val="300"/>
              </a:spcAft>
            </a:pPr>
            <a:r>
              <a:rPr sz="1200" b="0">
                <a:solidFill>
                  <a:srgbClr val="5B6372"/>
                </a:solidFill>
                <a:latin typeface="Arial"/>
              </a:rPr>
              <a:t>A user's own saved query, visible only to them.</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Chart</a:t>
            </a:r>
          </a:p>
          <a:p>
            <a:pPr algn="l">
              <a:spcAft>
                <a:spcPts val="300"/>
              </a:spcAft>
            </a:pPr>
            <a:r>
              <a:rPr sz="1200" b="0">
                <a:solidFill>
                  <a:srgbClr val="5B6372"/>
                </a:solidFill>
                <a:latin typeface="Arial"/>
              </a:rPr>
              <a:t>A visualisation over one table, respecting the current view's filter.</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Dashboard</a:t>
            </a:r>
          </a:p>
          <a:p>
            <a:pPr algn="l">
              <a:spcAft>
                <a:spcPts val="300"/>
              </a:spcAft>
            </a:pPr>
            <a:r>
              <a:rPr sz="1200" b="0">
                <a:solidFill>
                  <a:srgbClr val="5B6372"/>
                </a:solidFill>
                <a:latin typeface="Arial"/>
              </a:rPr>
              <a:t>Charts plus lists on one page, cross-filtering each other.</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Security trimmed</a:t>
            </a:r>
          </a:p>
          <a:p>
            <a:pPr algn="l">
              <a:spcAft>
                <a:spcPts val="300"/>
              </a:spcAft>
            </a:pPr>
            <a:r>
              <a:rPr sz="1200" b="0">
                <a:solidFill>
                  <a:srgbClr val="5B6372"/>
                </a:solidFill>
                <a:latin typeface="Arial"/>
              </a:rPr>
              <a:t>Every view, chart and dashboard shows only rows the user may read.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code</a:t>
            </a:r>
          </a:p>
          <a:p>
            <a:pPr algn="l">
              <a:spcAft>
                <a:spcPts val="300"/>
              </a:spcAft>
            </a:pPr>
            <a:r>
              <a:rPr sz="1200" b="0">
                <a:solidFill>
                  <a:srgbClr val="5B6372"/>
                </a:solidFill>
                <a:latin typeface="Arial"/>
              </a:rPr>
              <a:t>All of it is configuration — this is the model-driven trade.</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163</a:t>
            </a:r>
          </a:p>
        </p:txBody>
      </p:sp>
    </p:spTree>
  </p:cSld>
  <p:clrMapOvr>
    <a:masterClrMapping/>
  </p:clrMapOvr>
  <p:transition spd="fast" advClick="1">
    <p:fade/>
  </p:transition>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TOPIC 17 · CHARTS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What a Dataverse Chart Renders — Properties by Status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0B981"/>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These are the real counts from the 18 rows in Lab 21's properties.csv. The chart is a saved definition over the table, not a copy of the data — verify against expected-chart-values.csv in Lab 24.</a:t>
            </a:r>
          </a:p>
        </p:txBody>
      </p:sp>
      <p:sp>
        <p:nvSpPr>
          <p:cNvPr id="12" name="TextBox 1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3" name="TextBox 1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164</a:t>
            </a:r>
          </a:p>
        </p:txBody>
      </p:sp>
    </p:spTree>
  </p:cSld>
  <p:clrMapOvr>
    <a:masterClrMapping/>
  </p:clrMapOvr>
  <p:transition spd="fast" advClick="1">
    <p:fade/>
  </p:transition>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17 · CHARTS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Average Asking Price by Property Type (SGD)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Chart 6"/>
          <p:cNvGraphicFramePr>
            <a:graphicFrameLocks noGrp="1"/>
          </p:cNvGraphicFramePr>
          <p:nvPr/>
        </p:nvGraphicFramePr>
        <p:xfrm>
          <a:off x="777240" y="1783080"/>
          <a:ext cx="10634472" cy="3246120"/>
        </p:xfrm>
        <a:graphic>
          <a:graphicData uri="http://schemas.openxmlformats.org/drawingml/2006/chart">
            <c:chart xmlns:c="http://schemas.openxmlformats.org/drawingml/2006/chart" r:id="rId2"/>
          </a:graphicData>
        </a:graphic>
      </p:graphicFrame>
      <p:sp>
        <p:nvSpPr>
          <p:cNvPr id="8" name="Rectangle 7"/>
          <p:cNvSpPr/>
          <p:nvPr/>
        </p:nvSpPr>
        <p:spPr>
          <a:xfrm>
            <a:off x="777240" y="5230368"/>
            <a:ext cx="10634472" cy="100584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77240" y="5230368"/>
            <a:ext cx="100584" cy="10058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5340096"/>
            <a:ext cx="10149840" cy="274320"/>
          </a:xfrm>
          <a:prstGeom prst="rect">
            <a:avLst/>
          </a:prstGeom>
          <a:noFill/>
        </p:spPr>
        <p:txBody>
          <a:bodyPr wrap="square" anchor="t">
            <a:spAutoFit/>
          </a:bodyPr>
          <a:lstStyle/>
          <a:p>
            <a:pPr algn="l">
              <a:spcAft>
                <a:spcPts val="400"/>
              </a:spcAft>
            </a:pPr>
            <a:r>
              <a:rPr sz="1100" b="1">
                <a:solidFill>
                  <a:srgbClr val="1F6FEB"/>
                </a:solidFill>
                <a:latin typeface="Arial"/>
              </a:rPr>
              <a:t>WHAT THE DATA SHOWS</a:t>
            </a:r>
          </a:p>
        </p:txBody>
      </p:sp>
      <p:sp>
        <p:nvSpPr>
          <p:cNvPr id="11" name="TextBox 10"/>
          <p:cNvSpPr txBox="1"/>
          <p:nvPr/>
        </p:nvSpPr>
        <p:spPr>
          <a:xfrm>
            <a:off x="1051560" y="5632704"/>
            <a:ext cx="10149840" cy="548640"/>
          </a:xfrm>
          <a:prstGeom prst="rect">
            <a:avLst/>
          </a:prstGeom>
          <a:noFill/>
        </p:spPr>
        <p:txBody>
          <a:bodyPr wrap="square" anchor="t">
            <a:spAutoFit/>
          </a:bodyPr>
          <a:lstStyle/>
          <a:p>
            <a:pPr algn="l">
              <a:spcAft>
                <a:spcPts val="400"/>
              </a:spcAft>
            </a:pPr>
            <a:r>
              <a:rPr sz="1200" b="0">
                <a:solidFill>
                  <a:srgbClr val="161B26"/>
                </a:solidFill>
                <a:latin typeface="Arial"/>
              </a:rPr>
              <a:t>Computed from the same 18 rows: 12 residential averaging SGD 2,569,583 and 6 commercial averaging SGD 4,255,000. An aggregate chart computes server-side across every row the USER may see — so two users can open the same chart and correctly see different numbers.</a:t>
            </a:r>
          </a:p>
        </p:txBody>
      </p:sp>
      <p:sp>
        <p:nvSpPr>
          <p:cNvPr id="12" name="TextBox 1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3" name="TextBox 1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4" name="TextBox 1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165</a:t>
            </a:r>
          </a:p>
        </p:txBody>
      </p:sp>
    </p:spTree>
  </p:cSld>
  <p:clrMapOvr>
    <a:masterClrMapping/>
  </p:clrMapOvr>
  <p:transition spd="fast" advClick="1">
    <p:fade/>
  </p:transition>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18</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Manage Solutions in Power Apps and Power Automate</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Solutions · publishers · managed vs unmanaged · environments · ALM</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18</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166</a:t>
            </a:r>
          </a:p>
        </p:txBody>
      </p:sp>
    </p:spTree>
  </p:cSld>
  <p:clrMapOvr>
    <a:masterClrMapping/>
  </p:clrMapOvr>
  <p:transition spd="fast" advClick="1">
    <p:fade/>
  </p:transition>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7C3AED"/>
                </a:solidFill>
                <a:latin typeface="Arial"/>
              </a:rPr>
              <a:t>TOPIC 18 · TSC A8 · ALM</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a Change Reaches Production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Build in DEV</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unmanaged solution</a:t>
            </a:r>
          </a:p>
        </p:txBody>
      </p:sp>
      <p:cxnSp>
        <p:nvCxnSpPr>
          <p:cNvPr id="13" name="Connector 12"/>
          <p:cNvCxnSpPr/>
          <p:nvPr/>
        </p:nvCxnSpPr>
        <p:spPr>
          <a:xfrm>
            <a:off x="2651760"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components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apps, flows, tables</a:t>
            </a:r>
          </a:p>
        </p:txBody>
      </p:sp>
      <p:cxnSp>
        <p:nvCxnSpPr>
          <p:cNvPr id="20" name="Connector 19"/>
          <p:cNvCxnSpPr/>
          <p:nvPr/>
        </p:nvCxnSpPr>
        <p:spPr>
          <a:xfrm>
            <a:off x="4855464"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Export MANAGED</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versioned .zip</a:t>
            </a:r>
          </a:p>
        </p:txBody>
      </p:sp>
      <p:cxnSp>
        <p:nvCxnSpPr>
          <p:cNvPr id="27" name="Connector 26"/>
          <p:cNvCxnSpPr/>
          <p:nvPr/>
        </p:nvCxnSpPr>
        <p:spPr>
          <a:xfrm>
            <a:off x="7059168"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Import to TEST</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supply connections</a:t>
            </a:r>
          </a:p>
        </p:txBody>
      </p:sp>
      <p:cxnSp>
        <p:nvCxnSpPr>
          <p:cNvPr id="34" name="Connector 33"/>
          <p:cNvCxnSpPr/>
          <p:nvPr/>
        </p:nvCxnSpPr>
        <p:spPr>
          <a:xfrm>
            <a:off x="9262872" y="3223260"/>
            <a:ext cx="274320" cy="0"/>
          </a:xfrm>
          <a:prstGeom prst="line">
            <a:avLst/>
          </a:prstGeom>
          <a:ln w="25400">
            <a:solidFill>
              <a:srgbClr val="7C3AED"/>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Promote to PROD</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same package</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7C3AED"/>
                </a:solidFill>
                <a:latin typeface="Arial"/>
              </a:rPr>
              <a:t>THIS IS TSC A8</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Implementing modifications to middleware safely means shipping them as a versioned, reviewable package — not editing production by hand.</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D13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D13438"/>
                </a:solidFill>
                <a:latin typeface="Arial"/>
              </a:rPr>
              <a:t>TOPIC 18 · SOLUTIONS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Managed or Unmanaged — The Decision That Cannot Be Undone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D13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Unmanaged</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Managed</a:t>
            </a:r>
          </a:p>
        </p:txBody>
      </p:sp>
      <p:sp>
        <p:nvSpPr>
          <p:cNvPr id="13" name="Rectangle 12"/>
          <p:cNvSpPr/>
          <p:nvPr/>
        </p:nvSpPr>
        <p:spPr>
          <a:xfrm>
            <a:off x="777240" y="2258568"/>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Purpose</a:t>
            </a:r>
          </a:p>
        </p:txBody>
      </p:sp>
      <p:sp>
        <p:nvSpPr>
          <p:cNvPr id="15" name="Rectangle 14"/>
          <p:cNvSpPr/>
          <p:nvPr/>
        </p:nvSpPr>
        <p:spPr>
          <a:xfrm>
            <a:off x="3542202"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Development</a:t>
            </a:r>
          </a:p>
        </p:txBody>
      </p:sp>
      <p:sp>
        <p:nvSpPr>
          <p:cNvPr id="17" name="Rectangle 16"/>
          <p:cNvSpPr/>
          <p:nvPr/>
        </p:nvSpPr>
        <p:spPr>
          <a:xfrm>
            <a:off x="7476957" y="2258568"/>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Distribution</a:t>
            </a:r>
          </a:p>
        </p:txBody>
      </p:sp>
      <p:sp>
        <p:nvSpPr>
          <p:cNvPr id="19" name="Rectangle 18"/>
          <p:cNvSpPr/>
          <p:nvPr/>
        </p:nvSpPr>
        <p:spPr>
          <a:xfrm>
            <a:off x="777240" y="2838297"/>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838297"/>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Can components be edited?</a:t>
            </a:r>
          </a:p>
        </p:txBody>
      </p:sp>
      <p:sp>
        <p:nvSpPr>
          <p:cNvPr id="21" name="Rectangle 20"/>
          <p:cNvSpPr/>
          <p:nvPr/>
        </p:nvSpPr>
        <p:spPr>
          <a:xfrm>
            <a:off x="3542202"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Yes</a:t>
            </a:r>
          </a:p>
        </p:txBody>
      </p:sp>
      <p:sp>
        <p:nvSpPr>
          <p:cNvPr id="23" name="Rectangle 22"/>
          <p:cNvSpPr/>
          <p:nvPr/>
        </p:nvSpPr>
        <p:spPr>
          <a:xfrm>
            <a:off x="7476957" y="2838297"/>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838297"/>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No — locked in the target</a:t>
            </a:r>
          </a:p>
        </p:txBody>
      </p:sp>
      <p:sp>
        <p:nvSpPr>
          <p:cNvPr id="25" name="Rectangle 24"/>
          <p:cNvSpPr/>
          <p:nvPr/>
        </p:nvSpPr>
        <p:spPr>
          <a:xfrm>
            <a:off x="777240" y="3418026"/>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418026"/>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Uninstall</a:t>
            </a:r>
          </a:p>
        </p:txBody>
      </p:sp>
      <p:sp>
        <p:nvSpPr>
          <p:cNvPr id="27" name="Rectangle 26"/>
          <p:cNvSpPr/>
          <p:nvPr/>
        </p:nvSpPr>
        <p:spPr>
          <a:xfrm>
            <a:off x="3542202"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Leaves components behind</a:t>
            </a:r>
          </a:p>
        </p:txBody>
      </p:sp>
      <p:sp>
        <p:nvSpPr>
          <p:cNvPr id="29" name="Rectangle 28"/>
          <p:cNvSpPr/>
          <p:nvPr/>
        </p:nvSpPr>
        <p:spPr>
          <a:xfrm>
            <a:off x="7476957" y="3418026"/>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418026"/>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Removes its components cleanly</a:t>
            </a:r>
          </a:p>
        </p:txBody>
      </p:sp>
      <p:sp>
        <p:nvSpPr>
          <p:cNvPr id="31" name="Rectangle 30"/>
          <p:cNvSpPr/>
          <p:nvPr/>
        </p:nvSpPr>
        <p:spPr>
          <a:xfrm>
            <a:off x="777240" y="3997755"/>
            <a:ext cx="2764962"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997755"/>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Where it belongs</a:t>
            </a:r>
          </a:p>
        </p:txBody>
      </p:sp>
      <p:sp>
        <p:nvSpPr>
          <p:cNvPr id="33" name="Rectangle 32"/>
          <p:cNvSpPr/>
          <p:nvPr/>
        </p:nvSpPr>
        <p:spPr>
          <a:xfrm>
            <a:off x="3542202"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Your DEV environment</a:t>
            </a:r>
          </a:p>
        </p:txBody>
      </p:sp>
      <p:sp>
        <p:nvSpPr>
          <p:cNvPr id="35" name="Rectangle 34"/>
          <p:cNvSpPr/>
          <p:nvPr/>
        </p:nvSpPr>
        <p:spPr>
          <a:xfrm>
            <a:off x="7476957" y="3997755"/>
            <a:ext cx="3934755" cy="57972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997755"/>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TEST and PRODUCTION</a:t>
            </a:r>
          </a:p>
        </p:txBody>
      </p:sp>
      <p:sp>
        <p:nvSpPr>
          <p:cNvPr id="37" name="Rectangle 36"/>
          <p:cNvSpPr/>
          <p:nvPr/>
        </p:nvSpPr>
        <p:spPr>
          <a:xfrm>
            <a:off x="777240" y="4577484"/>
            <a:ext cx="2764962"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577484"/>
            <a:ext cx="2508930" cy="579729"/>
          </a:xfrm>
          <a:prstGeom prst="rect">
            <a:avLst/>
          </a:prstGeom>
          <a:noFill/>
        </p:spPr>
        <p:txBody>
          <a:bodyPr wrap="square" anchor="ctr">
            <a:spAutoFit/>
          </a:bodyPr>
          <a:lstStyle/>
          <a:p>
            <a:pPr algn="l">
              <a:spcAft>
                <a:spcPts val="400"/>
              </a:spcAft>
            </a:pPr>
            <a:r>
              <a:rPr sz="1150" b="1">
                <a:solidFill>
                  <a:srgbClr val="161B26"/>
                </a:solidFill>
                <a:latin typeface="Arial"/>
              </a:rPr>
              <a:t>Reversible?</a:t>
            </a:r>
          </a:p>
        </p:txBody>
      </p:sp>
      <p:sp>
        <p:nvSpPr>
          <p:cNvPr id="39" name="Rectangle 38"/>
          <p:cNvSpPr/>
          <p:nvPr/>
        </p:nvSpPr>
        <p:spPr>
          <a:xfrm>
            <a:off x="3542202"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a:t>
            </a:r>
          </a:p>
        </p:txBody>
      </p:sp>
      <p:sp>
        <p:nvSpPr>
          <p:cNvPr id="41" name="Rectangle 40"/>
          <p:cNvSpPr/>
          <p:nvPr/>
        </p:nvSpPr>
        <p:spPr>
          <a:xfrm>
            <a:off x="7476957" y="4577484"/>
            <a:ext cx="3934755" cy="579729"/>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577484"/>
            <a:ext cx="3678723" cy="579729"/>
          </a:xfrm>
          <a:prstGeom prst="rect">
            <a:avLst/>
          </a:prstGeom>
          <a:noFill/>
        </p:spPr>
        <p:txBody>
          <a:bodyPr wrap="square" anchor="ctr">
            <a:spAutoFit/>
          </a:bodyPr>
          <a:lstStyle/>
          <a:p>
            <a:pPr algn="l">
              <a:spcAft>
                <a:spcPts val="400"/>
              </a:spcAft>
            </a:pPr>
            <a:r>
              <a:rPr sz="1150" b="0">
                <a:solidFill>
                  <a:srgbClr val="5B6372"/>
                </a:solidFill>
                <a:latin typeface="Arial"/>
              </a:rPr>
              <a:t>You cannot convert managed back to unmanaged</a:t>
            </a:r>
          </a:p>
        </p:txBody>
      </p:sp>
      <p:sp>
        <p:nvSpPr>
          <p:cNvPr id="43" name="Rectangle 42"/>
          <p:cNvSpPr/>
          <p:nvPr/>
        </p:nvSpPr>
        <p:spPr>
          <a:xfrm>
            <a:off x="777240" y="5358381"/>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77240" y="5358381"/>
            <a:ext cx="100584" cy="841248"/>
          </a:xfrm>
          <a:prstGeom prst="rect">
            <a:avLst/>
          </a:prstGeom>
          <a:solidFill>
            <a:srgbClr val="D13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51560" y="5468109"/>
            <a:ext cx="10085832" cy="603504"/>
          </a:xfrm>
          <a:prstGeom prst="rect">
            <a:avLst/>
          </a:prstGeom>
          <a:noFill/>
        </p:spPr>
        <p:txBody>
          <a:bodyPr wrap="square" anchor="t">
            <a:spAutoFit/>
          </a:bodyPr>
          <a:lstStyle/>
          <a:p>
            <a:pPr algn="l">
              <a:spcAft>
                <a:spcPts val="400"/>
              </a:spcAft>
            </a:pPr>
            <a:r>
              <a:rPr sz="1100" b="1">
                <a:solidFill>
                  <a:srgbClr val="D13438"/>
                </a:solidFill>
                <a:latin typeface="Arial"/>
              </a:rPr>
              <a:t>WHEN IT MATTERS  </a:t>
            </a:r>
            <a:r>
              <a:rPr sz="1200" b="0">
                <a:solidFill>
                  <a:srgbClr val="161B26"/>
                </a:solidFill>
                <a:latin typeface="Arial"/>
              </a:rPr>
              <a:t>Importing an unmanaged solution into production is the mistake that cannot be cleanly undone. Develop unmanaged, ship managed — Lab 25.</a:t>
            </a:r>
          </a:p>
        </p:txBody>
      </p:sp>
      <p:sp>
        <p:nvSpPr>
          <p:cNvPr id="46" name="TextBox 45"/>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47" name="TextBox 46"/>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48" name="TextBox 47"/>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168</a:t>
            </a:r>
          </a:p>
        </p:txBody>
      </p:sp>
    </p:spTree>
  </p:cSld>
  <p:clrMapOvr>
    <a:masterClrMapping/>
  </p:clrMapOvr>
  <p:transition spd="fast" advClick="1">
    <p:fade/>
  </p:transition>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TOPIC 18 · PACKAGING</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Belongs in the Solution</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Tables and columns</a:t>
            </a:r>
          </a:p>
          <a:p>
            <a:pPr algn="l">
              <a:spcAft>
                <a:spcPts val="300"/>
              </a:spcAft>
            </a:pPr>
            <a:r>
              <a:rPr sz="1200" b="0">
                <a:solidFill>
                  <a:srgbClr val="5B6372"/>
                </a:solidFill>
                <a:latin typeface="Arial"/>
              </a:rPr>
              <a:t>The data model your app depends on.</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Apps</a:t>
            </a:r>
          </a:p>
          <a:p>
            <a:pPr algn="l">
              <a:spcAft>
                <a:spcPts val="300"/>
              </a:spcAft>
            </a:pPr>
            <a:r>
              <a:rPr sz="1200" b="0">
                <a:solidFill>
                  <a:srgbClr val="5B6372"/>
                </a:solidFill>
                <a:latin typeface="Arial"/>
              </a:rPr>
              <a:t>Canvas and model-driven apps alike.</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Flows</a:t>
            </a:r>
          </a:p>
          <a:p>
            <a:pPr algn="l">
              <a:spcAft>
                <a:spcPts val="300"/>
              </a:spcAft>
            </a:pPr>
            <a:r>
              <a:rPr sz="1200" b="0">
                <a:solidFill>
                  <a:srgbClr val="5B6372"/>
                </a:solidFill>
                <a:latin typeface="Arial"/>
              </a:rPr>
              <a:t>Ship the automation WITH the app that relies on it.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Forms, views, charts, dashboards</a:t>
            </a:r>
          </a:p>
          <a:p>
            <a:pPr algn="l">
              <a:spcAft>
                <a:spcPts val="300"/>
              </a:spcAft>
            </a:pPr>
            <a:r>
              <a:rPr sz="1200" b="0">
                <a:solidFill>
                  <a:srgbClr val="5B6372"/>
                </a:solidFill>
                <a:latin typeface="Arial"/>
              </a:rPr>
              <a:t>They belong to their tables.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Connection references</a:t>
            </a:r>
          </a:p>
          <a:p>
            <a:pPr algn="l">
              <a:spcAft>
                <a:spcPts val="300"/>
              </a:spcAft>
            </a:pPr>
            <a:r>
              <a:rPr sz="1200" b="0">
                <a:solidFill>
                  <a:srgbClr val="5B6372"/>
                </a:solidFill>
                <a:latin typeface="Arial"/>
              </a:rPr>
              <a:t>So the target environment can rebind its own connections.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Environment variables</a:t>
            </a:r>
          </a:p>
          <a:p>
            <a:pPr algn="l">
              <a:spcAft>
                <a:spcPts val="300"/>
              </a:spcAft>
            </a:pPr>
            <a:r>
              <a:rPr sz="1200" b="0">
                <a:solidFill>
                  <a:srgbClr val="5B6372"/>
                </a:solidFill>
                <a:latin typeface="Arial"/>
              </a:rPr>
              <a:t>Values that legitimately differ per environment.</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169</a:t>
            </a:r>
          </a:p>
        </p:txBody>
      </p:sp>
    </p:spTree>
  </p:cSld>
  <p:clrMapOvr>
    <a:masterClrMapping/>
  </p:clrMapOvr>
  <p:transition spd="fast" advClick="1">
    <p:fade/>
  </p:transition>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TOPIC 19</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Guided Project &amp; Troubleshooting Power Platform Integrations</a:t>
            </a:r>
          </a:p>
        </p:txBody>
      </p:sp>
      <p:sp>
        <p:nvSpPr>
          <p:cNvPr id="7" name="TextBox 6"/>
          <p:cNvSpPr txBox="1"/>
          <p:nvPr/>
        </p:nvSpPr>
        <p:spPr>
          <a:xfrm>
            <a:off x="1161288" y="4160520"/>
            <a:ext cx="10058400" cy="731520"/>
          </a:xfrm>
          <a:prstGeom prst="rect">
            <a:avLst/>
          </a:prstGeom>
          <a:noFill/>
        </p:spPr>
        <p:txBody>
          <a:bodyPr wrap="square" anchor="t">
            <a:spAutoFit/>
          </a:bodyPr>
          <a:lstStyle/>
          <a:p>
            <a:pPr algn="l">
              <a:spcAft>
                <a:spcPts val="400"/>
              </a:spcAft>
            </a:pPr>
            <a:r>
              <a:rPr sz="1600" b="0">
                <a:solidFill>
                  <a:srgbClr val="5B6372"/>
                </a:solidFill>
                <a:latin typeface="Arial"/>
              </a:rPr>
              <a:t>Contoso Real Estate · isolating the failing layer · TSC A7 and A8</a:t>
            </a:r>
          </a:p>
        </p:txBody>
      </p:sp>
      <p:sp>
        <p:nvSpPr>
          <p:cNvPr id="8" name="TextBox 7"/>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19</a:t>
            </a:r>
          </a:p>
        </p:txBody>
      </p:sp>
      <p:sp>
        <p:nvSpPr>
          <p:cNvPr id="9" name="TextBox 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10" name="TextBox 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1" name="TextBox 1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170</a:t>
            </a:r>
          </a:p>
        </p:txBody>
      </p:sp>
    </p:spTree>
  </p:cSld>
  <p:clrMapOvr>
    <a:masterClrMapping/>
  </p:clrMapOvr>
  <p:transition spd="fast" advClick="1">
    <p:fade/>
  </p:transition>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19 · TSC A7 · DIAGNOSIS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500" b="1">
                <a:solidFill>
                  <a:srgbClr val="161B26"/>
                </a:solidFill>
                <a:latin typeface="Arial"/>
              </a:rPr>
              <a:t>Troubleshooting — Isolate the Layer Before You Change Anything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Diamond 6"/>
          <p:cNvSpPr/>
          <p:nvPr/>
        </p:nvSpPr>
        <p:spPr>
          <a:xfrm>
            <a:off x="777240" y="2514600"/>
            <a:ext cx="4206240" cy="2468880"/>
          </a:xfrm>
          <a:prstGeom prst="diamond">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a:solidFill>
                  <a:srgbClr val="FFFFFF"/>
                </a:solidFill>
                <a:latin typeface="Arial"/>
              </a:rPr>
              <a:t>Does the SAME data
load for a different
USER, in a different
ENVIRONMENT?</a:t>
            </a:r>
          </a:p>
        </p:txBody>
      </p:sp>
      <p:sp>
        <p:nvSpPr>
          <p:cNvPr id="8" name="Rounded Rectangle 7"/>
          <p:cNvSpPr/>
          <p:nvPr/>
        </p:nvSpPr>
        <p:spPr>
          <a:xfrm>
            <a:off x="5577840" y="1965960"/>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0" y="1965960"/>
            <a:ext cx="100584" cy="13716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852160" y="2075688"/>
            <a:ext cx="5303520" cy="475488"/>
          </a:xfrm>
          <a:prstGeom prst="rect">
            <a:avLst/>
          </a:prstGeom>
          <a:noFill/>
        </p:spPr>
        <p:txBody>
          <a:bodyPr wrap="square" anchor="t">
            <a:spAutoFit/>
          </a:bodyPr>
          <a:lstStyle/>
          <a:p>
            <a:pPr algn="l">
              <a:spcAft>
                <a:spcPts val="400"/>
              </a:spcAft>
            </a:pPr>
            <a:r>
              <a:rPr sz="1300" b="1">
                <a:solidFill>
                  <a:srgbClr val="10B981"/>
                </a:solidFill>
                <a:latin typeface="Arial"/>
              </a:rPr>
              <a:t>Loads for others → it is PERMISSION or ENVIRONMENT</a:t>
            </a:r>
          </a:p>
        </p:txBody>
      </p:sp>
      <p:sp>
        <p:nvSpPr>
          <p:cNvPr id="11" name="TextBox 10"/>
          <p:cNvSpPr txBox="1"/>
          <p:nvPr/>
        </p:nvSpPr>
        <p:spPr>
          <a:xfrm>
            <a:off x="5852160" y="2587752"/>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Check the security role, the connection reference, and which environment the app or flow actually points at.</a:t>
            </a:r>
          </a:p>
        </p:txBody>
      </p:sp>
      <p:cxnSp>
        <p:nvCxnSpPr>
          <p:cNvPr id="12" name="Connector 11"/>
          <p:cNvCxnSpPr/>
          <p:nvPr/>
        </p:nvCxnSpPr>
        <p:spPr>
          <a:xfrm flipV="1">
            <a:off x="4983480" y="2651760"/>
            <a:ext cx="594360" cy="109728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577840" y="3977639"/>
            <a:ext cx="5806440" cy="137160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577840" y="3977639"/>
            <a:ext cx="100584" cy="13716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52160" y="4087367"/>
            <a:ext cx="5303520" cy="475488"/>
          </a:xfrm>
          <a:prstGeom prst="rect">
            <a:avLst/>
          </a:prstGeom>
          <a:noFill/>
        </p:spPr>
        <p:txBody>
          <a:bodyPr wrap="square" anchor="t">
            <a:spAutoFit/>
          </a:bodyPr>
          <a:lstStyle/>
          <a:p>
            <a:pPr algn="l">
              <a:spcAft>
                <a:spcPts val="400"/>
              </a:spcAft>
            </a:pPr>
            <a:r>
              <a:rPr sz="1300" b="1">
                <a:solidFill>
                  <a:srgbClr val="F59E0B"/>
                </a:solidFill>
                <a:latin typeface="Arial"/>
              </a:rPr>
              <a:t>Fails for everyone → it is the FORMULA, the CONNECTOR or the DATA</a:t>
            </a:r>
          </a:p>
        </p:txBody>
      </p:sp>
      <p:sp>
        <p:nvSpPr>
          <p:cNvPr id="16" name="TextBox 15"/>
          <p:cNvSpPr txBox="1"/>
          <p:nvPr/>
        </p:nvSpPr>
        <p:spPr>
          <a:xfrm>
            <a:off x="5852160" y="4599431"/>
            <a:ext cx="5303520" cy="676656"/>
          </a:xfrm>
          <a:prstGeom prst="rect">
            <a:avLst/>
          </a:prstGeom>
          <a:noFill/>
        </p:spPr>
        <p:txBody>
          <a:bodyPr wrap="square" anchor="t">
            <a:spAutoFit/>
          </a:bodyPr>
          <a:lstStyle/>
          <a:p>
            <a:pPr algn="l">
              <a:spcAft>
                <a:spcPts val="400"/>
              </a:spcAft>
            </a:pPr>
            <a:r>
              <a:rPr sz="1150" b="0">
                <a:solidFill>
                  <a:srgbClr val="161B26"/>
                </a:solidFill>
                <a:latin typeface="Arial"/>
              </a:rPr>
              <a:t>Check delegation, the connector's status and licence, and whether the rows genuinely match the filter.</a:t>
            </a:r>
          </a:p>
        </p:txBody>
      </p:sp>
      <p:cxnSp>
        <p:nvCxnSpPr>
          <p:cNvPr id="17" name="Connector 16"/>
          <p:cNvCxnSpPr/>
          <p:nvPr/>
        </p:nvCxnSpPr>
        <p:spPr>
          <a:xfrm>
            <a:off x="4983480" y="3749040"/>
            <a:ext cx="594360" cy="914399"/>
          </a:xfrm>
          <a:prstGeom prst="line">
            <a:avLst/>
          </a:prstGeom>
          <a:ln w="25400">
            <a:solidFill>
              <a:srgbClr val="F59E0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77240" y="5623560"/>
            <a:ext cx="10634472" cy="6583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5742432"/>
            <a:ext cx="10149840" cy="457200"/>
          </a:xfrm>
          <a:prstGeom prst="rect">
            <a:avLst/>
          </a:prstGeom>
          <a:noFill/>
        </p:spPr>
        <p:txBody>
          <a:bodyPr wrap="square" anchor="t">
            <a:spAutoFit/>
          </a:bodyPr>
          <a:lstStyle/>
          <a:p>
            <a:pPr algn="l">
              <a:spcAft>
                <a:spcPts val="400"/>
              </a:spcAft>
            </a:pPr>
            <a:r>
              <a:rPr sz="1200" b="0">
                <a:solidFill>
                  <a:srgbClr val="5B6372"/>
                </a:solidFill>
                <a:latin typeface="Arial"/>
              </a:rPr>
              <a:t>Lab 26 seeds four faults — a delegation warning, a failed flow action, a permission error and a broken connection reference — and you record layer, evidence and fix for each in troubleshooting-log.csv.</a:t>
            </a:r>
          </a:p>
        </p:txBody>
      </p:sp>
      <p:sp>
        <p:nvSpPr>
          <p:cNvPr id="20" name="TextBox 19"/>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1" name="TextBox 20"/>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2" name="TextBox 21"/>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171</a:t>
            </a:r>
          </a:p>
        </p:txBody>
      </p:sp>
    </p:spTree>
  </p:cSld>
  <p:clrMapOvr>
    <a:masterClrMapping/>
  </p:clrMapOvr>
  <p:transition spd="fast" advClick="1">
    <p:fade/>
  </p:transition>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TOPIC 19 · TSC A7</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Reading the Error — What Each Symptom Actually Means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2764962" cy="47548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783080"/>
            <a:ext cx="2508930" cy="475488"/>
          </a:xfrm>
          <a:prstGeom prst="rect">
            <a:avLst/>
          </a:prstGeom>
          <a:noFill/>
        </p:spPr>
        <p:txBody>
          <a:bodyPr wrap="square" anchor="ctr">
            <a:spAutoFit/>
          </a:bodyPr>
          <a:lstStyle/>
          <a:p>
            <a:pPr algn="l">
              <a:spcAft>
                <a:spcPts val="400"/>
              </a:spcAft>
            </a:pPr>
            <a:r>
              <a:rPr sz="1300" b="1">
                <a:solidFill>
                  <a:srgbClr val="FFFFFF"/>
                </a:solidFill>
                <a:latin typeface="Arial"/>
              </a:rPr>
              <a:t>Symptom</a:t>
            </a:r>
          </a:p>
        </p:txBody>
      </p:sp>
      <p:sp>
        <p:nvSpPr>
          <p:cNvPr id="9" name="Rectangle 8"/>
          <p:cNvSpPr/>
          <p:nvPr/>
        </p:nvSpPr>
        <p:spPr>
          <a:xfrm>
            <a:off x="3542202" y="1783080"/>
            <a:ext cx="3934755" cy="47548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70218"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Layer</a:t>
            </a:r>
          </a:p>
        </p:txBody>
      </p:sp>
      <p:sp>
        <p:nvSpPr>
          <p:cNvPr id="11" name="Rectangle 10"/>
          <p:cNvSpPr/>
          <p:nvPr/>
        </p:nvSpPr>
        <p:spPr>
          <a:xfrm>
            <a:off x="7476957" y="1783080"/>
            <a:ext cx="3934755" cy="47548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04973" y="1783080"/>
            <a:ext cx="3678723" cy="475488"/>
          </a:xfrm>
          <a:prstGeom prst="rect">
            <a:avLst/>
          </a:prstGeom>
          <a:noFill/>
        </p:spPr>
        <p:txBody>
          <a:bodyPr wrap="square" anchor="ctr">
            <a:spAutoFit/>
          </a:bodyPr>
          <a:lstStyle/>
          <a:p>
            <a:pPr algn="l">
              <a:spcAft>
                <a:spcPts val="400"/>
              </a:spcAft>
            </a:pPr>
            <a:r>
              <a:rPr sz="1300" b="1">
                <a:solidFill>
                  <a:srgbClr val="FFFFFF"/>
                </a:solidFill>
                <a:latin typeface="Arial"/>
              </a:rPr>
              <a:t>First thing to check</a:t>
            </a:r>
          </a:p>
        </p:txBody>
      </p:sp>
      <p:sp>
        <p:nvSpPr>
          <p:cNvPr id="13" name="Rectangle 12"/>
          <p:cNvSpPr/>
          <p:nvPr/>
        </p:nvSpPr>
        <p:spPr>
          <a:xfrm>
            <a:off x="777240" y="2258568"/>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225856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Blue delegation warning</a:t>
            </a:r>
          </a:p>
        </p:txBody>
      </p:sp>
      <p:sp>
        <p:nvSpPr>
          <p:cNvPr id="15" name="Rectangle 14"/>
          <p:cNvSpPr/>
          <p:nvPr/>
        </p:nvSpPr>
        <p:spPr>
          <a:xfrm>
            <a:off x="3542202"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70218"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Formula</a:t>
            </a:r>
          </a:p>
        </p:txBody>
      </p:sp>
      <p:sp>
        <p:nvSpPr>
          <p:cNvPr id="17" name="Rectangle 16"/>
          <p:cNvSpPr/>
          <p:nvPr/>
        </p:nvSpPr>
        <p:spPr>
          <a:xfrm>
            <a:off x="7476957" y="2258568"/>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04973" y="225856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A non-delegable function — rewrite it, don't raise the row limit</a:t>
            </a:r>
          </a:p>
        </p:txBody>
      </p:sp>
      <p:sp>
        <p:nvSpPr>
          <p:cNvPr id="19" name="Rectangle 18"/>
          <p:cNvSpPr/>
          <p:nvPr/>
        </p:nvSpPr>
        <p:spPr>
          <a:xfrm>
            <a:off x="777240" y="2741676"/>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05256" y="2741676"/>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403 / 'permission'</a:t>
            </a:r>
          </a:p>
        </p:txBody>
      </p:sp>
      <p:sp>
        <p:nvSpPr>
          <p:cNvPr id="21" name="Rectangle 20"/>
          <p:cNvSpPr/>
          <p:nvPr/>
        </p:nvSpPr>
        <p:spPr>
          <a:xfrm>
            <a:off x="3542202"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0218"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Security</a:t>
            </a:r>
          </a:p>
        </p:txBody>
      </p:sp>
      <p:sp>
        <p:nvSpPr>
          <p:cNvPr id="23" name="Rectangle 22"/>
          <p:cNvSpPr/>
          <p:nvPr/>
        </p:nvSpPr>
        <p:spPr>
          <a:xfrm>
            <a:off x="7476957" y="2741676"/>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604973" y="2741676"/>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user's Dataverse security role, not the app share</a:t>
            </a:r>
          </a:p>
        </p:txBody>
      </p:sp>
      <p:sp>
        <p:nvSpPr>
          <p:cNvPr id="25" name="Rectangle 24"/>
          <p:cNvSpPr/>
          <p:nvPr/>
        </p:nvSpPr>
        <p:spPr>
          <a:xfrm>
            <a:off x="777240" y="3224784"/>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5256" y="3224784"/>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404 / 'not found'</a:t>
            </a:r>
          </a:p>
        </p:txBody>
      </p:sp>
      <p:sp>
        <p:nvSpPr>
          <p:cNvPr id="27" name="Rectangle 26"/>
          <p:cNvSpPr/>
          <p:nvPr/>
        </p:nvSpPr>
        <p:spPr>
          <a:xfrm>
            <a:off x="3542202"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670218"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Data</a:t>
            </a:r>
          </a:p>
        </p:txBody>
      </p:sp>
      <p:sp>
        <p:nvSpPr>
          <p:cNvPr id="29" name="Rectangle 28"/>
          <p:cNvSpPr/>
          <p:nvPr/>
        </p:nvSpPr>
        <p:spPr>
          <a:xfrm>
            <a:off x="7476957" y="3224784"/>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04973" y="3224784"/>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The record id you passed — read the action's Inputs</a:t>
            </a:r>
          </a:p>
        </p:txBody>
      </p:sp>
      <p:sp>
        <p:nvSpPr>
          <p:cNvPr id="31" name="Rectangle 30"/>
          <p:cNvSpPr/>
          <p:nvPr/>
        </p:nvSpPr>
        <p:spPr>
          <a:xfrm>
            <a:off x="777240" y="3707892"/>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05256" y="3707892"/>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429 / throttled</a:t>
            </a:r>
          </a:p>
        </p:txBody>
      </p:sp>
      <p:sp>
        <p:nvSpPr>
          <p:cNvPr id="33" name="Rectangle 32"/>
          <p:cNvSpPr/>
          <p:nvPr/>
        </p:nvSpPr>
        <p:spPr>
          <a:xfrm>
            <a:off x="3542202"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670218"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Performance</a:t>
            </a:r>
          </a:p>
        </p:txBody>
      </p:sp>
      <p:sp>
        <p:nvSpPr>
          <p:cNvPr id="35" name="Rectangle 34"/>
          <p:cNvSpPr/>
          <p:nvPr/>
        </p:nvSpPr>
        <p:spPr>
          <a:xfrm>
            <a:off x="7476957" y="3707892"/>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604973" y="3707892"/>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Trigger filters and loop concurrency — you are running too often</a:t>
            </a:r>
          </a:p>
        </p:txBody>
      </p:sp>
      <p:sp>
        <p:nvSpPr>
          <p:cNvPr id="37" name="Rectangle 36"/>
          <p:cNvSpPr/>
          <p:nvPr/>
        </p:nvSpPr>
        <p:spPr>
          <a:xfrm>
            <a:off x="777240" y="4191000"/>
            <a:ext cx="2764962"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5256" y="4191000"/>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Flow never triggers</a:t>
            </a:r>
          </a:p>
        </p:txBody>
      </p:sp>
      <p:sp>
        <p:nvSpPr>
          <p:cNvPr id="39" name="Rectangle 38"/>
          <p:cNvSpPr/>
          <p:nvPr/>
        </p:nvSpPr>
        <p:spPr>
          <a:xfrm>
            <a:off x="3542202"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70218"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Trigger</a:t>
            </a:r>
          </a:p>
        </p:txBody>
      </p:sp>
      <p:sp>
        <p:nvSpPr>
          <p:cNvPr id="41" name="Rectangle 40"/>
          <p:cNvSpPr/>
          <p:nvPr/>
        </p:nvSpPr>
        <p:spPr>
          <a:xfrm>
            <a:off x="7476957" y="4191000"/>
            <a:ext cx="3934755" cy="483108"/>
          </a:xfrm>
          <a:prstGeom prst="rect">
            <a:avLst/>
          </a:prstGeom>
          <a:solidFill>
            <a:srgbClr val="F5F8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04973" y="4191000"/>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Column/row filters, the scope, and the environment</a:t>
            </a:r>
          </a:p>
        </p:txBody>
      </p:sp>
      <p:sp>
        <p:nvSpPr>
          <p:cNvPr id="43" name="Rectangle 42"/>
          <p:cNvSpPr/>
          <p:nvPr/>
        </p:nvSpPr>
        <p:spPr>
          <a:xfrm>
            <a:off x="777240" y="4674108"/>
            <a:ext cx="2764962"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5256" y="4674108"/>
            <a:ext cx="2508930" cy="483108"/>
          </a:xfrm>
          <a:prstGeom prst="rect">
            <a:avLst/>
          </a:prstGeom>
          <a:noFill/>
        </p:spPr>
        <p:txBody>
          <a:bodyPr wrap="square" anchor="ctr">
            <a:spAutoFit/>
          </a:bodyPr>
          <a:lstStyle/>
          <a:p>
            <a:pPr algn="l">
              <a:spcAft>
                <a:spcPts val="400"/>
              </a:spcAft>
            </a:pPr>
            <a:r>
              <a:rPr sz="1150" b="1">
                <a:solidFill>
                  <a:srgbClr val="161B26"/>
                </a:solidFill>
                <a:latin typeface="Arial"/>
              </a:rPr>
              <a:t>Agent answers wrongly</a:t>
            </a:r>
          </a:p>
        </p:txBody>
      </p:sp>
      <p:sp>
        <p:nvSpPr>
          <p:cNvPr id="45" name="Rectangle 44"/>
          <p:cNvSpPr/>
          <p:nvPr/>
        </p:nvSpPr>
        <p:spPr>
          <a:xfrm>
            <a:off x="3542202"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670218"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Grounding</a:t>
            </a:r>
          </a:p>
        </p:txBody>
      </p:sp>
      <p:sp>
        <p:nvSpPr>
          <p:cNvPr id="47" name="Rectangle 46"/>
          <p:cNvSpPr/>
          <p:nvPr/>
        </p:nvSpPr>
        <p:spPr>
          <a:xfrm>
            <a:off x="7476957" y="4674108"/>
            <a:ext cx="3934755" cy="48310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604973" y="4674108"/>
            <a:ext cx="3678723" cy="483108"/>
          </a:xfrm>
          <a:prstGeom prst="rect">
            <a:avLst/>
          </a:prstGeom>
          <a:noFill/>
        </p:spPr>
        <p:txBody>
          <a:bodyPr wrap="square" anchor="ctr">
            <a:spAutoFit/>
          </a:bodyPr>
          <a:lstStyle/>
          <a:p>
            <a:pPr algn="l">
              <a:spcAft>
                <a:spcPts val="400"/>
              </a:spcAft>
            </a:pPr>
            <a:r>
              <a:rPr sz="1150" b="0">
                <a:solidFill>
                  <a:srgbClr val="5B6372"/>
                </a:solidFill>
                <a:latin typeface="Arial"/>
              </a:rPr>
              <a:t>General knowledge on, or 'Search all websites' still attached</a:t>
            </a:r>
          </a:p>
        </p:txBody>
      </p:sp>
      <p:sp>
        <p:nvSpPr>
          <p:cNvPr id="49" name="Rectangle 48"/>
          <p:cNvSpPr/>
          <p:nvPr/>
        </p:nvSpPr>
        <p:spPr>
          <a:xfrm>
            <a:off x="777240" y="5358384"/>
            <a:ext cx="10634472" cy="8412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77240" y="5358384"/>
            <a:ext cx="100584" cy="8412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51560" y="5468112"/>
            <a:ext cx="10085832" cy="603504"/>
          </a:xfrm>
          <a:prstGeom prst="rect">
            <a:avLst/>
          </a:prstGeom>
          <a:noFill/>
        </p:spPr>
        <p:txBody>
          <a:bodyPr wrap="square" anchor="t">
            <a:spAutoFit/>
          </a:bodyPr>
          <a:lstStyle/>
          <a:p>
            <a:pPr algn="l">
              <a:spcAft>
                <a:spcPts val="400"/>
              </a:spcAft>
            </a:pPr>
            <a:r>
              <a:rPr sz="1100" b="1">
                <a:solidFill>
                  <a:srgbClr val="F59E0B"/>
                </a:solidFill>
                <a:latin typeface="Arial"/>
              </a:rPr>
              <a:t>WHEN IT MATTERS  </a:t>
            </a:r>
            <a:r>
              <a:rPr sz="1200" b="0">
                <a:solidFill>
                  <a:srgbClr val="161B26"/>
                </a:solidFill>
                <a:latin typeface="Arial"/>
              </a:rPr>
              <a:t>Every one of these appears in Lab 26. The discipline is the same each time: name the layer, capture the evidence, apply one change, re-test.</a:t>
            </a:r>
          </a:p>
        </p:txBody>
      </p:sp>
      <p:sp>
        <p:nvSpPr>
          <p:cNvPr id="52" name="TextBox 51"/>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53" name="TextBox 52"/>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54" name="TextBox 53"/>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172</a:t>
            </a:r>
          </a:p>
        </p:txBody>
      </p:sp>
    </p:spTree>
  </p:cSld>
  <p:clrMapOvr>
    <a:masterClrMapping/>
  </p:clrMapOvr>
  <p:transition spd="fast" advClick="1">
    <p:fade/>
  </p:transition>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WHAT YOU'LL DO</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Hands-On Labs — Create and Manage Model-Driven Apps with Power Apps and Dataverse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3337560" cy="10972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011680"/>
            <a:ext cx="2926080" cy="548640"/>
          </a:xfrm>
          <a:prstGeom prst="rect">
            <a:avLst/>
          </a:prstGeom>
          <a:noFill/>
        </p:spPr>
        <p:txBody>
          <a:bodyPr wrap="square" anchor="t">
            <a:spAutoFit/>
          </a:bodyPr>
          <a:lstStyle/>
          <a:p>
            <a:pPr algn="l">
              <a:spcAft>
                <a:spcPts val="400"/>
              </a:spcAft>
            </a:pPr>
            <a:r>
              <a:rPr sz="1900" b="1">
                <a:solidFill>
                  <a:srgbClr val="1F6FEB"/>
                </a:solidFill>
                <a:latin typeface="Arial"/>
              </a:rPr>
              <a:t>Labs 21–22</a:t>
            </a:r>
          </a:p>
        </p:txBody>
      </p:sp>
      <p:sp>
        <p:nvSpPr>
          <p:cNvPr id="10" name="TextBox 9"/>
          <p:cNvSpPr txBox="1"/>
          <p:nvPr/>
        </p:nvSpPr>
        <p:spPr>
          <a:xfrm>
            <a:off x="100584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Create Dataverse Tables for a Model-Driven App</a:t>
            </a:r>
          </a:p>
          <a:p>
            <a:pPr>
              <a:spcAft>
                <a:spcPts val="900"/>
              </a:spcAft>
            </a:pPr>
            <a:r>
              <a:rPr sz="1400" b="0">
                <a:solidFill>
                  <a:srgbClr val="161B26"/>
                </a:solidFill>
                <a:latin typeface="Arial"/>
              </a:rPr>
              <a:t>•  Build a Model-Driven App</a:t>
            </a:r>
          </a:p>
        </p:txBody>
      </p:sp>
      <p:sp>
        <p:nvSpPr>
          <p:cNvPr id="11" name="Rectangle 10"/>
          <p:cNvSpPr/>
          <p:nvPr/>
        </p:nvSpPr>
        <p:spPr>
          <a:xfrm>
            <a:off x="457200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0" y="1783080"/>
            <a:ext cx="3337560" cy="10972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0600" y="2011680"/>
            <a:ext cx="2926080" cy="548640"/>
          </a:xfrm>
          <a:prstGeom prst="rect">
            <a:avLst/>
          </a:prstGeom>
          <a:noFill/>
        </p:spPr>
        <p:txBody>
          <a:bodyPr wrap="square" anchor="t">
            <a:spAutoFit/>
          </a:bodyPr>
          <a:lstStyle/>
          <a:p>
            <a:pPr algn="l">
              <a:spcAft>
                <a:spcPts val="400"/>
              </a:spcAft>
            </a:pPr>
            <a:r>
              <a:rPr sz="1900" b="1">
                <a:solidFill>
                  <a:srgbClr val="10B981"/>
                </a:solidFill>
                <a:latin typeface="Arial"/>
              </a:rPr>
              <a:t>Labs 23–24</a:t>
            </a:r>
          </a:p>
        </p:txBody>
      </p:sp>
      <p:sp>
        <p:nvSpPr>
          <p:cNvPr id="14" name="TextBox 13"/>
          <p:cNvSpPr txBox="1"/>
          <p:nvPr/>
        </p:nvSpPr>
        <p:spPr>
          <a:xfrm>
            <a:off x="480060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Configure Forms and Views</a:t>
            </a:r>
          </a:p>
          <a:p>
            <a:pPr>
              <a:spcAft>
                <a:spcPts val="900"/>
              </a:spcAft>
            </a:pPr>
            <a:r>
              <a:rPr sz="1400" b="0">
                <a:solidFill>
                  <a:srgbClr val="161B26"/>
                </a:solidFill>
                <a:latin typeface="Arial"/>
              </a:rPr>
              <a:t>•  Create Charts and Dashboards</a:t>
            </a:r>
          </a:p>
        </p:txBody>
      </p:sp>
      <p:sp>
        <p:nvSpPr>
          <p:cNvPr id="15" name="Rectangle 14"/>
          <p:cNvSpPr/>
          <p:nvPr/>
        </p:nvSpPr>
        <p:spPr>
          <a:xfrm>
            <a:off x="8366760" y="1783080"/>
            <a:ext cx="3337560" cy="429768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366760" y="1783080"/>
            <a:ext cx="3337560" cy="10972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0" y="2011680"/>
            <a:ext cx="2926080" cy="548640"/>
          </a:xfrm>
          <a:prstGeom prst="rect">
            <a:avLst/>
          </a:prstGeom>
          <a:noFill/>
        </p:spPr>
        <p:txBody>
          <a:bodyPr wrap="square" anchor="t">
            <a:spAutoFit/>
          </a:bodyPr>
          <a:lstStyle/>
          <a:p>
            <a:pPr algn="l">
              <a:spcAft>
                <a:spcPts val="400"/>
              </a:spcAft>
            </a:pPr>
            <a:r>
              <a:rPr sz="1900" b="1">
                <a:solidFill>
                  <a:srgbClr val="7C3AED"/>
                </a:solidFill>
                <a:latin typeface="Arial"/>
              </a:rPr>
              <a:t>Labs 25–26</a:t>
            </a:r>
          </a:p>
        </p:txBody>
      </p:sp>
      <p:sp>
        <p:nvSpPr>
          <p:cNvPr id="18" name="TextBox 17"/>
          <p:cNvSpPr txBox="1"/>
          <p:nvPr/>
        </p:nvSpPr>
        <p:spPr>
          <a:xfrm>
            <a:off x="8595360" y="2697480"/>
            <a:ext cx="2926080" cy="3108960"/>
          </a:xfrm>
          <a:prstGeom prst="rect">
            <a:avLst/>
          </a:prstGeom>
          <a:noFill/>
        </p:spPr>
        <p:txBody>
          <a:bodyPr wrap="square">
            <a:spAutoFit/>
          </a:bodyPr>
          <a:lstStyle/>
          <a:p>
            <a:pPr>
              <a:spcAft>
                <a:spcPts val="900"/>
              </a:spcAft>
            </a:pPr>
            <a:r>
              <a:rPr sz="1400" b="0">
                <a:solidFill>
                  <a:srgbClr val="161B26"/>
                </a:solidFill>
                <a:latin typeface="Arial"/>
              </a:rPr>
              <a:t>•  Manage Solutions and Move to Another Environment</a:t>
            </a:r>
          </a:p>
          <a:p>
            <a:pPr>
              <a:spcAft>
                <a:spcPts val="900"/>
              </a:spcAft>
            </a:pPr>
            <a:r>
              <a:rPr sz="1400" b="0">
                <a:solidFill>
                  <a:srgbClr val="161B26"/>
                </a:solidFill>
                <a:latin typeface="Arial"/>
              </a:rPr>
              <a:t>•  Troubleshoot and Modify Power Platform Integrations</a:t>
            </a:r>
          </a:p>
        </p:txBody>
      </p:sp>
      <p:sp>
        <p:nvSpPr>
          <p:cNvPr id="19" name="TextBox 18"/>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0" name="TextBox 19"/>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1" name="TextBox 20"/>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173</a:t>
            </a:r>
          </a:p>
        </p:txBody>
      </p:sp>
    </p:spTree>
  </p:cSld>
  <p:clrMapOvr>
    <a:masterClrMapping/>
  </p:clrMapOvr>
  <p:transition spd="fast" advClick="1">
    <p:fade/>
  </p:transition>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Dataverse Tables for a Model-Driven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21</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A1/A3 — Model the business domain as Dataverse tables, columns and relationships.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Working the Contoso Real Estate scenario, create Property and Listing Agent tables with typed columns, a choice column and a lookup relationship, then seed them with data.</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two-table Dataverse data model with a relationship and seeded property records.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Microsoft Dataverse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Both tables show imported rows, the choice columns render as dropdowns, and each Property row links to a Listing Agent.</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174</a:t>
            </a:r>
          </a:p>
        </p:txBody>
      </p:sp>
    </p:spTree>
  </p:cSld>
  <p:clrMapOvr>
    <a:masterClrMapping/>
  </p:clrMapOvr>
  <p:transition spd="fast" advClick="1">
    <p:fade/>
  </p:transition>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21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Property</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primary column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Typed columns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price, beds, date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Two Choice columns</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type and status</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Second table</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Listing Agent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Lookup and import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relationship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A1/A3 — Model the business domain as Dataverse tables, columns and relationships.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175</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21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Dataverse Tables for a Model-Driven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Both tables show imported rows, the choice columns render as dropdowns, and each Property row links to a Listing Agent.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labs/lab-21/README.md.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176</a:t>
            </a:r>
          </a:p>
        </p:txBody>
      </p:sp>
    </p:spTree>
  </p:cSld>
  <p:clrMapOvr>
    <a:masterClrMapping/>
  </p:clrMapOvr>
  <p:transition spd="fast" advClick="1">
    <p:fade/>
  </p:transition>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 Model-Driven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22</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 — Generate an application from the data model rather than drawing screens.</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a model-driven app in the modern app designer, add the Property and Listing Agent tables to its navigation, configure the site map, and run the app.</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running model-driven app with a two-area site map over the property data model.</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Microsoft Dataverse, modern app designer</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published app opens with Property and Listing Agent in the navigation, and a record created in the app appears in the Dataverse table.</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177</a:t>
            </a:r>
          </a:p>
        </p:txBody>
      </p:sp>
    </p:spTree>
  </p:cSld>
  <p:clrMapOvr>
    <a:masterClrMapping/>
  </p:clrMapOvr>
  <p:transition spd="fast" advClick="1">
    <p:fade/>
  </p:transition>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22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Blank Dataverse app</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modern designer</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table pages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view and form</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Configure navigation</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site map</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Publish</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make it live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Play</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run it as a user</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 — Generate an application from the data model rather than drawing screens.</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178</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22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Build a Model-Driven App</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published app opens with Property and Listing Agent in the navigation, and a record created in the app appears in the Dataverse table.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labs/lab-22/README.md.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179</a:t>
            </a:r>
          </a:p>
        </p:txBody>
      </p:sp>
    </p:spTree>
  </p:cSld>
  <p:clrMapOvr>
    <a:masterClrMapping/>
  </p:clrMapOvr>
  <p:transition spd="fast" advClick="1">
    <p:fade/>
  </p:transition>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Forms and Views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23</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A3/A6 — Control what each user sees and edits, and verify the layout across the app.</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Customise the Property main form with tabs, sections and a quick view of the related agent, then build filtered and sorted public views the app's users can select.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customised main form with a quick view control, plus two custom public views.</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Dataverse, form and view designers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main form shows both tabs and the agent's details in the quick view, and both custom views appear in the app's view selector with the correct rows.</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180</a:t>
            </a:r>
          </a:p>
        </p:txBody>
      </p:sp>
    </p:spTree>
  </p:cSld>
  <p:clrMapOvr>
    <a:masterClrMapping/>
  </p:clrMapOvr>
  <p:transition spd="fast" advClick="1">
    <p:fade/>
  </p:transition>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23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Edit the main form</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add a tab</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Arrange sections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two columns</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Quick view control</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the related agent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a public view</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filter and sort</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Publish and switch</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in the running app</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A3/A6 — Control what each user sees and edits, and verify the layout across the app.</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181</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23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Configure Forms and Views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main form shows both tabs and the agent's details in the quick view, and both custom views appear in the app's view selector with the correct rows.</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labs/lab-23/README.md.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182</a:t>
            </a:r>
          </a:p>
        </p:txBody>
      </p:sp>
    </p:spTree>
  </p:cSld>
  <p:clrMapOvr>
    <a:masterClrMapping/>
  </p:clrMapOvr>
  <p:transition spd="fast" advClick="1">
    <p:fade/>
  </p:transition>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Charts and Dashboards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24</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A6 — Visualise integrated data to verify the platform is reporting correctly.</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Build charts over the Property table and assemble them into an interactive dashboard inside the model-driven app.</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Two Dataverse charts and a dashboard surfaced in the model-driven app.</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Dataverse charts and dashboards</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Both charts render real counts and averages, and selecting a chart segment in the dashboard filters the associated list.</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183</a:t>
            </a:r>
          </a:p>
        </p:txBody>
      </p:sp>
    </p:spTree>
  </p:cSld>
  <p:clrMapOvr>
    <a:masterClrMapping/>
  </p:clrMapOvr>
  <p:transition spd="fast" advClick="1">
    <p:fade/>
  </p:transition>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24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a chart</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count by status</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Second chart</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average by type</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Build a dashboard</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charts plus a list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it to the app</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as a page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Cross-filter</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select a segment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A6 — Visualise integrated data to verify the platform is reporting correctly.</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184</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24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Create Charts and Dashboards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Both charts render real counts and averages, and selecting a chart segment in the dashboard filters the associated list.</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labs/lab-24/README.md.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185</a:t>
            </a:r>
          </a:p>
        </p:txBody>
      </p:sp>
    </p:spTree>
  </p:cSld>
  <p:clrMapOvr>
    <a:masterClrMapping/>
  </p:clrMapOvr>
  <p:transition spd="fast" advClick="1">
    <p:fade/>
  </p:transition>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Manage Solutions and Move to Another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25</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A8 — Package and ship middleware modifications between environments safely.</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Create a publisher and an unmanaged solution, add the app, tables and flows to it, export it as managed, and import it into a second environment.</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managed solution package exported from Dev and imported into a second environment.</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Dataverse solutions, Power Platform admin centre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The managed solution imports into the second environment without errors and its components cannot be edited there.</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186</a:t>
            </a:r>
          </a:p>
        </p:txBody>
      </p:sp>
    </p:spTree>
  </p:cSld>
  <p:clrMapOvr>
    <a:masterClrMapping/>
  </p:clrMapOvr>
  <p:transition spd="fast" advClick="1">
    <p:fade/>
  </p:transition>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25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Create a publisher</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and the solution</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Add components</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tables, app, flow</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Review the objects</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nothing missing</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Export managed</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 versioned package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Import to Test</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components are locked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A8 — Package and ship middleware modifications between environments safely.</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187</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25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Manage Solutions and Move to Another Environment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The managed solution imports into the second environment without errors and its components cannot be edited there.</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labs/lab-25/README.md.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188</a:t>
            </a:r>
          </a:p>
        </p:txBody>
      </p:sp>
    </p:spTree>
  </p:cSld>
  <p:clrMapOvr>
    <a:masterClrMapping/>
  </p:clrMapOvr>
  <p:transition spd="fast" advClick="1">
    <p:fade/>
  </p:transition>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LU4 · HANDS-ON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and Modify Power Platform Integrations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19072"/>
            <a:ext cx="1554480" cy="42062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719072"/>
            <a:ext cx="1554480" cy="420624"/>
          </a:xfrm>
          <a:prstGeom prst="rect">
            <a:avLst/>
          </a:prstGeom>
          <a:noFill/>
        </p:spPr>
        <p:txBody>
          <a:bodyPr wrap="square" anchor="ctr">
            <a:spAutoFit/>
          </a:bodyPr>
          <a:lstStyle/>
          <a:p>
            <a:pPr algn="ctr">
              <a:spcAft>
                <a:spcPts val="400"/>
              </a:spcAft>
            </a:pPr>
            <a:r>
              <a:rPr sz="1500" b="1">
                <a:solidFill>
                  <a:srgbClr val="FFFFFF"/>
                </a:solidFill>
                <a:latin typeface="Arial"/>
              </a:rPr>
              <a:t>LAB 26</a:t>
            </a:r>
          </a:p>
        </p:txBody>
      </p:sp>
      <p:sp>
        <p:nvSpPr>
          <p:cNvPr id="9" name="TextBox 8"/>
          <p:cNvSpPr txBox="1"/>
          <p:nvPr/>
        </p:nvSpPr>
        <p:spPr>
          <a:xfrm>
            <a:off x="2487168" y="1719072"/>
            <a:ext cx="8869680" cy="420624"/>
          </a:xfrm>
          <a:prstGeom prst="rect">
            <a:avLst/>
          </a:prstGeom>
          <a:noFill/>
        </p:spPr>
        <p:txBody>
          <a:bodyPr wrap="square" anchor="ctr">
            <a:spAutoFit/>
          </a:bodyPr>
          <a:lstStyle/>
          <a:p>
            <a:pPr algn="l">
              <a:spcAft>
                <a:spcPts val="400"/>
              </a:spcAft>
            </a:pPr>
            <a:r>
              <a:rPr sz="1200" b="0">
                <a:solidFill>
                  <a:srgbClr val="5B6372"/>
                </a:solidFill>
                <a:latin typeface="Arial"/>
              </a:rPr>
              <a:t>A7/A8 — Diagnose integration failures by layer and implement the corrective modification.</a:t>
            </a:r>
          </a:p>
        </p:txBody>
      </p:sp>
      <p:sp>
        <p:nvSpPr>
          <p:cNvPr id="10" name="TextBox 9"/>
          <p:cNvSpPr txBox="1"/>
          <p:nvPr/>
        </p:nvSpPr>
        <p:spPr>
          <a:xfrm>
            <a:off x="777240" y="2286000"/>
            <a:ext cx="10634472" cy="1051560"/>
          </a:xfrm>
          <a:prstGeom prst="rect">
            <a:avLst/>
          </a:prstGeom>
          <a:noFill/>
        </p:spPr>
        <p:txBody>
          <a:bodyPr wrap="square" anchor="t">
            <a:spAutoFit/>
          </a:bodyPr>
          <a:lstStyle/>
          <a:p>
            <a:pPr algn="l">
              <a:spcAft>
                <a:spcPts val="400"/>
              </a:spcAft>
            </a:pPr>
            <a:r>
              <a:rPr sz="1700" b="0">
                <a:solidFill>
                  <a:srgbClr val="161B26"/>
                </a:solidFill>
                <a:latin typeface="Arial"/>
              </a:rPr>
              <a:t>Work a set of seeded faults — a delegation warning, a failed flow action, a permission error and a broken connection reference — isolating each to its layer and applying the fix.</a:t>
            </a:r>
          </a:p>
        </p:txBody>
      </p:sp>
      <p:sp>
        <p:nvSpPr>
          <p:cNvPr id="11" name="Rectangle 10"/>
          <p:cNvSpPr/>
          <p:nvPr/>
        </p:nvSpPr>
        <p:spPr>
          <a:xfrm>
            <a:off x="777240"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3474720"/>
            <a:ext cx="3392424" cy="9144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96696" y="3639312"/>
            <a:ext cx="2980944" cy="310896"/>
          </a:xfrm>
          <a:prstGeom prst="rect">
            <a:avLst/>
          </a:prstGeom>
          <a:noFill/>
        </p:spPr>
        <p:txBody>
          <a:bodyPr wrap="square" anchor="t">
            <a:spAutoFit/>
          </a:bodyPr>
          <a:lstStyle/>
          <a:p>
            <a:pPr algn="l">
              <a:spcAft>
                <a:spcPts val="400"/>
              </a:spcAft>
            </a:pPr>
            <a:r>
              <a:rPr sz="1100" b="1">
                <a:solidFill>
                  <a:srgbClr val="1F6FEB"/>
                </a:solidFill>
                <a:latin typeface="Arial"/>
              </a:rPr>
              <a:t>YOU'LL BUILD</a:t>
            </a:r>
          </a:p>
        </p:txBody>
      </p:sp>
      <p:sp>
        <p:nvSpPr>
          <p:cNvPr id="14" name="TextBox 13"/>
          <p:cNvSpPr txBox="1"/>
          <p:nvPr/>
        </p:nvSpPr>
        <p:spPr>
          <a:xfrm>
            <a:off x="996696"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 troubleshooting log recording each fault, the layer it belonged to, the evidence and the fix applied.</a:t>
            </a:r>
          </a:p>
        </p:txBody>
      </p:sp>
      <p:sp>
        <p:nvSpPr>
          <p:cNvPr id="15" name="Rectangle 14"/>
          <p:cNvSpPr/>
          <p:nvPr/>
        </p:nvSpPr>
        <p:spPr>
          <a:xfrm>
            <a:off x="4398264"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98264" y="3474720"/>
            <a:ext cx="3392424" cy="914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3639312"/>
            <a:ext cx="2980944" cy="310896"/>
          </a:xfrm>
          <a:prstGeom prst="rect">
            <a:avLst/>
          </a:prstGeom>
          <a:noFill/>
        </p:spPr>
        <p:txBody>
          <a:bodyPr wrap="square" anchor="t">
            <a:spAutoFit/>
          </a:bodyPr>
          <a:lstStyle/>
          <a:p>
            <a:pPr algn="l">
              <a:spcAft>
                <a:spcPts val="400"/>
              </a:spcAft>
            </a:pPr>
            <a:r>
              <a:rPr sz="1100" b="1">
                <a:solidFill>
                  <a:srgbClr val="10B981"/>
                </a:solidFill>
                <a:latin typeface="Arial"/>
              </a:rPr>
              <a:t>TOOLCHAIN</a:t>
            </a:r>
          </a:p>
        </p:txBody>
      </p:sp>
      <p:sp>
        <p:nvSpPr>
          <p:cNvPr id="18" name="TextBox 17"/>
          <p:cNvSpPr txBox="1"/>
          <p:nvPr/>
        </p:nvSpPr>
        <p:spPr>
          <a:xfrm>
            <a:off x="4617720"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Power Apps Monitor, Power Automate run history, Power Platform admin centre, Dataverse</a:t>
            </a:r>
          </a:p>
        </p:txBody>
      </p:sp>
      <p:sp>
        <p:nvSpPr>
          <p:cNvPr id="19" name="Rectangle 18"/>
          <p:cNvSpPr/>
          <p:nvPr/>
        </p:nvSpPr>
        <p:spPr>
          <a:xfrm>
            <a:off x="8019288" y="3474720"/>
            <a:ext cx="3392424" cy="1874519"/>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9288" y="3474720"/>
            <a:ext cx="3392424" cy="91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38744" y="3639312"/>
            <a:ext cx="2980944" cy="310896"/>
          </a:xfrm>
          <a:prstGeom prst="rect">
            <a:avLst/>
          </a:prstGeom>
          <a:noFill/>
        </p:spPr>
        <p:txBody>
          <a:bodyPr wrap="square" anchor="t">
            <a:spAutoFit/>
          </a:bodyPr>
          <a:lstStyle/>
          <a:p>
            <a:pPr algn="l">
              <a:spcAft>
                <a:spcPts val="400"/>
              </a:spcAft>
            </a:pPr>
            <a:r>
              <a:rPr sz="1100" b="1">
                <a:solidFill>
                  <a:srgbClr val="7C3AED"/>
                </a:solidFill>
                <a:latin typeface="Arial"/>
              </a:rPr>
              <a:t>DONE WHEN</a:t>
            </a:r>
          </a:p>
        </p:txBody>
      </p:sp>
      <p:sp>
        <p:nvSpPr>
          <p:cNvPr id="22" name="TextBox 21"/>
          <p:cNvSpPr txBox="1"/>
          <p:nvPr/>
        </p:nvSpPr>
        <p:spPr>
          <a:xfrm>
            <a:off x="8238744" y="3968496"/>
            <a:ext cx="2980944" cy="1280160"/>
          </a:xfrm>
          <a:prstGeom prst="rect">
            <a:avLst/>
          </a:prstGeom>
          <a:noFill/>
        </p:spPr>
        <p:txBody>
          <a:bodyPr wrap="square" anchor="t">
            <a:spAutoFit/>
          </a:bodyPr>
          <a:lstStyle/>
          <a:p>
            <a:pPr algn="l">
              <a:spcAft>
                <a:spcPts val="400"/>
              </a:spcAft>
            </a:pPr>
            <a:r>
              <a:rPr sz="1200" b="0">
                <a:solidFill>
                  <a:srgbClr val="161B26"/>
                </a:solidFill>
                <a:latin typeface="Arial"/>
              </a:rPr>
              <a:t>All four faults are resolved — no delegation warning, the flow run succeeds on resubmit, the shared user can open the app, and the connection reference is repaired — with each recorded in the log.</a:t>
            </a:r>
          </a:p>
        </p:txBody>
      </p:sp>
      <p:sp>
        <p:nvSpPr>
          <p:cNvPr id="23" name="TextBox 22"/>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4" name="TextBox 23"/>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5" name="TextBox 24"/>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189</a:t>
            </a:r>
          </a:p>
        </p:txBody>
      </p:sp>
    </p:spTree>
  </p:cSld>
  <p:clrMapOvr>
    <a:masterClrMapping/>
  </p:clrMapOvr>
  <p:transition spd="fast" advClick="1">
    <p:fade/>
  </p:transition>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PROCESS MAP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How Lab 26 Runs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Open the log</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record each fault</a:t>
            </a:r>
          </a:p>
        </p:txBody>
      </p:sp>
      <p:cxnSp>
        <p:nvCxnSpPr>
          <p:cNvPr id="13" name="Connector 12"/>
          <p:cNvCxnSpPr/>
          <p:nvPr/>
        </p:nvCxnSpPr>
        <p:spPr>
          <a:xfrm>
            <a:off x="2651760"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Delegation</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rewrite the formula</a:t>
            </a:r>
          </a:p>
        </p:txBody>
      </p:sp>
      <p:cxnSp>
        <p:nvCxnSpPr>
          <p:cNvPr id="20" name="Connector 19"/>
          <p:cNvCxnSpPr/>
          <p:nvPr/>
        </p:nvCxnSpPr>
        <p:spPr>
          <a:xfrm>
            <a:off x="4855464"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Failed action</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read inputs, resubmit</a:t>
            </a:r>
          </a:p>
        </p:txBody>
      </p:sp>
      <p:cxnSp>
        <p:nvCxnSpPr>
          <p:cNvPr id="27" name="Connector 26"/>
          <p:cNvCxnSpPr/>
          <p:nvPr/>
        </p:nvCxnSpPr>
        <p:spPr>
          <a:xfrm>
            <a:off x="7059168"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Permission</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assign a security role</a:t>
            </a:r>
          </a:p>
        </p:txBody>
      </p:sp>
      <p:cxnSp>
        <p:nvCxnSpPr>
          <p:cNvPr id="34" name="Connector 33"/>
          <p:cNvCxnSpPr/>
          <p:nvPr/>
        </p:nvCxnSpPr>
        <p:spPr>
          <a:xfrm>
            <a:off x="9262872" y="3223260"/>
            <a:ext cx="274320" cy="0"/>
          </a:xfrm>
          <a:prstGeom prst="line">
            <a:avLst/>
          </a:prstGeom>
          <a:ln w="25400">
            <a:solidFill>
              <a:srgbClr val="10B981"/>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Connection reference</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repair and re-test</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0B981"/>
                </a:solidFill>
                <a:latin typeface="Arial"/>
              </a:rPr>
              <a:t>THE POINT</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A7/A8 — Diagnose integration failures by layer and implement the corrective modification.</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LAB 26 · VERIFY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Troubleshoot and Modify Power Platform Integrations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1965960"/>
          </a:xfrm>
          <a:prstGeom prst="rect">
            <a:avLst/>
          </a:prstGeom>
          <a:solidFill>
            <a:srgbClr val="E8F7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100584" cy="1965960"/>
          </a:xfrm>
          <a:prstGeom prst="rect">
            <a:avLst/>
          </a:prstGeom>
          <a:solidFill>
            <a:srgbClr val="127A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10058400" cy="402336"/>
          </a:xfrm>
          <a:prstGeom prst="rect">
            <a:avLst/>
          </a:prstGeom>
          <a:noFill/>
        </p:spPr>
        <p:txBody>
          <a:bodyPr wrap="square" anchor="t">
            <a:spAutoFit/>
          </a:bodyPr>
          <a:lstStyle/>
          <a:p>
            <a:pPr algn="l">
              <a:spcAft>
                <a:spcPts val="400"/>
              </a:spcAft>
            </a:pPr>
            <a:r>
              <a:rPr sz="1700" b="1">
                <a:solidFill>
                  <a:srgbClr val="127A3E"/>
                </a:solidFill>
                <a:latin typeface="Arial"/>
              </a:rPr>
              <a:t>✅  Expected result</a:t>
            </a:r>
          </a:p>
        </p:txBody>
      </p:sp>
      <p:sp>
        <p:nvSpPr>
          <p:cNvPr id="10" name="TextBox 9"/>
          <p:cNvSpPr txBox="1"/>
          <p:nvPr/>
        </p:nvSpPr>
        <p:spPr>
          <a:xfrm>
            <a:off x="1097280" y="2395728"/>
            <a:ext cx="10058400" cy="1234440"/>
          </a:xfrm>
          <a:prstGeom prst="rect">
            <a:avLst/>
          </a:prstGeom>
          <a:noFill/>
        </p:spPr>
        <p:txBody>
          <a:bodyPr wrap="square" anchor="t">
            <a:spAutoFit/>
          </a:bodyPr>
          <a:lstStyle/>
          <a:p>
            <a:pPr algn="l">
              <a:spcAft>
                <a:spcPts val="400"/>
              </a:spcAft>
            </a:pPr>
            <a:r>
              <a:rPr sz="1500" b="0">
                <a:solidFill>
                  <a:srgbClr val="161B26"/>
                </a:solidFill>
                <a:latin typeface="Arial"/>
              </a:rPr>
              <a:t>All four faults are resolved — no delegation warning, the flow run succeeds on resubmit, the shared user can open the app, and the connection reference is repaired — with each recorded in the log.</a:t>
            </a:r>
          </a:p>
        </p:txBody>
      </p:sp>
      <p:sp>
        <p:nvSpPr>
          <p:cNvPr id="11" name="TextBox 10"/>
          <p:cNvSpPr txBox="1"/>
          <p:nvPr/>
        </p:nvSpPr>
        <p:spPr>
          <a:xfrm>
            <a:off x="777240" y="3950208"/>
            <a:ext cx="10634472" cy="310896"/>
          </a:xfrm>
          <a:prstGeom prst="rect">
            <a:avLst/>
          </a:prstGeom>
          <a:noFill/>
        </p:spPr>
        <p:txBody>
          <a:bodyPr wrap="square" anchor="t">
            <a:spAutoFit/>
          </a:bodyPr>
          <a:lstStyle/>
          <a:p>
            <a:pPr algn="l">
              <a:spcAft>
                <a:spcPts val="400"/>
              </a:spcAft>
            </a:pPr>
            <a:r>
              <a:rPr sz="1100" b="1">
                <a:solidFill>
                  <a:srgbClr val="F59E0B"/>
                </a:solidFill>
                <a:latin typeface="Arial"/>
              </a:rPr>
              <a:t>IF IT DOESN'T WORK</a:t>
            </a:r>
          </a:p>
        </p:txBody>
      </p:sp>
      <p:sp>
        <p:nvSpPr>
          <p:cNvPr id="12" name="Rectangle 11"/>
          <p:cNvSpPr/>
          <p:nvPr/>
        </p:nvSpPr>
        <p:spPr>
          <a:xfrm>
            <a:off x="777240"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96696"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Nothing appears</a:t>
            </a:r>
          </a:p>
        </p:txBody>
      </p:sp>
      <p:sp>
        <p:nvSpPr>
          <p:cNvPr id="15" name="TextBox 14"/>
          <p:cNvSpPr txBox="1"/>
          <p:nvPr/>
        </p:nvSpPr>
        <p:spPr>
          <a:xfrm>
            <a:off x="996696"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Confirm you are in the environment the trainer named — apps, flows and agents must share one.</a:t>
            </a:r>
          </a:p>
        </p:txBody>
      </p:sp>
      <p:sp>
        <p:nvSpPr>
          <p:cNvPr id="16" name="Rectangle 15"/>
          <p:cNvSpPr/>
          <p:nvPr/>
        </p:nvSpPr>
        <p:spPr>
          <a:xfrm>
            <a:off x="4398264"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98264"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17720"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Permission or 403 error</a:t>
            </a:r>
          </a:p>
        </p:txBody>
      </p:sp>
      <p:sp>
        <p:nvSpPr>
          <p:cNvPr id="19" name="TextBox 18"/>
          <p:cNvSpPr txBox="1"/>
          <p:nvPr/>
        </p:nvSpPr>
        <p:spPr>
          <a:xfrm>
            <a:off x="4617720"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Sharing an app does not share its data. Check the Dataverse security role.</a:t>
            </a:r>
          </a:p>
        </p:txBody>
      </p:sp>
      <p:sp>
        <p:nvSpPr>
          <p:cNvPr id="20" name="Rectangle 19"/>
          <p:cNvSpPr/>
          <p:nvPr/>
        </p:nvSpPr>
        <p:spPr>
          <a:xfrm>
            <a:off x="8019288" y="4297680"/>
            <a:ext cx="3392424" cy="157276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9288" y="4297680"/>
            <a:ext cx="3392424" cy="82296"/>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4453128"/>
            <a:ext cx="2980944" cy="329184"/>
          </a:xfrm>
          <a:prstGeom prst="rect">
            <a:avLst/>
          </a:prstGeom>
          <a:noFill/>
        </p:spPr>
        <p:txBody>
          <a:bodyPr wrap="square" anchor="t">
            <a:spAutoFit/>
          </a:bodyPr>
          <a:lstStyle/>
          <a:p>
            <a:pPr algn="l">
              <a:spcAft>
                <a:spcPts val="400"/>
              </a:spcAft>
            </a:pPr>
            <a:r>
              <a:rPr sz="1250" b="1">
                <a:solidFill>
                  <a:srgbClr val="161B26"/>
                </a:solidFill>
                <a:latin typeface="Arial"/>
              </a:rPr>
              <a:t>Step-by-step needed</a:t>
            </a:r>
          </a:p>
        </p:txBody>
      </p:sp>
      <p:sp>
        <p:nvSpPr>
          <p:cNvPr id="23" name="TextBox 22"/>
          <p:cNvSpPr txBox="1"/>
          <p:nvPr/>
        </p:nvSpPr>
        <p:spPr>
          <a:xfrm>
            <a:off x="8238744" y="4809744"/>
            <a:ext cx="2980944" cy="960120"/>
          </a:xfrm>
          <a:prstGeom prst="rect">
            <a:avLst/>
          </a:prstGeom>
          <a:noFill/>
        </p:spPr>
        <p:txBody>
          <a:bodyPr wrap="square" anchor="t">
            <a:spAutoFit/>
          </a:bodyPr>
          <a:lstStyle/>
          <a:p>
            <a:pPr algn="l">
              <a:spcAft>
                <a:spcPts val="400"/>
              </a:spcAft>
            </a:pPr>
            <a:r>
              <a:rPr sz="1100" b="0">
                <a:solidFill>
                  <a:srgbClr val="5B6372"/>
                </a:solidFill>
                <a:latin typeface="Arial"/>
              </a:rPr>
              <a:t>Every numbered step, with the exact click path, is in the Learner Guide and labs/lab-26/README.md.</a:t>
            </a:r>
          </a:p>
        </p:txBody>
      </p:sp>
      <p:sp>
        <p:nvSpPr>
          <p:cNvPr id="24" name="TextBox 23"/>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5" name="TextBox 24"/>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6" name="TextBox 25"/>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191</a:t>
            </a:r>
          </a:p>
        </p:txBody>
      </p:sp>
    </p:spTree>
  </p:cSld>
  <p:clrMapOvr>
    <a:masterClrMapping/>
  </p:clrMapOvr>
  <p:transition spd="fast" advClick="1">
    <p:fade/>
  </p:transition>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LEARNING UNIT RECAP · YOU CAN NOW</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200" b="1">
                <a:solidFill>
                  <a:srgbClr val="161B26"/>
                </a:solidFill>
                <a:latin typeface="Arial"/>
              </a:rPr>
              <a:t>Recap — Create and Manage Model-Driven Apps with Power Apps and Dataverse</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Lab 21 — Create Dataverse Tables for a Model-Driven App</a:t>
            </a:r>
          </a:p>
          <a:p>
            <a:pPr algn="l">
              <a:spcAft>
                <a:spcPts val="300"/>
              </a:spcAft>
            </a:pPr>
            <a:r>
              <a:rPr sz="1000" b="0">
                <a:solidFill>
                  <a:srgbClr val="5B6372"/>
                </a:solidFill>
                <a:latin typeface="Arial"/>
              </a:rPr>
              <a:t>A1/A3 — Model the business domain as Dataverse tables, columns and relationships.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Lab 22 — Build a Model-Driven App</a:t>
            </a:r>
          </a:p>
          <a:p>
            <a:pPr algn="l">
              <a:spcAft>
                <a:spcPts val="300"/>
              </a:spcAft>
            </a:pPr>
            <a:r>
              <a:rPr sz="1000" b="0">
                <a:solidFill>
                  <a:srgbClr val="5B6372"/>
                </a:solidFill>
                <a:latin typeface="Arial"/>
              </a:rPr>
              <a:t>A3 — Generate an application from the data model rather than drawing screens.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Lab 23 — Configure Forms and Views</a:t>
            </a:r>
          </a:p>
          <a:p>
            <a:pPr algn="l">
              <a:spcAft>
                <a:spcPts val="300"/>
              </a:spcAft>
            </a:pPr>
            <a:r>
              <a:rPr sz="1000" b="0">
                <a:solidFill>
                  <a:srgbClr val="5B6372"/>
                </a:solidFill>
                <a:latin typeface="Arial"/>
              </a:rPr>
              <a:t>A3/A6 — Control what each user sees and edits, and verify the layout across the app.</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Lab 24 — Create Charts and Dashboards</a:t>
            </a:r>
          </a:p>
          <a:p>
            <a:pPr algn="l">
              <a:spcAft>
                <a:spcPts val="300"/>
              </a:spcAft>
            </a:pPr>
            <a:r>
              <a:rPr sz="1000" b="0">
                <a:solidFill>
                  <a:srgbClr val="5B6372"/>
                </a:solidFill>
                <a:latin typeface="Arial"/>
              </a:rPr>
              <a:t>A6 — Visualise integrated data to verify the platform is reporting correctly.</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Lab 25 — Manage Solutions and Move to Another Environment</a:t>
            </a:r>
          </a:p>
          <a:p>
            <a:pPr algn="l">
              <a:spcAft>
                <a:spcPts val="300"/>
              </a:spcAft>
            </a:pPr>
            <a:r>
              <a:rPr sz="1000" b="0">
                <a:solidFill>
                  <a:srgbClr val="5B6372"/>
                </a:solidFill>
                <a:latin typeface="Arial"/>
              </a:rPr>
              <a:t>A8 — Package and ship middleware modifications between environments safely.</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400" b="1">
                <a:solidFill>
                  <a:srgbClr val="161B26"/>
                </a:solidFill>
                <a:latin typeface="Arial"/>
              </a:rPr>
              <a:t>Lab 26 — Troubleshoot and Modify Power Platform Integrations</a:t>
            </a:r>
          </a:p>
          <a:p>
            <a:pPr algn="l">
              <a:spcAft>
                <a:spcPts val="300"/>
              </a:spcAft>
            </a:pPr>
            <a:r>
              <a:rPr sz="1000" b="0">
                <a:solidFill>
                  <a:srgbClr val="5B6372"/>
                </a:solidFill>
                <a:latin typeface="Arial"/>
              </a:rPr>
              <a:t>A7/A8 — Diagnose integration failures by layer and implement the corrective modification.</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192</a:t>
            </a:r>
          </a:p>
        </p:txBody>
      </p:sp>
    </p:spTree>
  </p:cSld>
  <p:clrMapOvr>
    <a:masterClrMapping/>
  </p:clrMapOvr>
  <p:transition spd="fast" advClick="1">
    <p:fade/>
  </p:transition>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77240" y="2286000"/>
            <a:ext cx="128016" cy="18288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43000" y="2331720"/>
            <a:ext cx="10058400" cy="548640"/>
          </a:xfrm>
          <a:prstGeom prst="rect">
            <a:avLst/>
          </a:prstGeom>
          <a:noFill/>
        </p:spPr>
        <p:txBody>
          <a:bodyPr wrap="square" anchor="t">
            <a:spAutoFit/>
          </a:bodyPr>
          <a:lstStyle/>
          <a:p>
            <a:pPr algn="l">
              <a:spcAft>
                <a:spcPts val="400"/>
              </a:spcAft>
            </a:pPr>
            <a:r>
              <a:rPr sz="1800" b="1">
                <a:solidFill>
                  <a:srgbClr val="1F6FEB"/>
                </a:solidFill>
                <a:latin typeface="Arial"/>
              </a:rPr>
              <a:t>WRAP-UP</a:t>
            </a:r>
          </a:p>
        </p:txBody>
      </p:sp>
      <p:sp>
        <p:nvSpPr>
          <p:cNvPr id="6" name="TextBox 5"/>
          <p:cNvSpPr txBox="1"/>
          <p:nvPr/>
        </p:nvSpPr>
        <p:spPr>
          <a:xfrm>
            <a:off x="1143000" y="2743200"/>
            <a:ext cx="10424160" cy="1463040"/>
          </a:xfrm>
          <a:prstGeom prst="rect">
            <a:avLst/>
          </a:prstGeom>
          <a:noFill/>
        </p:spPr>
        <p:txBody>
          <a:bodyPr wrap="square" anchor="t">
            <a:spAutoFit/>
          </a:bodyPr>
          <a:lstStyle/>
          <a:p>
            <a:pPr algn="l">
              <a:spcAft>
                <a:spcPts val="400"/>
              </a:spcAft>
            </a:pPr>
            <a:r>
              <a:rPr sz="4000" b="1">
                <a:solidFill>
                  <a:srgbClr val="161B26"/>
                </a:solidFill>
                <a:latin typeface="Arial"/>
              </a:rPr>
              <a:t>Course Summary &amp; Assessment</a:t>
            </a:r>
          </a:p>
        </p:txBody>
      </p:sp>
      <p:sp>
        <p:nvSpPr>
          <p:cNvPr id="7" name="TextBox 6"/>
          <p:cNvSpPr txBox="1"/>
          <p:nvPr/>
        </p:nvSpPr>
        <p:spPr>
          <a:xfrm>
            <a:off x="9144000" y="640080"/>
            <a:ext cx="2560320" cy="1463040"/>
          </a:xfrm>
          <a:prstGeom prst="rect">
            <a:avLst/>
          </a:prstGeom>
          <a:noFill/>
        </p:spPr>
        <p:txBody>
          <a:bodyPr wrap="square" anchor="t">
            <a:spAutoFit/>
          </a:bodyPr>
          <a:lstStyle/>
          <a:p>
            <a:pPr algn="r">
              <a:spcAft>
                <a:spcPts val="400"/>
              </a:spcAft>
            </a:pPr>
            <a:r>
              <a:rPr sz="7200" b="1">
                <a:solidFill>
                  <a:srgbClr val="E2E8F0"/>
                </a:solidFill>
                <a:latin typeface="Arial"/>
              </a:rPr>
              <a:t/>
            </a:r>
          </a:p>
        </p:txBody>
      </p:sp>
      <p:sp>
        <p:nvSpPr>
          <p:cNvPr id="8" name="TextBox 7"/>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 name="TextBox 8"/>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10" name="TextBox 9"/>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193</a:t>
            </a:r>
          </a:p>
        </p:txBody>
      </p:sp>
    </p:spTree>
  </p:cSld>
  <p:clrMapOvr>
    <a:masterClrMapping/>
  </p:clrMapOvr>
  <p:transition spd="med" advClick="1">
    <p:push dir="l"/>
  </p:transition>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LEARNING OUTCOMES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What You Achieved</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LO1 · Identified &amp; scanned</a:t>
            </a:r>
          </a:p>
          <a:p>
            <a:pPr algn="l">
              <a:spcAft>
                <a:spcPts val="300"/>
              </a:spcAft>
            </a:pPr>
            <a:r>
              <a:rPr sz="1200" b="0">
                <a:solidFill>
                  <a:srgbClr val="5B6372"/>
                </a:solidFill>
                <a:latin typeface="Arial"/>
              </a:rPr>
              <a:t>Identified integration opportunities across Power Platform and recorded a connector feasibility scan (Lab 1).</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LO2 · Integrated with Power Apps</a:t>
            </a:r>
          </a:p>
          <a:p>
            <a:pPr algn="l">
              <a:spcAft>
                <a:spcPts val="300"/>
              </a:spcAft>
            </a:pPr>
            <a:r>
              <a:rPr sz="1200" b="0">
                <a:solidFill>
                  <a:srgbClr val="5B6372"/>
                </a:solidFill>
                <a:latin typeface="Arial"/>
              </a:rPr>
              <a:t>Built canvas apps over Excel, Dataverse and SharePoint, wrote data with Patch and forms, and extended the platform with a PCF code component (Labs 5–12).</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LO3 · Tested with Power Automate</a:t>
            </a:r>
          </a:p>
          <a:p>
            <a:pPr algn="l">
              <a:spcAft>
                <a:spcPts val="300"/>
              </a:spcAft>
            </a:pPr>
            <a:r>
              <a:rPr sz="1200" b="0">
                <a:solidFill>
                  <a:srgbClr val="5B6372"/>
                </a:solidFill>
                <a:latin typeface="Arial"/>
              </a:rPr>
              <a:t>Built flows on all four trigger families, added approvals and trigger filters, and verified every connection from run history (Labs 13–20).</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600" b="1">
                <a:solidFill>
                  <a:srgbClr val="161B26"/>
                </a:solidFill>
                <a:latin typeface="Arial"/>
              </a:rPr>
              <a:t>LO4 · Resolved &amp; modified</a:t>
            </a:r>
          </a:p>
          <a:p>
            <a:pPr algn="l">
              <a:spcAft>
                <a:spcPts val="300"/>
              </a:spcAft>
            </a:pPr>
            <a:r>
              <a:rPr sz="1200" b="0">
                <a:solidFill>
                  <a:srgbClr val="5B6372"/>
                </a:solidFill>
                <a:latin typeface="Arial"/>
              </a:rPr>
              <a:t>Diagnosed delegation, permission, connector and data faults by layer, and shipped modifications as a managed solution (Labs 25–26).</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194</a:t>
            </a:r>
          </a:p>
        </p:txBody>
      </p:sp>
    </p:spTree>
  </p:cSld>
  <p:clrMapOvr>
    <a:masterClrMapping/>
  </p:clrMapOvr>
  <p:transition spd="fast" advClick="1">
    <p:fade/>
  </p:transition>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0B981"/>
                </a:solidFill>
                <a:latin typeface="Arial"/>
              </a:rPr>
              <a:t>WHAT TO TAKE BACK TO WORK</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The Habits Worth Keeping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One environment</a:t>
            </a:r>
          </a:p>
          <a:p>
            <a:pPr algn="l">
              <a:spcAft>
                <a:spcPts val="300"/>
              </a:spcAft>
            </a:pPr>
            <a:r>
              <a:rPr sz="1100" b="0">
                <a:solidFill>
                  <a:srgbClr val="5B6372"/>
                </a:solidFill>
                <a:latin typeface="Arial"/>
              </a:rPr>
              <a:t>Apps, flows and agents must share it, or they cannot see each other.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Insert, never type</a:t>
            </a:r>
          </a:p>
          <a:p>
            <a:pPr algn="l">
              <a:spcAft>
                <a:spcPts val="300"/>
              </a:spcAft>
            </a:pPr>
            <a:r>
              <a:rPr sz="1100" b="0">
                <a:solidFill>
                  <a:srgbClr val="5B6372"/>
                </a:solidFill>
                <a:latin typeface="Arial"/>
              </a:rPr>
              <a:t>Dynamic content and the ⚡ picker — a typed value is tomorrow's bug.</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Schema names, not display names</a:t>
            </a:r>
          </a:p>
          <a:p>
            <a:pPr algn="l">
              <a:spcAft>
                <a:spcPts val="300"/>
              </a:spcAft>
            </a:pPr>
            <a:r>
              <a:rPr sz="1100" b="0">
                <a:solidFill>
                  <a:srgbClr val="5B6372"/>
                </a:solidFill>
                <a:latin typeface="Arial"/>
              </a:rPr>
              <a:t>Trigger filters and Filter Query expressions need tic_status, not Status.</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Put the control where the model cannot reach</a:t>
            </a:r>
          </a:p>
          <a:p>
            <a:pPr algn="l">
              <a:spcAft>
                <a:spcPts val="300"/>
              </a:spcAft>
            </a:pPr>
            <a:r>
              <a:rPr sz="1100" b="0">
                <a:solidFill>
                  <a:srgbClr val="5B6372"/>
                </a:solidFill>
                <a:latin typeface="Arial"/>
              </a:rPr>
              <a:t>A tool the agent lacks is a control; an instruction is a request.</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Read the run history first</a:t>
            </a:r>
          </a:p>
          <a:p>
            <a:pPr algn="l">
              <a:spcAft>
                <a:spcPts val="300"/>
              </a:spcAft>
            </a:pPr>
            <a:r>
              <a:rPr sz="1100" b="0">
                <a:solidFill>
                  <a:srgbClr val="5B6372"/>
                </a:solidFill>
                <a:latin typeface="Arial"/>
              </a:rPr>
              <a:t>The first failure is the cause; everything after it is a symptom.</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Ship managed, develop unmanaged</a:t>
            </a:r>
          </a:p>
          <a:p>
            <a:pPr algn="l">
              <a:spcAft>
                <a:spcPts val="300"/>
              </a:spcAft>
            </a:pPr>
            <a:r>
              <a:rPr sz="1100" b="0">
                <a:solidFill>
                  <a:srgbClr val="5B6372"/>
                </a:solidFill>
                <a:latin typeface="Arial"/>
              </a:rPr>
              <a:t>Importing unmanaged into production cannot be cleanly undone.</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195</a:t>
            </a:r>
          </a:p>
        </p:txBody>
      </p:sp>
    </p:spTree>
  </p:cSld>
  <p:clrMapOvr>
    <a:masterClrMapping/>
  </p:clrMapOvr>
  <p:transition spd="fast" advClick="1">
    <p:fade/>
  </p:transition>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NEXT STEPS</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Continue Your Learning</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Microsoft Learn</a:t>
            </a:r>
          </a:p>
          <a:p>
            <a:pPr algn="l">
              <a:spcAft>
                <a:spcPts val="300"/>
              </a:spcAft>
            </a:pPr>
            <a:r>
              <a:rPr sz="1100" b="0">
                <a:solidFill>
                  <a:srgbClr val="5B6372"/>
                </a:solidFill>
                <a:latin typeface="Arial"/>
              </a:rPr>
              <a:t>learn.microsoft.com/training — the PL-7001, PL-7002 and PL-7003 learning paths.</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Power Apps samples</a:t>
            </a:r>
          </a:p>
          <a:p>
            <a:pPr algn="l">
              <a:spcAft>
                <a:spcPts val="300"/>
              </a:spcAft>
            </a:pPr>
            <a:r>
              <a:rPr sz="1100" b="0">
                <a:solidFill>
                  <a:srgbClr val="5B6372"/>
                </a:solidFill>
                <a:latin typeface="Arial"/>
              </a:rPr>
              <a:t>github.com/microsoft/PowerApps-Samples — PCF components, Dataverse and model-driven examples.</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Rebuild from blank</a:t>
            </a:r>
          </a:p>
          <a:p>
            <a:pPr algn="l">
              <a:spcAft>
                <a:spcPts val="300"/>
              </a:spcAft>
            </a:pPr>
            <a:r>
              <a:rPr sz="1100" b="0">
                <a:solidFill>
                  <a:srgbClr val="5B6372"/>
                </a:solidFill>
                <a:latin typeface="Arial"/>
              </a:rPr>
              <a:t>Redo Labs 7, 14 and 18 without the guide until the pattern is automatic.</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Extend the capstone</a:t>
            </a:r>
          </a:p>
          <a:p>
            <a:pPr algn="l">
              <a:spcAft>
                <a:spcPts val="300"/>
              </a:spcAft>
            </a:pPr>
            <a:r>
              <a:rPr sz="1100" b="0">
                <a:solidFill>
                  <a:srgbClr val="5B6372"/>
                </a:solidFill>
                <a:latin typeface="Arial"/>
              </a:rPr>
              <a:t>Add a Copilot Studio agent to the Contoso Real Estate app you built in LU4.</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Certify</a:t>
            </a:r>
          </a:p>
          <a:p>
            <a:pPr algn="l">
              <a:spcAft>
                <a:spcPts val="300"/>
              </a:spcAft>
            </a:pPr>
            <a:r>
              <a:rPr sz="1100" b="0">
                <a:solidFill>
                  <a:srgbClr val="5B6372"/>
                </a:solidFill>
                <a:latin typeface="Arial"/>
              </a:rPr>
              <a:t>PL-900 Fundamentals, then PL-100 Power Platform App Maker.</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500" b="1">
                <a:solidFill>
                  <a:srgbClr val="161B26"/>
                </a:solidFill>
                <a:latin typeface="Arial"/>
              </a:rPr>
              <a:t>Ship something real</a:t>
            </a:r>
          </a:p>
          <a:p>
            <a:pPr algn="l">
              <a:spcAft>
                <a:spcPts val="300"/>
              </a:spcAft>
            </a:pPr>
            <a:r>
              <a:rPr sz="1100" b="0">
                <a:solidFill>
                  <a:srgbClr val="5B6372"/>
                </a:solidFill>
                <a:latin typeface="Arial"/>
              </a:rPr>
              <a:t>Automate one process in your own organisation and measure the hours saved.</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196</a:t>
            </a:r>
          </a:p>
        </p:txBody>
      </p:sp>
    </p:spTree>
  </p:cSld>
  <p:clrMapOvr>
    <a:masterClrMapping/>
  </p:clrMapOvr>
  <p:transition spd="fast" advClick="1">
    <p:fade/>
  </p:transition>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CONTINUE WITH TERTIARY INFOTECH</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Recommended Courses</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91440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1965960"/>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196596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Business Process Automation with Power Automate and Copilot Studio Agents (TGS-2022017524)</a:t>
            </a:r>
          </a:p>
          <a:p>
            <a:pPr algn="l">
              <a:spcAft>
                <a:spcPts val="300"/>
              </a:spcAft>
            </a:pPr>
            <a:r>
              <a:rPr sz="1200" b="0">
                <a:solidFill>
                  <a:srgbClr val="5B6372"/>
                </a:solidFill>
                <a:latin typeface="Arial"/>
              </a:rPr>
              <a:t/>
            </a:r>
          </a:p>
        </p:txBody>
      </p:sp>
      <p:sp>
        <p:nvSpPr>
          <p:cNvPr id="12" name="Rectangle 11"/>
          <p:cNvSpPr/>
          <p:nvPr/>
        </p:nvSpPr>
        <p:spPr>
          <a:xfrm>
            <a:off x="777240" y="2935224"/>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77240" y="2935224"/>
            <a:ext cx="91440" cy="9144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33272" y="311810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33272" y="311810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1764792" y="3063240"/>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Microsoft Power BI Data Analyst (PL-300)</a:t>
            </a:r>
          </a:p>
          <a:p>
            <a:pPr algn="l">
              <a:spcAft>
                <a:spcPts val="300"/>
              </a:spcAft>
            </a:pPr>
            <a:r>
              <a:rPr sz="1200" b="0">
                <a:solidFill>
                  <a:srgbClr val="5B6372"/>
                </a:solidFill>
                <a:latin typeface="Arial"/>
              </a:rPr>
              <a:t/>
            </a:r>
          </a:p>
        </p:txBody>
      </p:sp>
      <p:sp>
        <p:nvSpPr>
          <p:cNvPr id="17" name="Rectangle 16"/>
          <p:cNvSpPr/>
          <p:nvPr/>
        </p:nvSpPr>
        <p:spPr>
          <a:xfrm>
            <a:off x="777240" y="4087368"/>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9144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270248"/>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27024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Microsoft Azure AI Fundamentals (AI-900)</a:t>
            </a:r>
          </a:p>
          <a:p>
            <a:pPr algn="l">
              <a:spcAft>
                <a:spcPts val="300"/>
              </a:spcAft>
            </a:pPr>
            <a:r>
              <a:rPr sz="1200" b="0">
                <a:solidFill>
                  <a:srgbClr val="5B6372"/>
                </a:solidFill>
                <a:latin typeface="Arial"/>
              </a:rPr>
              <a:t/>
            </a:r>
          </a:p>
        </p:txBody>
      </p:sp>
      <p:sp>
        <p:nvSpPr>
          <p:cNvPr id="22" name="Rectangle 21"/>
          <p:cNvSpPr/>
          <p:nvPr/>
        </p:nvSpPr>
        <p:spPr>
          <a:xfrm>
            <a:off x="777240" y="5239512"/>
            <a:ext cx="10634472" cy="9144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77240" y="5239512"/>
            <a:ext cx="91440" cy="9144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33272" y="5422392"/>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3272" y="542239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1764792" y="5367528"/>
            <a:ext cx="9427464" cy="731520"/>
          </a:xfrm>
          <a:prstGeom prst="rect">
            <a:avLst/>
          </a:prstGeom>
          <a:noFill/>
        </p:spPr>
        <p:txBody>
          <a:bodyPr wrap="square" anchor="ctr">
            <a:spAutoFit/>
          </a:bodyPr>
          <a:lstStyle/>
          <a:p>
            <a:pPr algn="l">
              <a:spcAft>
                <a:spcPts val="300"/>
              </a:spcAft>
            </a:pPr>
            <a:r>
              <a:rPr sz="1600" b="1">
                <a:solidFill>
                  <a:srgbClr val="161B26"/>
                </a:solidFill>
                <a:latin typeface="Arial"/>
              </a:rPr>
              <a:t>WSQ - Develop Multi AI Agent Applications with Microsoft Copilot Studio</a:t>
            </a:r>
          </a:p>
          <a:p>
            <a:pPr algn="l">
              <a:spcAft>
                <a:spcPts val="300"/>
              </a:spcAft>
            </a:pPr>
            <a:r>
              <a:rPr sz="1200" b="0">
                <a:solidFill>
                  <a:srgbClr val="5B6372"/>
                </a:solidFill>
                <a:latin typeface="Arial"/>
              </a:rPr>
              <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197</a:t>
            </a:r>
          </a:p>
        </p:txBody>
      </p:sp>
    </p:spTree>
  </p:cSld>
  <p:clrMapOvr>
    <a:masterClrMapping/>
  </p:clrMapOvr>
  <p:transition spd="fast" advClick="1">
    <p:fade/>
  </p:transition>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F59E0B"/>
                </a:solidFill>
                <a:latin typeface="Arial"/>
              </a:rPr>
              <a:t>BEFORE YOU BEGIN</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Briefing for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Phones and materials away</a:t>
            </a:r>
          </a:p>
          <a:p>
            <a:pPr algn="l">
              <a:spcAft>
                <a:spcPts val="300"/>
              </a:spcAft>
            </a:pPr>
            <a:r>
              <a:rPr sz="1200" b="0">
                <a:solidFill>
                  <a:srgbClr val="5B6372"/>
                </a:solidFill>
                <a:latin typeface="Arial"/>
              </a:rPr>
              <a:t>Place phones and other materials under the table or on the floor.</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photos or recording</a:t>
            </a:r>
          </a:p>
          <a:p>
            <a:pPr algn="l">
              <a:spcAft>
                <a:spcPts val="300"/>
              </a:spcAft>
            </a:pPr>
            <a:r>
              <a:rPr sz="1200" b="0">
                <a:solidFill>
                  <a:srgbClr val="5B6372"/>
                </a:solidFill>
                <a:latin typeface="Arial"/>
              </a:rPr>
              <a:t>Do not photograph or record any assessment script.</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discussion</a:t>
            </a:r>
          </a:p>
          <a:p>
            <a:pPr algn="l">
              <a:spcAft>
                <a:spcPts val="300"/>
              </a:spcAft>
            </a:pPr>
            <a:r>
              <a:rPr sz="1200" b="0">
                <a:solidFill>
                  <a:srgbClr val="5B6372"/>
                </a:solidFill>
                <a:latin typeface="Arial"/>
              </a:rPr>
              <a:t>No discussion of any kind during the assessment.</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Black or blue pen</a:t>
            </a:r>
          </a:p>
          <a:p>
            <a:pPr algn="l">
              <a:spcAft>
                <a:spcPts val="300"/>
              </a:spcAft>
            </a:pPr>
            <a:r>
              <a:rPr sz="1200" b="0">
                <a:solidFill>
                  <a:srgbClr val="5B6372"/>
                </a:solidFill>
                <a:latin typeface="Arial"/>
              </a:rPr>
              <a:t>Use a black or blue pen for hard-copy scripts.</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No correction fluid</a:t>
            </a:r>
          </a:p>
          <a:p>
            <a:pPr algn="l">
              <a:spcAft>
                <a:spcPts val="300"/>
              </a:spcAft>
            </a:pPr>
            <a:r>
              <a:rPr sz="1200" b="0">
                <a:solidFill>
                  <a:srgbClr val="5B6372"/>
                </a:solidFill>
                <a:latin typeface="Arial"/>
              </a:rPr>
              <a:t>No liquid paper or correction tape — strike through neatly instead.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Scripts collected on time</a:t>
            </a:r>
          </a:p>
          <a:p>
            <a:pPr algn="l">
              <a:spcAft>
                <a:spcPts val="300"/>
              </a:spcAft>
            </a:pPr>
            <a:r>
              <a:rPr sz="1200" b="0">
                <a:solidFill>
                  <a:srgbClr val="5B6372"/>
                </a:solidFill>
                <a:latin typeface="Arial"/>
              </a:rPr>
              <a:t>All scripts are collected when the time is up.</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198</a:t>
            </a:r>
          </a:p>
        </p:txBody>
      </p:sp>
    </p:spTree>
  </p:cSld>
  <p:clrMapOvr>
    <a:masterClrMapping/>
  </p:clrMapOvr>
  <p:transition spd="fast" advClick="1">
    <p:fade/>
  </p:transition>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WRAP-UP · ASSESSMENT</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Final Assessment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Written Assessment (WA)</a:t>
            </a:r>
          </a:p>
          <a:p>
            <a:pPr algn="l">
              <a:spcAft>
                <a:spcPts val="300"/>
              </a:spcAft>
            </a:pPr>
            <a:r>
              <a:rPr sz="1200" b="0">
                <a:solidFill>
                  <a:srgbClr val="5B6372"/>
                </a:solidFill>
                <a:latin typeface="Arial"/>
              </a:rPr>
              <a:t>Short-Answer Questions (SAQ) · 1 hour · open book.</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Practical Performance (PP)</a:t>
            </a:r>
          </a:p>
          <a:p>
            <a:pPr algn="l">
              <a:spcAft>
                <a:spcPts val="300"/>
              </a:spcAft>
            </a:pPr>
            <a:r>
              <a:rPr sz="1200" b="0">
                <a:solidFill>
                  <a:srgbClr val="5B6372"/>
                </a:solidFill>
                <a:latin typeface="Arial"/>
              </a:rPr>
              <a:t>Hands-on Power Platform build tasks · 90 minutes · open book.</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Open book means</a:t>
            </a:r>
          </a:p>
          <a:p>
            <a:pPr algn="l">
              <a:spcAft>
                <a:spcPts val="300"/>
              </a:spcAft>
            </a:pPr>
            <a:r>
              <a:rPr sz="1200" b="0">
                <a:solidFill>
                  <a:srgbClr val="5B6372"/>
                </a:solidFill>
                <a:latin typeface="Arial"/>
              </a:rPr>
              <a:t>Your slides, Learner Guide and approved course materials only.</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Competency</a:t>
            </a:r>
          </a:p>
          <a:p>
            <a:pPr algn="l">
              <a:spcAft>
                <a:spcPts val="300"/>
              </a:spcAft>
            </a:pPr>
            <a:r>
              <a:rPr sz="1200" b="0">
                <a:solidFill>
                  <a:srgbClr val="5B6372"/>
                </a:solidFill>
                <a:latin typeface="Arial"/>
              </a:rPr>
              <a:t>You must be assessed Competent in BOTH the WA and the PP.</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Attendance</a:t>
            </a:r>
          </a:p>
          <a:p>
            <a:pPr algn="l">
              <a:spcAft>
                <a:spcPts val="300"/>
              </a:spcAft>
            </a:pPr>
            <a:r>
              <a:rPr sz="1200" b="0">
                <a:solidFill>
                  <a:srgbClr val="5B6372"/>
                </a:solidFill>
                <a:latin typeface="Arial"/>
              </a:rPr>
              <a:t>A minimum of 75% attendance, per the SSG digital attendance record.</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Appeal</a:t>
            </a:r>
          </a:p>
          <a:p>
            <a:pPr algn="l">
              <a:spcAft>
                <a:spcPts val="300"/>
              </a:spcAft>
            </a:pPr>
            <a:r>
              <a:rPr sz="1200" b="0">
                <a:solidFill>
                  <a:srgbClr val="5B6372"/>
                </a:solidFill>
                <a:latin typeface="Arial"/>
              </a:rPr>
              <a:t>If you disagree with the outcome, an appeal process is available — ask the trainer.</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199</a:t>
            </a:r>
          </a:p>
        </p:txBody>
      </p:sp>
    </p:spTree>
  </p:cSld>
  <p:clrMapOvr>
    <a:masterClrMapping/>
  </p:clrMapOvr>
  <p:transition spd="med" advClick="1">
    <p:push dir="l"/>
  </p:transition>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ON ASSESSMENT DAY</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Assessment Flow</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77240"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403604"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403604"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1</a:t>
            </a:r>
          </a:p>
        </p:txBody>
      </p:sp>
      <p:sp>
        <p:nvSpPr>
          <p:cNvPr id="11" name="TextBox 10"/>
          <p:cNvSpPr txBox="1"/>
          <p:nvPr/>
        </p:nvSpPr>
        <p:spPr>
          <a:xfrm>
            <a:off x="905256"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TRAQOM survey</a:t>
            </a:r>
          </a:p>
        </p:txBody>
      </p:sp>
      <p:sp>
        <p:nvSpPr>
          <p:cNvPr id="12" name="TextBox 11"/>
          <p:cNvSpPr txBox="1"/>
          <p:nvPr/>
        </p:nvSpPr>
        <p:spPr>
          <a:xfrm>
            <a:off x="850392"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Scan the QR code on the LMS</a:t>
            </a:r>
          </a:p>
        </p:txBody>
      </p:sp>
      <p:cxnSp>
        <p:nvCxnSpPr>
          <p:cNvPr id="13" name="Connector 12"/>
          <p:cNvCxnSpPr/>
          <p:nvPr/>
        </p:nvCxnSpPr>
        <p:spPr>
          <a:xfrm>
            <a:off x="2651760"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80944"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980944"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607308"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07308"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2</a:t>
            </a:r>
          </a:p>
        </p:txBody>
      </p:sp>
      <p:sp>
        <p:nvSpPr>
          <p:cNvPr id="18" name="TextBox 17"/>
          <p:cNvSpPr txBox="1"/>
          <p:nvPr/>
        </p:nvSpPr>
        <p:spPr>
          <a:xfrm>
            <a:off x="3108960"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Digital attendance</a:t>
            </a:r>
          </a:p>
        </p:txBody>
      </p:sp>
      <p:sp>
        <p:nvSpPr>
          <p:cNvPr id="19" name="TextBox 18"/>
          <p:cNvSpPr txBox="1"/>
          <p:nvPr/>
        </p:nvSpPr>
        <p:spPr>
          <a:xfrm>
            <a:off x="3054096"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Scan the SSG assessment QR</a:t>
            </a:r>
          </a:p>
        </p:txBody>
      </p:sp>
      <p:cxnSp>
        <p:nvCxnSpPr>
          <p:cNvPr id="20" name="Connector 19"/>
          <p:cNvCxnSpPr/>
          <p:nvPr/>
        </p:nvCxnSpPr>
        <p:spPr>
          <a:xfrm>
            <a:off x="4855464"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184648"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184648"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811012"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11012"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3</a:t>
            </a:r>
          </a:p>
        </p:txBody>
      </p:sp>
      <p:sp>
        <p:nvSpPr>
          <p:cNvPr id="25" name="TextBox 24"/>
          <p:cNvSpPr txBox="1"/>
          <p:nvPr/>
        </p:nvSpPr>
        <p:spPr>
          <a:xfrm>
            <a:off x="5312664"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Sit WA then PP</a:t>
            </a:r>
          </a:p>
        </p:txBody>
      </p:sp>
      <p:sp>
        <p:nvSpPr>
          <p:cNvPr id="26" name="TextBox 25"/>
          <p:cNvSpPr txBox="1"/>
          <p:nvPr/>
        </p:nvSpPr>
        <p:spPr>
          <a:xfrm>
            <a:off x="5257800"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Open book · WA 1 hr, PP 90 min</a:t>
            </a:r>
          </a:p>
        </p:txBody>
      </p:sp>
      <p:cxnSp>
        <p:nvCxnSpPr>
          <p:cNvPr id="27" name="Connector 26"/>
          <p:cNvCxnSpPr/>
          <p:nvPr/>
        </p:nvCxnSpPr>
        <p:spPr>
          <a:xfrm>
            <a:off x="7059168"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88352"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7388352"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14716"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14716"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4</a:t>
            </a:r>
          </a:p>
        </p:txBody>
      </p:sp>
      <p:sp>
        <p:nvSpPr>
          <p:cNvPr id="32" name="TextBox 31"/>
          <p:cNvSpPr txBox="1"/>
          <p:nvPr/>
        </p:nvSpPr>
        <p:spPr>
          <a:xfrm>
            <a:off x="7516368"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Submit on the LMS</a:t>
            </a:r>
          </a:p>
        </p:txBody>
      </p:sp>
      <p:sp>
        <p:nvSpPr>
          <p:cNvPr id="33" name="TextBox 32"/>
          <p:cNvSpPr txBox="1"/>
          <p:nvPr/>
        </p:nvSpPr>
        <p:spPr>
          <a:xfrm>
            <a:off x="7461504" y="3675888"/>
            <a:ext cx="1673352" cy="512064"/>
          </a:xfrm>
          <a:prstGeom prst="rect">
            <a:avLst/>
          </a:prstGeom>
          <a:noFill/>
        </p:spPr>
        <p:txBody>
          <a:bodyPr wrap="square" anchor="ctr">
            <a:spAutoFit/>
          </a:bodyPr>
          <a:lstStyle/>
          <a:p>
            <a:pPr algn="ctr">
              <a:spcAft>
                <a:spcPts val="0"/>
              </a:spcAft>
            </a:pPr>
            <a:r>
              <a:rPr sz="900" b="0">
                <a:solidFill>
                  <a:srgbClr val="5B6372"/>
                </a:solidFill>
                <a:latin typeface="Arial"/>
              </a:rPr>
              <a:t>Upload your completed answers</a:t>
            </a:r>
          </a:p>
        </p:txBody>
      </p:sp>
      <p:cxnSp>
        <p:nvCxnSpPr>
          <p:cNvPr id="34" name="Connector 33"/>
          <p:cNvCxnSpPr/>
          <p:nvPr/>
        </p:nvCxnSpPr>
        <p:spPr>
          <a:xfrm>
            <a:off x="9262872" y="3223260"/>
            <a:ext cx="274320" cy="0"/>
          </a:xfrm>
          <a:prstGeom prst="line">
            <a:avLst/>
          </a:prstGeom>
          <a:ln w="25400">
            <a:solidFill>
              <a:srgbClr val="1F6F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592056" y="2148840"/>
            <a:ext cx="1819656" cy="2148840"/>
          </a:xfrm>
          <a:prstGeom prst="roundRect">
            <a:avLst>
              <a:gd name="adj" fmla="val 10000"/>
            </a:avLst>
          </a:prstGeom>
          <a:solidFill>
            <a:srgbClr val="F5F8FC"/>
          </a:solidFill>
          <a:ln w="1587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592056" y="2148840"/>
            <a:ext cx="1819656" cy="10058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218420" y="2459736"/>
            <a:ext cx="566928" cy="566928"/>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18420" y="2459736"/>
            <a:ext cx="566928" cy="566928"/>
          </a:xfrm>
          <a:prstGeom prst="rect">
            <a:avLst/>
          </a:prstGeom>
          <a:noFill/>
        </p:spPr>
        <p:txBody>
          <a:bodyPr wrap="square" anchor="ctr">
            <a:spAutoFit/>
          </a:bodyPr>
          <a:lstStyle/>
          <a:p>
            <a:pPr algn="ctr">
              <a:spcAft>
                <a:spcPts val="400"/>
              </a:spcAft>
            </a:pPr>
            <a:r>
              <a:rPr sz="2400" b="1">
                <a:solidFill>
                  <a:srgbClr val="FFFFFF"/>
                </a:solidFill>
                <a:latin typeface="Arial"/>
              </a:rPr>
              <a:t>5</a:t>
            </a:r>
          </a:p>
        </p:txBody>
      </p:sp>
      <p:sp>
        <p:nvSpPr>
          <p:cNvPr id="39" name="TextBox 38"/>
          <p:cNvSpPr txBox="1"/>
          <p:nvPr/>
        </p:nvSpPr>
        <p:spPr>
          <a:xfrm>
            <a:off x="9720072" y="3081528"/>
            <a:ext cx="1563624" cy="786384"/>
          </a:xfrm>
          <a:prstGeom prst="rect">
            <a:avLst/>
          </a:prstGeom>
          <a:noFill/>
        </p:spPr>
        <p:txBody>
          <a:bodyPr wrap="square" anchor="ctr">
            <a:spAutoFit/>
          </a:bodyPr>
          <a:lstStyle/>
          <a:p>
            <a:pPr algn="ctr">
              <a:spcAft>
                <a:spcPts val="0"/>
              </a:spcAft>
            </a:pPr>
            <a:r>
              <a:rPr sz="1300" b="1">
                <a:solidFill>
                  <a:srgbClr val="161B26"/>
                </a:solidFill>
                <a:latin typeface="Arial"/>
              </a:rPr>
              <a:t>Sign the record</a:t>
            </a:r>
          </a:p>
        </p:txBody>
      </p:sp>
      <p:sp>
        <p:nvSpPr>
          <p:cNvPr id="40" name="TextBox 39"/>
          <p:cNvSpPr txBox="1"/>
          <p:nvPr/>
        </p:nvSpPr>
        <p:spPr>
          <a:xfrm>
            <a:off x="9665208" y="3675888"/>
            <a:ext cx="1673352" cy="512064"/>
          </a:xfrm>
          <a:prstGeom prst="rect">
            <a:avLst/>
          </a:prstGeom>
          <a:noFill/>
        </p:spPr>
        <p:txBody>
          <a:bodyPr wrap="square" anchor="ctr">
            <a:spAutoFit/>
          </a:bodyPr>
          <a:lstStyle/>
          <a:p>
            <a:pPr algn="ctr">
              <a:spcAft>
                <a:spcPts val="0"/>
              </a:spcAft>
            </a:pPr>
            <a:r>
              <a:rPr sz="800" b="0">
                <a:solidFill>
                  <a:srgbClr val="5B6372"/>
                </a:solidFill>
                <a:latin typeface="Arial"/>
              </a:rPr>
              <a:t>Sign the Assessment Summary Record</a:t>
            </a:r>
          </a:p>
        </p:txBody>
      </p:sp>
      <p:sp>
        <p:nvSpPr>
          <p:cNvPr id="41" name="Rectangle 40"/>
          <p:cNvSpPr/>
          <p:nvPr/>
        </p:nvSpPr>
        <p:spPr>
          <a:xfrm>
            <a:off x="777240" y="4608576"/>
            <a:ext cx="10634472" cy="105156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777240" y="4608576"/>
            <a:ext cx="100584" cy="105156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1560" y="4718304"/>
            <a:ext cx="10149840" cy="292608"/>
          </a:xfrm>
          <a:prstGeom prst="rect">
            <a:avLst/>
          </a:prstGeom>
          <a:noFill/>
        </p:spPr>
        <p:txBody>
          <a:bodyPr wrap="square" anchor="t">
            <a:spAutoFit/>
          </a:bodyPr>
          <a:lstStyle/>
          <a:p>
            <a:pPr algn="l">
              <a:spcAft>
                <a:spcPts val="400"/>
              </a:spcAft>
            </a:pPr>
            <a:r>
              <a:rPr sz="1100" b="1">
                <a:solidFill>
                  <a:srgbClr val="1F6FEB"/>
                </a:solidFill>
                <a:latin typeface="Arial"/>
              </a:rPr>
              <a:t>REMEMBER</a:t>
            </a:r>
          </a:p>
        </p:txBody>
      </p:sp>
      <p:sp>
        <p:nvSpPr>
          <p:cNvPr id="44" name="TextBox 43"/>
          <p:cNvSpPr txBox="1"/>
          <p:nvPr/>
        </p:nvSpPr>
        <p:spPr>
          <a:xfrm>
            <a:off x="1051560" y="5029200"/>
            <a:ext cx="10149840" cy="566928"/>
          </a:xfrm>
          <a:prstGeom prst="rect">
            <a:avLst/>
          </a:prstGeom>
          <a:noFill/>
        </p:spPr>
        <p:txBody>
          <a:bodyPr wrap="square" anchor="t">
            <a:spAutoFit/>
          </a:bodyPr>
          <a:lstStyle/>
          <a:p>
            <a:pPr algn="l">
              <a:spcAft>
                <a:spcPts val="400"/>
              </a:spcAft>
            </a:pPr>
            <a:r>
              <a:rPr sz="1300" b="0">
                <a:solidFill>
                  <a:srgbClr val="161B26"/>
                </a:solidFill>
                <a:latin typeface="Arial"/>
              </a:rPr>
              <a:t>All five steps are mandatory for WSQ funding — missing the digital attendance or the TRAQOM survey can invalidate your claim.</a:t>
            </a:r>
          </a:p>
        </p:txBody>
      </p:sp>
      <p:sp>
        <p:nvSpPr>
          <p:cNvPr id="95" name="TextBox 94"/>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96" name="TextBox 95"/>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7" name="TextBox 96"/>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200</a:t>
            </a:r>
          </a:p>
        </p:txBody>
      </p:sp>
    </p:spTree>
  </p:cSld>
  <p:clrMapOvr>
    <a:masterClrMapping/>
  </p:clrMapOvr>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4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after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400"/>
                                        <p:tgtEl>
                                          <p:spTgt spid="13"/>
                                        </p:tgtEl>
                                      </p:cBhvr>
                                    </p:animEffec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400"/>
                                        <p:tgtEl>
                                          <p:spTgt spid="14"/>
                                        </p:tgtEl>
                                      </p:cBhvr>
                                    </p:animEffec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after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40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afterEffect">
                                  <p:stCondLst>
                                    <p:cond delay="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400"/>
                                        <p:tgtEl>
                                          <p:spTgt spid="21"/>
                                        </p:tgtEl>
                                      </p:cBhvr>
                                    </p:animEffect>
                                  </p:childTnLst>
                                </p:cTn>
                              </p:par>
                            </p:childTnLst>
                          </p:cTn>
                        </p:par>
                      </p:childTnLst>
                    </p:cTn>
                  </p:par>
                  <p:par>
                    <p:cTn id="60" fill="hold">
                      <p:stCondLst>
                        <p:cond delay="indefinite"/>
                      </p:stCondLst>
                      <p:childTnLst>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fade">
                                      <p:cBhvr>
                                        <p:cTn id="64" dur="400"/>
                                        <p:tgtEl>
                                          <p:spTgt spid="27"/>
                                        </p:tgtEl>
                                      </p:cBhvr>
                                    </p:animEffect>
                                  </p:childTnLst>
                                </p:cTn>
                              </p:par>
                            </p:childTnLst>
                          </p:cTn>
                        </p:par>
                      </p:childTnLst>
                    </p:cTn>
                  </p:par>
                  <p:par>
                    <p:cTn id="70" fill="hold">
                      <p:stCondLst>
                        <p:cond delay="indefinite"/>
                      </p:stCondLst>
                      <p:childTnLst>
                        <p:par>
                          <p:cTn id="71" fill="hold">
                            <p:stCondLst>
                              <p:cond delay="0"/>
                            </p:stCondLst>
                            <p:childTnLst>
                              <p:par>
                                <p:cTn id="72" presetID="1" presetClass="entr" presetSubtype="0" fill="hold" nodeType="afterEffect">
                                  <p:stCondLst>
                                    <p:cond delay="0"/>
                                  </p:stCondLst>
                                  <p:childTnLst>
                                    <p:set>
                                      <p:cBhvr>
                                        <p:cTn id="73" dur="1" fill="hold">
                                          <p:stCondLst>
                                            <p:cond delay="0"/>
                                          </p:stCondLst>
                                        </p:cTn>
                                        <p:tgtEl>
                                          <p:spTgt spid="28"/>
                                        </p:tgtEl>
                                        <p:attrNameLst>
                                          <p:attrName>style.visibility</p:attrName>
                                        </p:attrNameLst>
                                      </p:cBhvr>
                                      <p:to>
                                        <p:strVal val="visible"/>
                                      </p:to>
                                    </p:set>
                                    <p:animEffect transition="in" filter="fade">
                                      <p:cBhvr>
                                        <p:cTn id="74" dur="400"/>
                                        <p:tgtEl>
                                          <p:spTgt spid="28"/>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afterEffect">
                                  <p:stCondLst>
                                    <p:cond delay="0"/>
                                  </p:stCondLst>
                                  <p:childTnLst>
                                    <p:set>
                                      <p:cBhvr>
                                        <p:cTn id="83" dur="1" fill="hold">
                                          <p:stCondLst>
                                            <p:cond delay="0"/>
                                          </p:stCondLst>
                                        </p:cTn>
                                        <p:tgtEl>
                                          <p:spTgt spid="34"/>
                                        </p:tgtEl>
                                        <p:attrNameLst>
                                          <p:attrName>style.visibility</p:attrName>
                                        </p:attrNameLst>
                                      </p:cBhvr>
                                      <p:to>
                                        <p:strVal val="visible"/>
                                      </p:to>
                                    </p:set>
                                    <p:animEffect transition="in" filter="fade">
                                      <p:cBhvr>
                                        <p:cTn id="84" dur="400"/>
                                        <p:tgtEl>
                                          <p:spTgt spid="34"/>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afterEffect">
                                  <p:stCondLst>
                                    <p:cond delay="0"/>
                                  </p:stCondLst>
                                  <p:childTnLst>
                                    <p:set>
                                      <p:cBhvr>
                                        <p:cTn id="93" dur="1" fill="hold">
                                          <p:stCondLst>
                                            <p:cond delay="0"/>
                                          </p:stCondLst>
                                        </p:cTn>
                                        <p:tgtEl>
                                          <p:spTgt spid="35"/>
                                        </p:tgtEl>
                                        <p:attrNameLst>
                                          <p:attrName>style.visibility</p:attrName>
                                        </p:attrNameLst>
                                      </p:cBhvr>
                                      <p:to>
                                        <p:strVal val="visible"/>
                                      </p:to>
                                    </p:set>
                                    <p:animEffect transition="in" filter="fade">
                                      <p:cBhvr>
                                        <p:cTn id="9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transition spd="fast" advClick="1">
    <p:fade/>
  </p:transition>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TRAQOM · SSG DIGITAL ATTENDANCE</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Digital Attendance (Mandatory)</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2066544"/>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542032"/>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Three times a day</a:t>
            </a:r>
          </a:p>
          <a:p>
            <a:pPr algn="l">
              <a:spcAft>
                <a:spcPts val="300"/>
              </a:spcAft>
            </a:pPr>
            <a:r>
              <a:rPr sz="1300" b="0">
                <a:solidFill>
                  <a:srgbClr val="5B6372"/>
                </a:solidFill>
                <a:latin typeface="Arial"/>
              </a:rPr>
              <a:t>Take the AM, PM and Assessment digital attendance — mandatory for every WSQ-funded course.</a:t>
            </a:r>
          </a:p>
        </p:txBody>
      </p:sp>
      <p:sp>
        <p:nvSpPr>
          <p:cNvPr id="12" name="Rectangle 11"/>
          <p:cNvSpPr/>
          <p:nvPr/>
        </p:nvSpPr>
        <p:spPr>
          <a:xfrm>
            <a:off x="6231636" y="1783080"/>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2066544"/>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542032"/>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542032"/>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Trainer shows the QR</a:t>
            </a:r>
          </a:p>
          <a:p>
            <a:pPr algn="l">
              <a:spcAft>
                <a:spcPts val="300"/>
              </a:spcAft>
            </a:pPr>
            <a:r>
              <a:rPr sz="1300" b="0">
                <a:solidFill>
                  <a:srgbClr val="5B6372"/>
                </a:solidFill>
                <a:latin typeface="Arial"/>
              </a:rPr>
              <a:t>The trainer or administrator displays the digital attendance QR code from the SSG portal.</a:t>
            </a:r>
          </a:p>
        </p:txBody>
      </p:sp>
      <p:sp>
        <p:nvSpPr>
          <p:cNvPr id="17" name="Rectangle 16"/>
          <p:cNvSpPr/>
          <p:nvPr/>
        </p:nvSpPr>
        <p:spPr>
          <a:xfrm>
            <a:off x="777240"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087368"/>
            <a:ext cx="91440" cy="206654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4846320"/>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Scan and submit</a:t>
            </a:r>
          </a:p>
          <a:p>
            <a:pPr algn="l">
              <a:spcAft>
                <a:spcPts val="300"/>
              </a:spcAft>
            </a:pPr>
            <a:r>
              <a:rPr sz="1300" b="0">
                <a:solidFill>
                  <a:srgbClr val="5B6372"/>
                </a:solidFill>
                <a:latin typeface="Arial"/>
              </a:rPr>
              <a:t>Scan the QR code with your mobile phone camera (or Singpass app) and submit your attendance.</a:t>
            </a:r>
          </a:p>
        </p:txBody>
      </p:sp>
      <p:sp>
        <p:nvSpPr>
          <p:cNvPr id="22" name="Rectangle 21"/>
          <p:cNvSpPr/>
          <p:nvPr/>
        </p:nvSpPr>
        <p:spPr>
          <a:xfrm>
            <a:off x="6231636" y="4087368"/>
            <a:ext cx="5180076" cy="2066544"/>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4087368"/>
            <a:ext cx="91440" cy="2066544"/>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4846320"/>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4846320"/>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4215384"/>
            <a:ext cx="3973068" cy="1883664"/>
          </a:xfrm>
          <a:prstGeom prst="rect">
            <a:avLst/>
          </a:prstGeom>
          <a:noFill/>
        </p:spPr>
        <p:txBody>
          <a:bodyPr wrap="square" anchor="ctr">
            <a:spAutoFit/>
          </a:bodyPr>
          <a:lstStyle/>
          <a:p>
            <a:pPr algn="l">
              <a:spcAft>
                <a:spcPts val="300"/>
              </a:spcAft>
            </a:pPr>
            <a:r>
              <a:rPr sz="1700" b="1">
                <a:solidFill>
                  <a:srgbClr val="161B26"/>
                </a:solidFill>
                <a:latin typeface="Arial"/>
              </a:rPr>
              <a:t>75% minimum</a:t>
            </a:r>
          </a:p>
          <a:p>
            <a:pPr algn="l">
              <a:spcAft>
                <a:spcPts val="300"/>
              </a:spcAft>
            </a:pPr>
            <a:r>
              <a:rPr sz="1300" b="0">
                <a:solidFill>
                  <a:srgbClr val="5B6372"/>
                </a:solidFill>
                <a:latin typeface="Arial"/>
              </a:rPr>
              <a:t>A minimum of 75% attendance is required to be eligible for assessment and funding.</a:t>
            </a:r>
          </a:p>
        </p:txBody>
      </p:sp>
      <p:sp>
        <p:nvSpPr>
          <p:cNvPr id="27" name="TextBox 2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28" name="TextBox 2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29" name="TextBox 2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201</a:t>
            </a:r>
          </a:p>
        </p:txBody>
      </p:sp>
    </p:spTree>
  </p:cSld>
  <p:clrMapOvr>
    <a:masterClrMapping/>
  </p:clrMapOvr>
  <p:transition spd="fast" advClick="1">
    <p:fade/>
  </p:transition>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1417320"/>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457200"/>
            <a:ext cx="10607040" cy="365760"/>
          </a:xfrm>
          <a:prstGeom prst="rect">
            <a:avLst/>
          </a:prstGeom>
          <a:noFill/>
        </p:spPr>
        <p:txBody>
          <a:bodyPr wrap="square" anchor="t">
            <a:spAutoFit/>
          </a:bodyPr>
          <a:lstStyle/>
          <a:p>
            <a:pPr algn="l">
              <a:spcAft>
                <a:spcPts val="400"/>
              </a:spcAft>
            </a:pPr>
            <a:r>
              <a:rPr sz="1400" b="1">
                <a:solidFill>
                  <a:srgbClr val="1F6FEB"/>
                </a:solidFill>
                <a:latin typeface="Arial"/>
              </a:rPr>
              <a:t>WE'RE HERE TO HELP</a:t>
            </a:r>
          </a:p>
        </p:txBody>
      </p:sp>
      <p:sp>
        <p:nvSpPr>
          <p:cNvPr id="5" name="TextBox 4"/>
          <p:cNvSpPr txBox="1"/>
          <p:nvPr/>
        </p:nvSpPr>
        <p:spPr>
          <a:xfrm>
            <a:off x="777240" y="804672"/>
            <a:ext cx="10881360" cy="713232"/>
          </a:xfrm>
          <a:prstGeom prst="rect">
            <a:avLst/>
          </a:prstGeom>
          <a:noFill/>
        </p:spPr>
        <p:txBody>
          <a:bodyPr wrap="square" anchor="ctr">
            <a:spAutoFit/>
          </a:bodyPr>
          <a:lstStyle/>
          <a:p>
            <a:pPr algn="l">
              <a:spcAft>
                <a:spcPts val="400"/>
              </a:spcAft>
            </a:pPr>
            <a:r>
              <a:rPr sz="2900" b="1">
                <a:solidFill>
                  <a:srgbClr val="161B26"/>
                </a:solidFill>
                <a:latin typeface="Arial"/>
              </a:rPr>
              <a:t>Support</a:t>
            </a:r>
          </a:p>
        </p:txBody>
      </p:sp>
      <p:sp>
        <p:nvSpPr>
          <p:cNvPr id="6" name="Rectangle 5"/>
          <p:cNvSpPr/>
          <p:nvPr/>
        </p:nvSpPr>
        <p:spPr>
          <a:xfrm>
            <a:off x="777240" y="1554480"/>
            <a:ext cx="10634472" cy="18288"/>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783080"/>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33272" y="2157984"/>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33272"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1</a:t>
            </a:r>
          </a:p>
        </p:txBody>
      </p:sp>
      <p:sp>
        <p:nvSpPr>
          <p:cNvPr id="11" name="TextBox 10"/>
          <p:cNvSpPr txBox="1"/>
          <p:nvPr/>
        </p:nvSpPr>
        <p:spPr>
          <a:xfrm>
            <a:off x="1764792"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Email</a:t>
            </a:r>
          </a:p>
          <a:p>
            <a:pPr algn="l">
              <a:spcAft>
                <a:spcPts val="300"/>
              </a:spcAft>
            </a:pPr>
            <a:r>
              <a:rPr sz="1200" b="0">
                <a:solidFill>
                  <a:srgbClr val="5B6372"/>
                </a:solidFill>
                <a:latin typeface="Arial"/>
              </a:rPr>
              <a:t>enquiry@tertiaryinfotech.com</a:t>
            </a:r>
          </a:p>
        </p:txBody>
      </p:sp>
      <p:sp>
        <p:nvSpPr>
          <p:cNvPr id="12" name="Rectangle 11"/>
          <p:cNvSpPr/>
          <p:nvPr/>
        </p:nvSpPr>
        <p:spPr>
          <a:xfrm>
            <a:off x="6231636" y="1783080"/>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1636" y="1783080"/>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87668" y="2157984"/>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7668" y="2157984"/>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2</a:t>
            </a:r>
          </a:p>
        </p:txBody>
      </p:sp>
      <p:sp>
        <p:nvSpPr>
          <p:cNvPr id="16" name="TextBox 15"/>
          <p:cNvSpPr txBox="1"/>
          <p:nvPr/>
        </p:nvSpPr>
        <p:spPr>
          <a:xfrm>
            <a:off x="7219188" y="1911096"/>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Telephone</a:t>
            </a:r>
          </a:p>
          <a:p>
            <a:pPr algn="l">
              <a:spcAft>
                <a:spcPts val="300"/>
              </a:spcAft>
            </a:pPr>
            <a:r>
              <a:rPr sz="1200" b="0">
                <a:solidFill>
                  <a:srgbClr val="5B6372"/>
                </a:solidFill>
                <a:latin typeface="Arial"/>
              </a:rPr>
              <a:t>+65 6100 0613</a:t>
            </a:r>
          </a:p>
        </p:txBody>
      </p:sp>
      <p:sp>
        <p:nvSpPr>
          <p:cNvPr id="17" name="Rectangle 16"/>
          <p:cNvSpPr/>
          <p:nvPr/>
        </p:nvSpPr>
        <p:spPr>
          <a:xfrm>
            <a:off x="777240"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3319272"/>
            <a:ext cx="91440"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33272" y="3694176"/>
            <a:ext cx="548640" cy="548640"/>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33272"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3</a:t>
            </a:r>
          </a:p>
        </p:txBody>
      </p:sp>
      <p:sp>
        <p:nvSpPr>
          <p:cNvPr id="21" name="TextBox 20"/>
          <p:cNvSpPr txBox="1"/>
          <p:nvPr/>
        </p:nvSpPr>
        <p:spPr>
          <a:xfrm>
            <a:off x="1764792"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Website</a:t>
            </a:r>
          </a:p>
          <a:p>
            <a:pPr algn="l">
              <a:spcAft>
                <a:spcPts val="300"/>
              </a:spcAft>
            </a:pPr>
            <a:r>
              <a:rPr sz="1200" b="0">
                <a:solidFill>
                  <a:srgbClr val="5B6372"/>
                </a:solidFill>
                <a:latin typeface="Arial"/>
              </a:rPr>
              <a:t>www.tertiarycourses.com.sg</a:t>
            </a:r>
          </a:p>
        </p:txBody>
      </p:sp>
      <p:sp>
        <p:nvSpPr>
          <p:cNvPr id="22" name="Rectangle 21"/>
          <p:cNvSpPr/>
          <p:nvPr/>
        </p:nvSpPr>
        <p:spPr>
          <a:xfrm>
            <a:off x="6231636" y="3319272"/>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31636" y="3319272"/>
            <a:ext cx="91440" cy="1298448"/>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487668" y="3694176"/>
            <a:ext cx="548640" cy="54864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87668" y="3694176"/>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4</a:t>
            </a:r>
          </a:p>
        </p:txBody>
      </p:sp>
      <p:sp>
        <p:nvSpPr>
          <p:cNvPr id="26" name="TextBox 25"/>
          <p:cNvSpPr txBox="1"/>
          <p:nvPr/>
        </p:nvSpPr>
        <p:spPr>
          <a:xfrm>
            <a:off x="7219188" y="3447288"/>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LMS / TMS</a:t>
            </a:r>
          </a:p>
          <a:p>
            <a:pPr algn="l">
              <a:spcAft>
                <a:spcPts val="300"/>
              </a:spcAft>
            </a:pPr>
            <a:r>
              <a:rPr sz="1200" b="0">
                <a:solidFill>
                  <a:srgbClr val="5B6372"/>
                </a:solidFill>
                <a:latin typeface="Arial"/>
              </a:rPr>
              <a:t>https://lms-tms.tertiaryinfotech.com</a:t>
            </a:r>
          </a:p>
        </p:txBody>
      </p:sp>
      <p:sp>
        <p:nvSpPr>
          <p:cNvPr id="27" name="Rectangle 26"/>
          <p:cNvSpPr/>
          <p:nvPr/>
        </p:nvSpPr>
        <p:spPr>
          <a:xfrm>
            <a:off x="777240"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77240" y="4855464"/>
            <a:ext cx="91440" cy="1298448"/>
          </a:xfrm>
          <a:prstGeom prst="rect">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33272" y="5230368"/>
            <a:ext cx="548640" cy="548640"/>
          </a:xfrm>
          <a:prstGeom prst="ellipse">
            <a:avLst/>
          </a:prstGeom>
          <a:solidFill>
            <a:srgbClr val="1F6F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33272"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5</a:t>
            </a:r>
          </a:p>
        </p:txBody>
      </p:sp>
      <p:sp>
        <p:nvSpPr>
          <p:cNvPr id="31" name="TextBox 30"/>
          <p:cNvSpPr txBox="1"/>
          <p:nvPr/>
        </p:nvSpPr>
        <p:spPr>
          <a:xfrm>
            <a:off x="1764792"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Post-course help</a:t>
            </a:r>
          </a:p>
          <a:p>
            <a:pPr algn="l">
              <a:spcAft>
                <a:spcPts val="300"/>
              </a:spcAft>
            </a:pPr>
            <a:r>
              <a:rPr sz="1200" b="0">
                <a:solidFill>
                  <a:srgbClr val="5B6372"/>
                </a:solidFill>
                <a:latin typeface="Arial"/>
              </a:rPr>
              <a:t>Free consultation on the course topics — just email us.</a:t>
            </a:r>
          </a:p>
        </p:txBody>
      </p:sp>
      <p:sp>
        <p:nvSpPr>
          <p:cNvPr id="32" name="Rectangle 31"/>
          <p:cNvSpPr/>
          <p:nvPr/>
        </p:nvSpPr>
        <p:spPr>
          <a:xfrm>
            <a:off x="6231636" y="4855464"/>
            <a:ext cx="5180076" cy="129844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31636" y="4855464"/>
            <a:ext cx="91440" cy="12984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487668" y="5230368"/>
            <a:ext cx="548640" cy="548640"/>
          </a:xfrm>
          <a:prstGeom prst="ellipse">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87668" y="5230368"/>
            <a:ext cx="548640" cy="548640"/>
          </a:xfrm>
          <a:prstGeom prst="rect">
            <a:avLst/>
          </a:prstGeom>
          <a:noFill/>
        </p:spPr>
        <p:txBody>
          <a:bodyPr wrap="square" anchor="ctr">
            <a:spAutoFit/>
          </a:bodyPr>
          <a:lstStyle/>
          <a:p>
            <a:pPr algn="ctr">
              <a:spcAft>
                <a:spcPts val="400"/>
              </a:spcAft>
            </a:pPr>
            <a:r>
              <a:rPr sz="1900" b="1">
                <a:solidFill>
                  <a:srgbClr val="FFFFFF"/>
                </a:solidFill>
                <a:latin typeface="Arial"/>
              </a:rPr>
              <a:t>6</a:t>
            </a:r>
          </a:p>
        </p:txBody>
      </p:sp>
      <p:sp>
        <p:nvSpPr>
          <p:cNvPr id="36" name="TextBox 35"/>
          <p:cNvSpPr txBox="1"/>
          <p:nvPr/>
        </p:nvSpPr>
        <p:spPr>
          <a:xfrm>
            <a:off x="7219188" y="4983480"/>
            <a:ext cx="3973068" cy="1115568"/>
          </a:xfrm>
          <a:prstGeom prst="rect">
            <a:avLst/>
          </a:prstGeom>
          <a:noFill/>
        </p:spPr>
        <p:txBody>
          <a:bodyPr wrap="square" anchor="ctr">
            <a:spAutoFit/>
          </a:bodyPr>
          <a:lstStyle/>
          <a:p>
            <a:pPr algn="l">
              <a:spcAft>
                <a:spcPts val="300"/>
              </a:spcAft>
            </a:pPr>
            <a:r>
              <a:rPr sz="1600" b="1">
                <a:solidFill>
                  <a:srgbClr val="161B26"/>
                </a:solidFill>
                <a:latin typeface="Arial"/>
              </a:rPr>
              <a:t>Your materials</a:t>
            </a:r>
          </a:p>
          <a:p>
            <a:pPr algn="l">
              <a:spcAft>
                <a:spcPts val="300"/>
              </a:spcAft>
            </a:pPr>
            <a:r>
              <a:rPr sz="1200" b="0">
                <a:solidFill>
                  <a:srgbClr val="5B6372"/>
                </a:solidFill>
                <a:latin typeface="Arial"/>
              </a:rPr>
              <a:t>Slides, Learner Guide, Lesson Plan and all 26 labs stay available on the LMS.</a:t>
            </a:r>
          </a:p>
        </p:txBody>
      </p:sp>
      <p:sp>
        <p:nvSpPr>
          <p:cNvPr id="37" name="TextBox 3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38" name="TextBox 3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39" name="TextBox 3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202</a:t>
            </a:r>
          </a:p>
        </p:txBody>
      </p:sp>
    </p:spTree>
  </p:cSld>
  <p:clrMapOvr>
    <a:masterClrMapping/>
  </p:clrMapOvr>
  <p:transition spd="fast" advClick="1">
    <p:fade/>
  </p:transition>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011680"/>
            <a:ext cx="10058400" cy="457200"/>
          </a:xfrm>
          <a:prstGeom prst="rect">
            <a:avLst/>
          </a:prstGeom>
          <a:noFill/>
        </p:spPr>
        <p:txBody>
          <a:bodyPr wrap="square" anchor="t">
            <a:spAutoFit/>
          </a:bodyPr>
          <a:lstStyle/>
          <a:p>
            <a:pPr algn="l">
              <a:spcAft>
                <a:spcPts val="400"/>
              </a:spcAft>
            </a:pPr>
            <a:r>
              <a:rPr sz="1600" b="1">
                <a:solidFill>
                  <a:srgbClr val="10B981"/>
                </a:solidFill>
                <a:latin typeface="Arial"/>
              </a:rPr>
              <a:t>HAPPY BUILDING</a:t>
            </a:r>
          </a:p>
        </p:txBody>
      </p:sp>
      <p:sp>
        <p:nvSpPr>
          <p:cNvPr id="5" name="TextBox 4"/>
          <p:cNvSpPr txBox="1"/>
          <p:nvPr/>
        </p:nvSpPr>
        <p:spPr>
          <a:xfrm>
            <a:off x="1005840" y="2560320"/>
            <a:ext cx="10332720" cy="2194560"/>
          </a:xfrm>
          <a:prstGeom prst="rect">
            <a:avLst/>
          </a:prstGeom>
          <a:noFill/>
        </p:spPr>
        <p:txBody>
          <a:bodyPr wrap="square" anchor="t">
            <a:spAutoFit/>
          </a:bodyPr>
          <a:lstStyle/>
          <a:p>
            <a:pPr algn="l">
              <a:spcAft>
                <a:spcPts val="400"/>
              </a:spcAft>
            </a:pPr>
            <a:r>
              <a:rPr sz="3800" b="1">
                <a:solidFill>
                  <a:srgbClr val="161B26"/>
                </a:solidFill>
                <a:latin typeface="Arial"/>
              </a:rPr>
              <a:t>Thank You!</a:t>
            </a:r>
          </a:p>
        </p:txBody>
      </p:sp>
      <p:sp>
        <p:nvSpPr>
          <p:cNvPr id="6" name="TextBox 5"/>
          <p:cNvSpPr txBox="1"/>
          <p:nvPr/>
        </p:nvSpPr>
        <p:spPr>
          <a:xfrm>
            <a:off x="1024128" y="4480560"/>
            <a:ext cx="10058400" cy="1097280"/>
          </a:xfrm>
          <a:prstGeom prst="rect">
            <a:avLst/>
          </a:prstGeom>
          <a:noFill/>
        </p:spPr>
        <p:txBody>
          <a:bodyPr wrap="square" anchor="t">
            <a:spAutoFit/>
          </a:bodyPr>
          <a:lstStyle/>
          <a:p>
            <a:pPr algn="l">
              <a:spcAft>
                <a:spcPts val="400"/>
              </a:spcAft>
            </a:pPr>
            <a:r>
              <a:rPr sz="2000" b="0">
                <a:solidFill>
                  <a:srgbClr val="5B6372"/>
                </a:solidFill>
                <a:latin typeface="Arial"/>
              </a:rPr>
              <a:t>You can now build intelligent Power Apps, automate business processes with Power Automate, and ground and govern Copilot Studio agents — and defend where you put the human.</a:t>
            </a:r>
          </a:p>
        </p:txBody>
      </p:sp>
      <p:sp>
        <p:nvSpPr>
          <p:cNvPr id="7" name="TextBox 6"/>
          <p:cNvSpPr txBox="1"/>
          <p:nvPr/>
        </p:nvSpPr>
        <p:spPr>
          <a:xfrm>
            <a:off x="365760" y="6446520"/>
            <a:ext cx="6309360" cy="320040"/>
          </a:xfrm>
          <a:prstGeom prst="rect">
            <a:avLst/>
          </a:prstGeom>
          <a:noFill/>
        </p:spPr>
        <p:txBody>
          <a:bodyPr wrap="square" anchor="t">
            <a:spAutoFit/>
          </a:bodyPr>
          <a:lstStyle/>
          <a:p>
            <a:pPr algn="l">
              <a:spcAft>
                <a:spcPts val="400"/>
              </a:spcAft>
            </a:pPr>
            <a:r>
              <a:rPr sz="850" b="0">
                <a:solidFill>
                  <a:srgbClr val="5B6372"/>
                </a:solidFill>
                <a:latin typeface="Arial"/>
              </a:rPr>
              <a:t>TGS-2023036648  ·  Power Apps &amp; Power Automate with Copilot</a:t>
            </a:r>
          </a:p>
        </p:txBody>
      </p:sp>
      <p:sp>
        <p:nvSpPr>
          <p:cNvPr id="8" name="TextBox 7"/>
          <p:cNvSpPr txBox="1"/>
          <p:nvPr/>
        </p:nvSpPr>
        <p:spPr>
          <a:xfrm>
            <a:off x="6858000" y="6446520"/>
            <a:ext cx="4206240" cy="320040"/>
          </a:xfrm>
          <a:prstGeom prst="rect">
            <a:avLst/>
          </a:prstGeom>
          <a:noFill/>
        </p:spPr>
        <p:txBody>
          <a:bodyPr wrap="square" anchor="t">
            <a:spAutoFit/>
          </a:bodyPr>
          <a:lstStyle/>
          <a:p>
            <a:pPr algn="r">
              <a:spcAft>
                <a:spcPts val="400"/>
              </a:spcAft>
            </a:pPr>
            <a:r>
              <a:rPr sz="850" b="0">
                <a:solidFill>
                  <a:srgbClr val="5B6372"/>
                </a:solidFill>
                <a:latin typeface="Arial"/>
              </a:rPr>
              <a:t>© 2026 Tertiary Infotech Academy Pte Ltd</a:t>
            </a:r>
          </a:p>
        </p:txBody>
      </p:sp>
      <p:sp>
        <p:nvSpPr>
          <p:cNvPr id="9" name="TextBox 8"/>
          <p:cNvSpPr txBox="1"/>
          <p:nvPr/>
        </p:nvSpPr>
        <p:spPr>
          <a:xfrm>
            <a:off x="11338560" y="6446520"/>
            <a:ext cx="548640" cy="320040"/>
          </a:xfrm>
          <a:prstGeom prst="rect">
            <a:avLst/>
          </a:prstGeom>
          <a:noFill/>
        </p:spPr>
        <p:txBody>
          <a:bodyPr wrap="square" anchor="t">
            <a:spAutoFit/>
          </a:bodyPr>
          <a:lstStyle/>
          <a:p>
            <a:pPr algn="r">
              <a:spcAft>
                <a:spcPts val="400"/>
              </a:spcAft>
            </a:pPr>
            <a:r>
              <a:rPr sz="900" b="0">
                <a:solidFill>
                  <a:srgbClr val="5B6372"/>
                </a:solidFill>
                <a:latin typeface="Arial"/>
              </a:rPr>
              <a:t>203</a:t>
            </a:r>
          </a:p>
        </p:txBody>
      </p:sp>
    </p:spTree>
  </p:cSld>
  <p:clrMapOvr>
    <a:masterClrMapping/>
  </p:clrMapOvr>
  <p:transition spd="fast"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